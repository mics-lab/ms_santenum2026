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notesMaster" Target="notesMasters/notesMaster1.xml" /><Relationship Id="rId23" Type="http://schemas.openxmlformats.org/officeDocument/2006/relationships/viewProps" Target="viewProps.xml" /><Relationship Id="rId22" Type="http://schemas.openxmlformats.org/officeDocument/2006/relationships/presProps" Target="presProps.xml" /><Relationship Id="rId1" Type="http://schemas.openxmlformats.org/officeDocument/2006/relationships/slideMaster" Target="slideMasters/slideMaster1.xml" /><Relationship Id="rId25" Type="http://schemas.openxmlformats.org/officeDocument/2006/relationships/tableStyles" Target="tableStyles.xml" /><Relationship Id="rId2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session 1 a donné les valeurs ; cette session donne le contrôle : exécutez ce code seulement de temps en temps, exécutez ce code plusieurs fois et donnez un nom à un bloc de code. Trois éléments de syntaxe, et ils sont les mêmes pour chaque bloc en Python : une fin de ligne avec deux points, puis un bloc en retrait. Quatre espaces, toujours les mêmes. L’indentation est pas la décoration, c’est la syntaxe : c’est ce qui indique à Python où le bloc s’arrête. </a:t>
            </a:r>
            <a:r>
              <a:rPr>
                <a:latin typeface="Courier"/>
              </a:rPr>
              <a:t>if</a:t>
            </a:r>
            <a:r>
              <a:rPr/>
              <a:t> prend tout ce qui est vrai ou faux, y compris la véracité de la session 1 (</a:t>
            </a:r>
            <a:r>
              <a:rPr>
                <a:latin typeface="Courier"/>
              </a:rPr>
              <a:t>if heart_rates:</a:t>
            </a:r>
            <a:r>
              <a:rPr/>
              <a:t>). La comparaison </a:t>
            </a:r>
            <a:r>
              <a:rPr>
                <a:latin typeface="Courier"/>
              </a:rPr>
              <a:t>&gt;=</a:t>
            </a:r>
            <a:r>
              <a:rPr/>
              <a:t> produit un booléen ; </a:t>
            </a:r>
            <a:r>
              <a:rPr>
                <a:latin typeface="Courier"/>
              </a:rPr>
              <a:t>=</a:t>
            </a:r>
            <a:r>
              <a:rPr/>
              <a:t> serait une mission et une erreur de syntaxe ici.</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Avec </a:t>
            </a:r>
            <a:r>
              <a:rPr>
                <a:latin typeface="Courier"/>
              </a:rPr>
              <a:t>elif</a:t>
            </a:r>
            <a:r>
              <a:rPr/>
              <a:t>, Python teste de haut en bas et s’arrête au premier vrai test : le reste n’est jamais évalué. Ainsi, chaque </a:t>
            </a:r>
            <a:r>
              <a:rPr>
                <a:latin typeface="Courier"/>
              </a:rPr>
              <a:t>elif</a:t>
            </a:r>
            <a:r>
              <a:rPr/>
              <a:t> signifie silencieusement “et aucun des tests ci-dessus ne correspond”, c’est exactement pourquoi </a:t>
            </a:r>
            <a:r>
              <a:rPr>
                <a:latin typeface="Courier"/>
              </a:rPr>
              <a:t>sbp &lt; 120</a:t>
            </a:r>
            <a:r>
              <a:rPr/>
              <a:t> n’a pas besoin de répéter </a:t>
            </a:r>
            <a:r>
              <a:rPr>
                <a:latin typeface="Courier"/>
              </a:rPr>
              <a:t>and sbp &gt;= 90</a:t>
            </a:r>
            <a:r>
              <a:rPr/>
              <a:t>. Le bug classique est à droite : un test plus large placé en premier avale les plus étroits, et chaque patient en dessous de 130 en sort « élevé ». Rien ne plante, les chiffres sont juste faux, ce qui est un type de bug dangereux. La règle : pour les seuils, allez du plus étroit au plus large, et laissez </a:t>
            </a:r>
            <a:r>
              <a:rPr>
                <a:latin typeface="Courier"/>
              </a:rPr>
              <a:t>else</a:t>
            </a:r>
            <a:r>
              <a:rPr/>
              <a:t> attraper quoi est laissé.</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Lisez-le tel que la phrase anglaise est la suivante : “pour chaque fréquence cardiaque dans les fréquences cardiaques, faites ceci”. Le nom de gauche est créé par la boucle et prend une nouvelle valeur à chaque tour ; il n’y a pas compteur à initialiser et aucune longueur pour réussir. Pointez sur le bloc en retrait : il s’exécute une fois par élément, cinq fois ici, et ce qui ne l’est pas indented s’exécute une fois, après la boucle. Le bug débutant le plus courant de la session est une ligne qui entre ou sort accidentellement du corps. Venant d’une autre langue, ils voudront </a:t>
            </a:r>
            <a:r>
              <a:rPr>
                <a:latin typeface="Courier"/>
              </a:rPr>
              <a:t>for i in range(len(xs)): xs[i]</a:t>
            </a:r>
            <a:r>
              <a:rPr/>
              <a:t>. Montre-leur la forme directe une fois et ils y reviennent rarement.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range(stop)</a:t>
            </a:r>
            <a:r>
              <a:rPr/>
              <a:t>, </a:t>
            </a:r>
            <a:r>
              <a:rPr>
                <a:latin typeface="Courier"/>
              </a:rPr>
              <a:t>range(start, stop)</a:t>
            </a:r>
            <a:r>
              <a:rPr/>
              <a:t>, </a:t>
            </a:r>
            <a:r>
              <a:rPr>
                <a:latin typeface="Courier"/>
              </a:rPr>
              <a:t>range(start, stop, step)</a:t>
            </a:r>
            <a:r>
              <a:rPr/>
              <a:t> : la boucle comptée, utilisée lorsque le nombre de tours est important et que les objets ne le sont pas. Notez que </a:t>
            </a:r>
            <a:r>
              <a:rPr>
                <a:latin typeface="Courier"/>
              </a:rPr>
              <a:t>range(5)</a:t>
            </a:r>
            <a:r>
              <a:rPr/>
              <a:t> s’arrête à 4, comme une tranche, et ce </a:t>
            </a:r>
            <a:r>
              <a:rPr>
                <a:latin typeface="Courier"/>
              </a:rPr>
              <a:t>range</a:t>
            </a:r>
            <a:r>
              <a:rPr/>
              <a:t> ne construit rien : il distribue les nombres un à un, c’est pourquoi </a:t>
            </a:r>
            <a:r>
              <a:rPr>
                <a:latin typeface="Courier"/>
              </a:rPr>
              <a:t>range(10_000_000)</a:t>
            </a:r>
            <a:r>
              <a:rPr/>
              <a:t> est instantané et ne coûte aucune mémoire. </a:t>
            </a:r>
            <a:r>
              <a:rPr>
                <a:latin typeface="Courier"/>
              </a:rPr>
              <a:t>enumerate</a:t>
            </a:r>
            <a:r>
              <a:rPr/>
              <a:t> quand on a besoin de la position ainsi que de la valeur : ça donne une paire à chaque tour, décomposé en deux noms exactement comme </a:t>
            </a:r>
            <a:r>
              <a:rPr>
                <a:latin typeface="Courier"/>
              </a:rPr>
              <a:t>a, b = 1, 2</a:t>
            </a:r>
            <a:r>
              <a:rPr/>
              <a:t> dans la session 1. Commencez ailleurs avec </a:t>
            </a:r>
            <a:r>
              <a:rPr>
                <a:latin typeface="Courier"/>
              </a:rPr>
              <a:t>enumerate(hrs, start=1)</a:t>
            </a:r>
            <a:r>
              <a:rPr/>
              <a:t> quand on veut compter à partir de 1 pour un lecteur humain. S’ils se retrouvent à écrire </a:t>
            </a:r>
            <a:r>
              <a:rPr>
                <a:latin typeface="Courier"/>
              </a:rPr>
              <a:t>for i in range(len(hrs))</a:t>
            </a:r>
            <a:r>
              <a:rPr/>
              <a:t> puis </a:t>
            </a:r>
            <a:r>
              <a:rPr>
                <a:latin typeface="Courier"/>
              </a:rPr>
              <a:t>hrs[i]</a:t>
            </a:r>
            <a:r>
              <a:rPr/>
              <a:t>, </a:t>
            </a:r>
            <a:r>
              <a:rPr>
                <a:latin typeface="Courier"/>
              </a:rPr>
              <a:t>enumerate</a:t>
            </a:r>
            <a:r>
              <a:rPr/>
              <a:t> c’est ce qu’ils voulaient.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zip</a:t>
            </a:r>
            <a:r>
              <a:rPr/>
              <a:t> parcourt deux (ou plus) séquences pas à pas : identifiants et températures, tailles et poids, mesuré et prédit. Encore une paire par tour, décomposée en deux noms. Un piège qui mérite d’être dit à voix haute : </a:t>
            </a:r>
            <a:r>
              <a:rPr>
                <a:latin typeface="Courier"/>
              </a:rPr>
              <a:t>zip</a:t>
            </a:r>
            <a:r>
              <a:rPr/>
              <a:t> s’arrête à la séquence la plus courte, en silence. Si les identifiants et les températures n’ont pas la même longueur, les températures supplémentaires tombent sans mot, alors vérifiez d’abord </a:t>
            </a:r>
            <a:r>
              <a:rPr>
                <a:latin typeface="Courier"/>
              </a:rPr>
              <a:t>len</a:t>
            </a:r>
            <a:r>
              <a:rPr/>
              <a:t> lorsque les deux proviennent de fichiers différents. </a:t>
            </a:r>
            <a:r>
              <a:rPr>
                <a:latin typeface="Courier"/>
              </a:rPr>
              <a:t>.items()</a:t>
            </a:r>
            <a:r>
              <a:rPr/>
              <a:t> fait la même chose pour un dictionnaire, en donnant la clé et la valeur ; </a:t>
            </a:r>
            <a:r>
              <a:rPr>
                <a:latin typeface="Courier"/>
              </a:rPr>
              <a:t>.keys()</a:t>
            </a:r>
            <a:r>
              <a:rPr/>
              <a:t> et </a:t>
            </a:r>
            <a:r>
              <a:rPr>
                <a:latin typeface="Courier"/>
              </a:rPr>
              <a:t>.values()</a:t>
            </a:r>
            <a:r>
              <a:rPr/>
              <a:t> existent lorsqu’un seul d’entre eux est nécessaire. Itérer un dict donne directement le clés seules, ce qui est une surprise courante. Ces quatre assistants couvrent presque toutes les boucles qu’ils écriront cette année.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modèle d’accumulateur : une variable créée </a:t>
            </a:r>
            <a:r>
              <a:rPr i="1"/>
              <a:t>avant</a:t>
            </a:r>
            <a:r>
              <a:rPr/>
              <a:t> la boucle, mise à jour </a:t>
            </a:r>
            <a:r>
              <a:rPr i="1"/>
              <a:t>à l’intérieur</a:t>
            </a:r>
            <a:r>
              <a:rPr/>
              <a:t> de celle-ci, utilisée </a:t>
            </a:r>
            <a:r>
              <a:rPr i="1"/>
              <a:t>après</a:t>
            </a:r>
            <a:r>
              <a:rPr/>
              <a:t> ça. Somme, décompte, maximum, une liste en construction : ils ont tous cette forme. Créez-le avant la boucle, sinon le nom n’existe pas encore ; </a:t>
            </a:r>
            <a:r>
              <a:rPr>
                <a:latin typeface="Courier"/>
              </a:rPr>
              <a:t>total = 0</a:t>
            </a:r>
            <a:r>
              <a:rPr/>
              <a:t> pour une somme, </a:t>
            </a:r>
            <a:r>
              <a:rPr>
                <a:latin typeface="Courier"/>
              </a:rPr>
              <a:t>best = values[0]</a:t>
            </a:r>
            <a:r>
              <a:rPr/>
              <a:t> pour un maximum (et non 0, qui casse sur des valeurs négatives). Ils le feront à la main dans le cahier, puis rencontreront </a:t>
            </a:r>
            <a:r>
              <a:rPr>
                <a:latin typeface="Courier"/>
              </a:rPr>
              <a:t>sum</a:t>
            </a:r>
            <a:r>
              <a:rPr/>
              <a:t>, </a:t>
            </a:r>
            <a:r>
              <a:rPr>
                <a:latin typeface="Courier"/>
              </a:rPr>
              <a:t>max</a:t>
            </a:r>
            <a:r>
              <a:rPr/>
              <a:t> et </a:t>
            </a:r>
            <a:r>
              <a:rPr>
                <a:latin typeface="Courier"/>
              </a:rPr>
              <a:t>np.mean</a:t>
            </a:r>
            <a:r>
              <a:rPr/>
              <a:t>, qui font la même chose plus rapidement et avec moins de marge d’erreur. L’écrire une fois à la main est ce qui fait le raccourci lisible par la suite.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Une boucle </a:t>
            </a:r>
            <a:r>
              <a:rPr>
                <a:latin typeface="Courier"/>
              </a:rPr>
              <a:t>for</a:t>
            </a:r>
            <a:r>
              <a:rPr/>
              <a:t> parcourt une collection finie ; une boucle </a:t>
            </a:r>
            <a:r>
              <a:rPr>
                <a:latin typeface="Courier"/>
              </a:rPr>
              <a:t>while</a:t>
            </a:r>
            <a:r>
              <a:rPr/>
              <a:t> pose une question avant chaque tour et s’arrête lorsque la réponse est Faux. Utilisez-le lorsque le nombre de tours dépend du calcul lui-même : une demi-vie tombant sous un seuil, un solveur convergeant, une lecture jusqu’à la fin d’un flux. Chaque boucle while a besoin de trois choses, et oublier la troisième est l’infini classique boucle : un état initial, une condition qui le mentionne, et un corps qui le modifie. Le bouton d’interruption ( ■ ) est leur porte de sortie ; mentionnez-le avant d’en avoir besoin.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break</a:t>
            </a:r>
            <a:r>
              <a:rPr/>
              <a:t> quitte immédiatement la boucle : la recherche est terminée, les éléments restants ne sont jamais regardé. C’est ainsi que vous trouvez la première valeur anormale sans analyser le reste. </a:t>
            </a:r>
            <a:r>
              <a:rPr>
                <a:latin typeface="Courier"/>
              </a:rPr>
              <a:t>continue</a:t>
            </a:r>
            <a:r>
              <a:rPr/>
              <a:t> abandonne uniquement le tour en cours et passe au suivant : l’idiome pour sauter valeurs manquantes, ce qui représente l’essentiel du travail dans les exportations réelles. Les deux fonctionnent en </a:t>
            </a:r>
            <a:r>
              <a:rPr>
                <a:latin typeface="Courier"/>
              </a:rPr>
              <a:t>for</a:t>
            </a:r>
            <a:r>
              <a:rPr/>
              <a:t> et en </a:t>
            </a:r>
            <a:r>
              <a:rPr>
                <a:latin typeface="Courier"/>
              </a:rPr>
              <a:t>while</a:t>
            </a:r>
            <a:r>
              <a:rPr/>
              <a:t>. Conservez-les pour les cas qui se lisent comme « stop » ou « saut » : imbriqués dans trois niveaux de </a:t>
            </a:r>
            <a:r>
              <a:rPr>
                <a:latin typeface="Courier"/>
              </a:rPr>
              <a:t>if</a:t>
            </a:r>
            <a:r>
              <a:rPr/>
              <a:t>, ils deviennent illisibles.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Une compréhension est la même boucle écrite comme une seule expression : quoi garder, d’où cela vient de, et éventuellement lesquels. Python le lit dans cet ordre, et il devrait en être de même. C’est la manière idiomatique de transformer une liste en une autre liste, et elle apparaît constamment en code réel, ils doivent donc être capables d’en lire un même s’ils préfèrent écrire des boucles. La limite : une compréhension construit une collection. Une boucle qui imprime, écrit un fichier ou les appels à un service restent une boucle. Et une compréhension avec deux </a:t>
            </a:r>
            <a:r>
              <a:rPr>
                <a:latin typeface="Courier"/>
              </a:rPr>
              <a:t>for</a:t>
            </a:r>
            <a:r>
              <a:rPr/>
              <a:t> et trois </a:t>
            </a:r>
            <a:r>
              <a:rPr>
                <a:latin typeface="Courier"/>
              </a:rPr>
              <a:t>if</a:t>
            </a:r>
            <a:r>
              <a:rPr/>
              <a:t> devrait aller redevenu une boucle.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def</a:t>
            </a:r>
            <a:r>
              <a:rPr/>
              <a:t> crée une fonction ; l’appeler exécute le corps avec les arguments liés au paramètres, et </a:t>
            </a:r>
            <a:r>
              <a:rPr>
                <a:latin typeface="Courier"/>
              </a:rPr>
              <a:t>return</a:t>
            </a:r>
            <a:r>
              <a:rPr/>
              <a:t> renvoie une valeur à l’appelant. Insistez sur la différence entre imprimer et renvoyer : </a:t>
            </a:r>
            <a:r>
              <a:rPr>
                <a:latin typeface="Courier"/>
              </a:rPr>
              <a:t>print</a:t>
            </a:r>
            <a:r>
              <a:rPr/>
              <a:t> montre une valeur à un humain et ne donne rien en retour, </a:t>
            </a:r>
            <a:r>
              <a:rPr>
                <a:latin typeface="Courier"/>
              </a:rPr>
              <a:t>return</a:t>
            </a:r>
            <a:r>
              <a:rPr/>
              <a:t> produit une valeur que le reste du programme peut utiliser. Un la fonction qui imprime son résultat ne peut pas être réutilisée. Les arguments par défaut (</a:t>
            </a:r>
            <a:r>
              <a:rPr>
                <a:latin typeface="Courier"/>
              </a:rPr>
              <a:t>skip_none=True</a:t>
            </a:r>
            <a:r>
              <a:rPr/>
              <a:t>) donnent une option sans forcer chaque appelant à réfléchir à ce sujet. Les arguments de mots clés sur le site d’appel (</a:t>
            </a:r>
            <a:r>
              <a:rPr>
                <a:latin typeface="Courier"/>
              </a:rPr>
              <a:t>mean(values, skip_none=False)</a:t>
            </a:r>
            <a:r>
              <a:rPr/>
              <a:t>) valent les caractères supplémentaires : dans six mois, cette ligne dit toujours ce qu’elle fait. Portée en une phrase : les noms créés à l’intérieur de la fonction disparaissent à son retour.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Ils utilisent des objets depuis la séance 1 sans le mot : un </a:t>
            </a:r>
            <a:r>
              <a:rPr>
                <a:latin typeface="Courier"/>
              </a:rPr>
              <a:t>str</a:t>
            </a:r>
            <a:r>
              <a:rPr/>
              <a:t> a </a:t>
            </a:r>
            <a:r>
              <a:rPr>
                <a:latin typeface="Courier"/>
              </a:rPr>
              <a:t>.upper()</a:t>
            </a:r>
            <a:r>
              <a:rPr/>
              <a:t>, un la liste a </a:t>
            </a:r>
            <a:r>
              <a:rPr>
                <a:latin typeface="Courier"/>
              </a:rPr>
              <a:t>.append()</a:t>
            </a:r>
            <a:r>
              <a:rPr/>
              <a:t>. Une classe est la façon dont vous définissez votre propre type, pour les données qui voyagent ensemble. </a:t>
            </a:r>
            <a:r>
              <a:rPr>
                <a:latin typeface="Courier"/>
              </a:rPr>
              <a:t>__init__</a:t>
            </a:r>
            <a:r>
              <a:rPr/>
              <a:t> s’exécute à la création et stocke les attributs sur </a:t>
            </a:r>
            <a:r>
              <a:rPr>
                <a:latin typeface="Courier"/>
              </a:rPr>
              <a:t>self</a:t>
            </a:r>
            <a:r>
              <a:rPr/>
              <a:t> ; </a:t>
            </a:r>
            <a:r>
              <a:rPr>
                <a:latin typeface="Courier"/>
              </a:rPr>
              <a:t>self</a:t>
            </a:r>
            <a:r>
              <a:rPr/>
              <a:t> est simplement le objet sur lequel la méthode a été appelée, et c’est le premier paramètre de chaque méthode. </a:t>
            </a:r>
            <a:r>
              <a:rPr>
                <a:latin typeface="Courier"/>
              </a:rPr>
              <a:t>p.bmi()</a:t>
            </a:r>
            <a:r>
              <a:rPr/>
              <a:t> est juste </a:t>
            </a:r>
            <a:r>
              <a:rPr>
                <a:latin typeface="Courier"/>
              </a:rPr>
              <a:t>Patient.bmi(p)</a:t>
            </a:r>
            <a:r>
              <a:rPr/>
              <a:t>. Les noms avec des traits de soulignement doubles sont des hooks que Python appelle pour vous : </a:t>
            </a:r>
            <a:r>
              <a:rPr>
                <a:latin typeface="Courier"/>
              </a:rPr>
              <a:t>__init__</a:t>
            </a:r>
            <a:r>
              <a:rPr/>
              <a:t> à la création, </a:t>
            </a:r>
            <a:r>
              <a:rPr>
                <a:latin typeface="Courier"/>
              </a:rPr>
              <a:t>__repr__</a:t>
            </a:r>
            <a:r>
              <a:rPr/>
              <a:t> lorsque l’objet est affiché, </a:t>
            </a:r>
            <a:r>
              <a:rPr>
                <a:latin typeface="Courier"/>
              </a:rPr>
              <a:t>__len__</a:t>
            </a:r>
            <a:r>
              <a:rPr/>
              <a:t> pour </a:t>
            </a:r>
            <a:r>
              <a:rPr>
                <a:latin typeface="Courier"/>
              </a:rPr>
              <a:t>len(obj)</a:t>
            </a:r>
            <a:r>
              <a:rPr/>
              <a:t>. Définir </a:t>
            </a:r>
            <a:r>
              <a:rPr>
                <a:latin typeface="Courier"/>
              </a:rPr>
              <a:t>__repr__</a:t>
            </a:r>
            <a:r>
              <a:rPr/>
              <a:t> au début, cela transforme un </a:t>
            </a:r>
            <a:r>
              <a:rPr>
                <a:latin typeface="Courier"/>
              </a:rPr>
              <a:t>&lt;object at 0x7f...&gt;</a:t>
            </a:r>
            <a:r>
              <a:rPr/>
              <a:t> illisible en quelque chose avec lequel ils peuvent déboguer. Deux objets de la même classe sont indépendants : changer </a:t>
            </a:r>
            <a:r>
              <a:rPr>
                <a:latin typeface="Courier"/>
              </a:rPr>
              <a:t>q.weight</a:t>
            </a:r>
            <a:r>
              <a:rPr/>
              <a:t> laisse </a:t>
            </a:r>
            <a:r>
              <a:rPr>
                <a:latin typeface="Courier"/>
              </a:rPr>
              <a:t>p</a:t>
            </a:r>
            <a:r>
              <a:rPr/>
              <a:t> intact.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Réponse honnête : pour une poignée de champs lus une fois à partir d’un CSV, un dict suffit, et c’est ce que les pandas leur donneront de toute façon. Une classe gagne sa place lorsque le comportement appartient aux données (un IMC calculé à partir de la propres champs du patient), lorsque la même forme est créée plusieurs fois, ou lorsque vous souhaitez une garantir que chaque objet a les mêmes attributs, qu’un dict ne vous donne jamais : un une faute de frappe dans une clé crée une nouvelle clé au lieu d’une erreur.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class InPatient(Patient)</a:t>
            </a:r>
            <a:r>
              <a:rPr/>
              <a:t> signifie « un patient hospitalisé est un patient plus une chambre ». La classe en brackets est le parent (classe de base, superclasse) ; le nouveau est l’enfant ou la sous-classe. Tout ce qui est défini sur </a:t>
            </a:r>
            <a:r>
              <a:rPr>
                <a:latin typeface="Courier"/>
              </a:rPr>
              <a:t>Patient</a:t>
            </a:r>
            <a:r>
              <a:rPr/>
              <a:t> est disponible sur un </a:t>
            </a:r>
            <a:r>
              <a:rPr>
                <a:latin typeface="Courier"/>
              </a:rPr>
              <a:t>InPatient</a:t>
            </a:r>
            <a:r>
              <a:rPr/>
              <a:t> sans être écrit encore une fois : les attributs définis dans </a:t>
            </a:r>
            <a:r>
              <a:rPr>
                <a:latin typeface="Courier"/>
              </a:rPr>
              <a:t>__init__</a:t>
            </a:r>
            <a:r>
              <a:rPr/>
              <a:t>, </a:t>
            </a:r>
            <a:r>
              <a:rPr>
                <a:latin typeface="Courier"/>
              </a:rPr>
              <a:t>bmi()</a:t>
            </a:r>
            <a:r>
              <a:rPr/>
              <a:t>, </a:t>
            </a:r>
            <a:r>
              <a:rPr>
                <a:latin typeface="Courier"/>
              </a:rPr>
              <a:t>add_heart_rate()</a:t>
            </a:r>
            <a:r>
              <a:rPr/>
              <a:t>, </a:t>
            </a:r>
            <a:r>
              <a:rPr>
                <a:latin typeface="Courier"/>
              </a:rPr>
              <a:t>__repr__</a:t>
            </a:r>
            <a:r>
              <a:rPr/>
              <a:t>. </a:t>
            </a:r>
            <a:r>
              <a:rPr>
                <a:latin typeface="Courier"/>
              </a:rPr>
              <a:t>super().__init__(id, age, weight, height)</a:t>
            </a:r>
            <a:r>
              <a:rPr/>
              <a:t> appelle le constructeur du parent, donc le partage les attributs sont définis en un seul endroit, par la classe qui les possède. Oublier cet appel est le erreur classique : l’objet est créé, puis </a:t>
            </a:r>
            <a:r>
              <a:rPr>
                <a:latin typeface="Courier"/>
              </a:rPr>
              <a:t>i.bmi()</a:t>
            </a:r>
            <a:r>
              <a:rPr/>
              <a:t> échoue avec </a:t>
            </a:r>
            <a:r>
              <a:rPr>
                <a:latin typeface="Courier"/>
              </a:rPr>
              <a:t>AttributeError: 'InPatient' object has no attribute 'weight'</a:t>
            </a:r>
            <a:r>
              <a:rPr/>
              <a:t>, parce que personne n’a jamais réglé ça. </a:t>
            </a:r>
            <a:r>
              <a:rPr>
                <a:latin typeface="Courier"/>
              </a:rPr>
              <a:t>isinstance(i, Patient)</a:t>
            </a:r>
            <a:r>
              <a:rPr/>
              <a:t> est vrai, et c’est là tout l’intérêt : code écrit pour les patients fonctionne inchangé sur les patients hospitalisés. L’inverse est faux ; un </a:t>
            </a:r>
            <a:r>
              <a:rPr>
                <a:latin typeface="Courier"/>
              </a:rPr>
              <a:t>InPatient</a:t>
            </a:r>
            <a:r>
              <a:rPr/>
              <a:t> est un cas particulier de </a:t>
            </a:r>
            <a:r>
              <a:rPr>
                <a:latin typeface="Courier"/>
              </a:rPr>
              <a:t>Patient</a:t>
            </a:r>
            <a:r>
              <a:rPr/>
              <a:t>, et non l’inverse. Préférez </a:t>
            </a:r>
            <a:r>
              <a:rPr>
                <a:latin typeface="Courier"/>
              </a:rPr>
              <a:t>isinstance(x, Patient)</a:t>
            </a:r>
            <a:r>
              <a:rPr/>
              <a:t> à </a:t>
            </a:r>
            <a:r>
              <a:rPr>
                <a:latin typeface="Courier"/>
              </a:rPr>
              <a:t>type(x) == Patient</a:t>
            </a:r>
            <a:r>
              <a:rPr/>
              <a:t>, qui répond False pour chaque sous-classe et brise tranquillement l’idée. Un avertissement : l’héritage est tentant et souvent erroné. Utilisez-le lorsque la phrase « X est un Y » est littéralement vrai; lorsque X </a:t>
            </a:r>
            <a:r>
              <a:rPr i="1"/>
              <a:t>a</a:t>
            </a:r>
            <a:r>
              <a:rPr/>
              <a:t> simplement un Y, stockez-le plutôt comme attribut.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règle est une ligne : Python recherche d’abord le nom dans la propre classe de l’objet, puis dans son parent, puis sur </a:t>
            </a:r>
            <a:r>
              <a:rPr i="1"/>
              <a:t>son</a:t>
            </a:r>
            <a:r>
              <a:rPr/>
              <a:t> parent, jusqu’à </a:t>
            </a:r>
            <a:r>
              <a:rPr>
                <a:latin typeface="Courier"/>
              </a:rPr>
              <a:t>object</a:t>
            </a:r>
            <a:r>
              <a:rPr/>
              <a:t> ; le premier trouvé gagne. </a:t>
            </a:r>
            <a:r>
              <a:rPr>
                <a:latin typeface="Courier"/>
              </a:rPr>
              <a:t>i.bmi()</a:t>
            </a:r>
            <a:r>
              <a:rPr/>
              <a:t> n’est pas défini sur </a:t>
            </a:r>
            <a:r>
              <a:rPr>
                <a:latin typeface="Courier"/>
              </a:rPr>
              <a:t>InPatient</a:t>
            </a:r>
            <a:r>
              <a:rPr/>
              <a:t>, donc Python arrive et exécute celui sur </a:t>
            </a:r>
            <a:r>
              <a:rPr>
                <a:latin typeface="Courier"/>
              </a:rPr>
              <a:t>Patient</a:t>
            </a:r>
            <a:r>
              <a:rPr/>
              <a:t>. </a:t>
            </a:r>
            <a:r>
              <a:rPr>
                <a:latin typeface="Courier"/>
              </a:rPr>
              <a:t>repr(i)</a:t>
            </a:r>
            <a:r>
              <a:rPr/>
              <a:t> est défini sur les deux, donc la version de l’enfant l’emporte : c’est </a:t>
            </a:r>
            <a:r>
              <a:rPr i="1"/>
              <a:t>prédominant</a:t>
            </a:r>
            <a:r>
              <a:rPr/>
              <a:t>. Une méthode surchargée peut toujours réutiliser celle qu’elle a remplacée : </a:t>
            </a:r>
            <a:r>
              <a:rPr>
                <a:latin typeface="Courier"/>
              </a:rPr>
              <a:t>super().__repr__()</a:t>
            </a:r>
            <a:r>
              <a:rPr/>
              <a:t> à l’intérieur du child appelle la version du parent, c’est ainsi que vous étendez le comportement au lieu de le copier. Même idée que </a:t>
            </a:r>
            <a:r>
              <a:rPr>
                <a:latin typeface="Courier"/>
              </a:rPr>
              <a:t>super().__init__</a:t>
            </a:r>
            <a:r>
              <a:rPr/>
              <a:t>, qui n’est rien de plus qu’un </a:t>
            </a:r>
            <a:r>
              <a:rPr>
                <a:latin typeface="Courier"/>
              </a:rPr>
              <a:t>__init__</a:t>
            </a:r>
            <a:r>
              <a:rPr/>
              <a:t> remplacé appelant l’original. Le gain est le </a:t>
            </a:r>
            <a:r>
              <a:rPr i="1"/>
              <a:t>polymorphisme</a:t>
            </a:r>
            <a:r>
              <a:rPr/>
              <a:t> : une boucle sur une liste mixte de </a:t>
            </a:r>
            <a:r>
              <a:rPr>
                <a:latin typeface="Courier"/>
              </a:rPr>
              <a:t>Patient</a:t>
            </a:r>
            <a:r>
              <a:rPr/>
              <a:t> et </a:t>
            </a:r>
            <a:r>
              <a:rPr>
                <a:latin typeface="Courier"/>
              </a:rPr>
              <a:t>InPatient</a:t>
            </a:r>
            <a:r>
              <a:rPr/>
              <a:t> les objets appellent </a:t>
            </a:r>
            <a:r>
              <a:rPr>
                <a:latin typeface="Courier"/>
              </a:rPr>
              <a:t>p.bmi()</a:t>
            </a:r>
            <a:r>
              <a:rPr/>
              <a:t> sur chacun, et chaque objet exécute la bonne version. Aucun test sur le tapez n’importe où, ce qui est exactement l’échelle </a:t>
            </a:r>
            <a:r>
              <a:rPr>
                <a:latin typeface="Courier"/>
              </a:rPr>
              <a:t>if</a:t>
            </a:r>
            <a:r>
              <a:rPr/>
              <a:t> qui pourrit lorsqu’un nouveau cas apparaît. Habitude de débogage : lorsqu’une méthode ne fait pas ce qu’elle attend, demandez de quelle classe elle provient. </a:t>
            </a:r>
            <a:r>
              <a:rPr>
                <a:latin typeface="Courier"/>
              </a:rPr>
              <a:t>type(i).__mro__</a:t>
            </a:r>
            <a:r>
              <a:rPr/>
              <a:t> imprime l’ordre de recherche, </a:t>
            </a:r>
            <a:r>
              <a:rPr>
                <a:latin typeface="Courier"/>
              </a:rPr>
              <a:t>help(InPatient)</a:t>
            </a:r>
            <a:r>
              <a:rPr/>
              <a:t> montre ce qui a été hérité et ce qui a été redéfini.</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7.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8.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9.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Séance 2</a:t>
            </a:r>
            <a:br/>
            <a:r>
              <a:rPr/>
              <a:t>Conditions, boucles et classes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Santé numérique,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Semaine 1, cours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Prendre des décisions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if</a:t>
            </a:r>
            <a:r>
              <a:rPr/>
              <a:t> / </a:t>
            </a:r>
            <a:r>
              <a:rPr>
                <a:latin typeface="Courier"/>
              </a:rPr>
              <a:t>elif</a:t>
            </a:r>
            <a:r>
              <a:rPr/>
              <a:t> / </a:t>
            </a:r>
            <a:r>
              <a:rPr>
                <a:latin typeface="Courier"/>
              </a:rPr>
              <a:t>else</a:t>
            </a:r>
          </a:p>
        </p:txBody>
      </p:sp>
      <p:sp>
        <p:nvSpPr>
          <p:cNvPr id="3" name="Content Placeholder 2"/>
          <p:cNvSpPr>
            <a:spLocks noGrp="1"/>
          </p:cNvSpPr>
          <p:nvPr>
            <p:ph idx="1"/>
          </p:nvPr>
        </p:nvSpPr>
        <p:spPr/>
        <p:txBody>
          <a:bodyPr>
            <a:normAutofit/>
          </a:bodyPr>
          <a:lstStyle/>
          <a:p>
            <a:pPr lvl="0" indent="0">
              <a:buNone/>
            </a:pPr>
            <a:r>
              <a:rPr>
                <a:latin typeface="Courier"/>
              </a:rPr>
              <a:t>temp </a:t>
            </a:r>
            <a:r>
              <a:rPr>
                <a:solidFill>
                  <a:srgbClr val="666666"/>
                </a:solidFill>
                <a:latin typeface="Courier"/>
              </a:rPr>
              <a:t>=</a:t>
            </a:r>
            <a:r>
              <a:rPr>
                <a:latin typeface="Courier"/>
              </a:rPr>
              <a:t> </a:t>
            </a:r>
            <a:r>
              <a:rPr>
                <a:solidFill>
                  <a:srgbClr val="40A070"/>
                </a:solidFill>
                <a:latin typeface="Courier"/>
              </a:rPr>
              <a:t>38.4</a:t>
            </a:r>
            <a:br/>
            <a:br/>
            <a:r>
              <a:rPr b="1">
                <a:solidFill>
                  <a:srgbClr val="007020"/>
                </a:solidFill>
                <a:latin typeface="Courier"/>
              </a:rPr>
              <a:t>if</a:t>
            </a:r>
            <a:r>
              <a:rPr>
                <a:latin typeface="Courier"/>
              </a:rPr>
              <a:t> temp </a:t>
            </a:r>
            <a:r>
              <a:rPr>
                <a:solidFill>
                  <a:srgbClr val="666666"/>
                </a:solidFill>
                <a:latin typeface="Courier"/>
              </a:rPr>
              <a:t>&gt;=</a:t>
            </a:r>
            <a:r>
              <a:rPr>
                <a:latin typeface="Courier"/>
              </a:rPr>
              <a:t> </a:t>
            </a:r>
            <a:r>
              <a:rPr>
                <a:solidFill>
                  <a:srgbClr val="40A070"/>
                </a:solidFill>
                <a:latin typeface="Courier"/>
              </a:rPr>
              <a:t>39</a:t>
            </a:r>
            <a:r>
              <a:rPr>
                <a:latin typeface="Courier"/>
              </a:rPr>
              <a:t>:</a:t>
            </a:r>
            <a:br/>
            <a:r>
              <a:rPr>
                <a:latin typeface="Courier"/>
              </a:rPr>
              <a:t>    </a:t>
            </a:r>
            <a:r>
              <a:rPr>
                <a:solidFill>
                  <a:srgbClr val="008000"/>
                </a:solidFill>
                <a:latin typeface="Courier"/>
              </a:rPr>
              <a:t>print</a:t>
            </a:r>
            <a:r>
              <a:rPr>
                <a:latin typeface="Courier"/>
              </a:rPr>
              <a:t>(</a:t>
            </a:r>
            <a:r>
              <a:rPr>
                <a:solidFill>
                  <a:srgbClr val="4070A0"/>
                </a:solidFill>
                <a:latin typeface="Courier"/>
              </a:rPr>
              <a:t>"high fever"</a:t>
            </a:r>
            <a:r>
              <a:rPr>
                <a:latin typeface="Courier"/>
              </a:rPr>
              <a:t>)</a:t>
            </a:r>
            <a:br/>
            <a:r>
              <a:rPr b="1">
                <a:solidFill>
                  <a:srgbClr val="007020"/>
                </a:solidFill>
                <a:latin typeface="Courier"/>
              </a:rPr>
              <a:t>elif</a:t>
            </a:r>
            <a:r>
              <a:rPr>
                <a:latin typeface="Courier"/>
              </a:rPr>
              <a:t> temp </a:t>
            </a:r>
            <a:r>
              <a:rPr>
                <a:solidFill>
                  <a:srgbClr val="666666"/>
                </a:solidFill>
                <a:latin typeface="Courier"/>
              </a:rPr>
              <a:t>&gt;=</a:t>
            </a:r>
            <a:r>
              <a:rPr>
                <a:latin typeface="Courier"/>
              </a:rPr>
              <a:t> </a:t>
            </a:r>
            <a:r>
              <a:rPr>
                <a:solidFill>
                  <a:srgbClr val="40A070"/>
                </a:solidFill>
                <a:latin typeface="Courier"/>
              </a:rPr>
              <a:t>38</a:t>
            </a:r>
            <a:r>
              <a:rPr>
                <a:latin typeface="Courier"/>
              </a:rPr>
              <a:t>:</a:t>
            </a:r>
            <a:br/>
            <a:r>
              <a:rPr>
                <a:latin typeface="Courier"/>
              </a:rPr>
              <a:t>    </a:t>
            </a:r>
            <a:r>
              <a:rPr>
                <a:solidFill>
                  <a:srgbClr val="008000"/>
                </a:solidFill>
                <a:latin typeface="Courier"/>
              </a:rPr>
              <a:t>print</a:t>
            </a:r>
            <a:r>
              <a:rPr>
                <a:latin typeface="Courier"/>
              </a:rPr>
              <a:t>(</a:t>
            </a:r>
            <a:r>
              <a:rPr>
                <a:solidFill>
                  <a:srgbClr val="4070A0"/>
                </a:solidFill>
                <a:latin typeface="Courier"/>
              </a:rPr>
              <a:t>"fever"</a:t>
            </a:r>
            <a:r>
              <a:rPr>
                <a:latin typeface="Courier"/>
              </a:rPr>
              <a:t>)</a:t>
            </a:r>
            <a:br/>
            <a:r>
              <a:rPr b="1">
                <a:solidFill>
                  <a:srgbClr val="007020"/>
                </a:solidFill>
                <a:latin typeface="Courier"/>
              </a:rPr>
              <a:t>else</a:t>
            </a:r>
            <a:r>
              <a:rPr>
                <a:latin typeface="Courier"/>
              </a:rPr>
              <a:t>:</a:t>
            </a:r>
            <a:br/>
            <a:r>
              <a:rPr>
                <a:latin typeface="Courier"/>
              </a:rPr>
              <a:t>    </a:t>
            </a:r>
            <a:r>
              <a:rPr>
                <a:solidFill>
                  <a:srgbClr val="008000"/>
                </a:solidFill>
                <a:latin typeface="Courier"/>
              </a:rPr>
              <a:t>print</a:t>
            </a:r>
            <a:r>
              <a:rPr>
                <a:latin typeface="Courier"/>
              </a:rPr>
              <a:t>(</a:t>
            </a:r>
            <a:r>
              <a:rPr>
                <a:solidFill>
                  <a:srgbClr val="4070A0"/>
                </a:solidFill>
                <a:latin typeface="Courier"/>
              </a:rPr>
              <a:t>"no fever"</a:t>
            </a:r>
            <a:r>
              <a:rPr>
                <a:latin typeface="Courie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Ordre des tests</a:t>
            </a:r>
          </a:p>
        </p:txBody>
      </p:sp>
      <p:pic>
        <p:nvPicPr>
          <p:cNvPr descr="img/branch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Répéter le travail</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for</a:t>
            </a:r>
            <a:r>
              <a:rPr/>
              <a:t> boucle</a:t>
            </a:r>
          </a:p>
        </p:txBody>
      </p:sp>
      <p:pic>
        <p:nvPicPr>
          <p:cNvPr descr="img/for_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range</a:t>
            </a:r>
            <a:r>
              <a:rPr/>
              <a:t> et </a:t>
            </a:r>
            <a:r>
              <a:rPr>
                <a:latin typeface="Courier"/>
              </a:rPr>
              <a:t>enumerate</a:t>
            </a:r>
          </a:p>
        </p:txBody>
      </p:sp>
      <p:pic>
        <p:nvPicPr>
          <p:cNvPr descr="img/loop_helpers_a.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zip</a:t>
            </a:r>
            <a:r>
              <a:rPr/>
              <a:t> et </a:t>
            </a:r>
            <a:r>
              <a:rPr>
                <a:latin typeface="Courier"/>
              </a:rPr>
              <a:t>.items()</a:t>
            </a:r>
          </a:p>
        </p:txBody>
      </p:sp>
      <p:pic>
        <p:nvPicPr>
          <p:cNvPr descr="img/loop_helpers_b.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Accumuler un résultat</a:t>
            </a:r>
          </a:p>
        </p:txBody>
      </p:sp>
      <p:sp>
        <p:nvSpPr>
          <p:cNvPr id="3" name="Content Placeholder 2"/>
          <p:cNvSpPr>
            <a:spLocks noGrp="1"/>
          </p:cNvSpPr>
          <p:nvPr>
            <p:ph idx="1"/>
          </p:nvPr>
        </p:nvSpPr>
        <p:spPr/>
        <p:txBody>
          <a:bodyPr>
            <a:normAutofit/>
          </a:bodyPr>
          <a:lstStyle/>
          <a:p>
            <a:pPr lvl="0" indent="0">
              <a:buNone/>
            </a:pPr>
            <a:r>
              <a:rPr>
                <a:latin typeface="Courier"/>
              </a:rPr>
              <a:t>total </a:t>
            </a:r>
            <a:r>
              <a:rPr>
                <a:solidFill>
                  <a:srgbClr val="666666"/>
                </a:solidFill>
                <a:latin typeface="Courier"/>
              </a:rPr>
              <a:t>=</a:t>
            </a:r>
            <a:r>
              <a:rPr>
                <a:latin typeface="Courier"/>
              </a:rPr>
              <a:t> </a:t>
            </a:r>
            <a:r>
              <a:rPr>
                <a:solidFill>
                  <a:srgbClr val="40A070"/>
                </a:solidFill>
                <a:latin typeface="Courier"/>
              </a:rPr>
              <a:t>0</a:t>
            </a:r>
            <a:br/>
            <a:r>
              <a:rPr b="1">
                <a:solidFill>
                  <a:srgbClr val="007020"/>
                </a:solidFill>
                <a:latin typeface="Courier"/>
              </a:rPr>
              <a:t>for</a:t>
            </a:r>
            <a:r>
              <a:rPr>
                <a:latin typeface="Courier"/>
              </a:rPr>
              <a:t> hr </a:t>
            </a:r>
            <a:r>
              <a:rPr b="1">
                <a:solidFill>
                  <a:srgbClr val="007020"/>
                </a:solidFill>
                <a:latin typeface="Courier"/>
              </a:rPr>
              <a:t>in</a:t>
            </a:r>
            <a:r>
              <a:rPr>
                <a:latin typeface="Courier"/>
              </a:rPr>
              <a:t> heart_rates:</a:t>
            </a:r>
            <a:br/>
            <a:r>
              <a:rPr>
                <a:latin typeface="Courier"/>
              </a:rPr>
              <a:t>    total </a:t>
            </a:r>
            <a:r>
              <a:rPr>
                <a:solidFill>
                  <a:srgbClr val="666666"/>
                </a:solidFill>
                <a:latin typeface="Courier"/>
              </a:rPr>
              <a:t>=</a:t>
            </a:r>
            <a:r>
              <a:rPr>
                <a:latin typeface="Courier"/>
              </a:rPr>
              <a:t> total </a:t>
            </a:r>
            <a:r>
              <a:rPr>
                <a:solidFill>
                  <a:srgbClr val="666666"/>
                </a:solidFill>
                <a:latin typeface="Courier"/>
              </a:rPr>
              <a:t>+</a:t>
            </a:r>
            <a:r>
              <a:rPr>
                <a:latin typeface="Courier"/>
              </a:rPr>
              <a:t> hr</a:t>
            </a:r>
            <a:br/>
            <a:br/>
            <a:r>
              <a:rPr>
                <a:latin typeface="Courier"/>
              </a:rPr>
              <a:t>mean </a:t>
            </a:r>
            <a:r>
              <a:rPr>
                <a:solidFill>
                  <a:srgbClr val="666666"/>
                </a:solidFill>
                <a:latin typeface="Courier"/>
              </a:rPr>
              <a:t>=</a:t>
            </a:r>
            <a:r>
              <a:rPr>
                <a:latin typeface="Courier"/>
              </a:rPr>
              <a:t> total </a:t>
            </a:r>
            <a:r>
              <a:rPr>
                <a:solidFill>
                  <a:srgbClr val="666666"/>
                </a:solidFill>
                <a:latin typeface="Courier"/>
              </a:rPr>
              <a:t>/</a:t>
            </a:r>
            <a:r>
              <a:rPr>
                <a:latin typeface="Courier"/>
              </a:rPr>
              <a:t> </a:t>
            </a:r>
            <a:r>
              <a:rPr>
                <a:solidFill>
                  <a:srgbClr val="008000"/>
                </a:solidFill>
                <a:latin typeface="Courier"/>
              </a:rPr>
              <a:t>len</a:t>
            </a:r>
            <a:r>
              <a:rPr>
                <a:latin typeface="Courier"/>
              </a:rPr>
              <a:t>(heart_rates)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while</a:t>
            </a:r>
            <a:r>
              <a:rPr/>
              <a:t> : nombre d’itérations inconnu</a:t>
            </a:r>
          </a:p>
        </p:txBody>
      </p:sp>
      <p:pic>
        <p:nvPicPr>
          <p:cNvPr descr="img/while_loo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latin typeface="Courier"/>
              </a:rPr>
              <a:t>break</a:t>
            </a:r>
            <a:r>
              <a:rPr/>
              <a:t> et </a:t>
            </a:r>
            <a:r>
              <a:rPr>
                <a:latin typeface="Courier"/>
              </a:rPr>
              <a:t>continue</a:t>
            </a:r>
          </a:p>
        </p:txBody>
      </p:sp>
      <p:pic>
        <p:nvPicPr>
          <p:cNvPr descr="img/break_continu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Compréhensions</a:t>
            </a:r>
          </a:p>
        </p:txBody>
      </p:sp>
      <p:pic>
        <p:nvPicPr>
          <p:cNvPr descr="img/comprehens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Fonctions</a:t>
            </a:r>
          </a:p>
        </p:txBody>
      </p:sp>
      <p:pic>
        <p:nvPicPr>
          <p:cNvPr descr="img/function_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Objets et classes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Une classe est un plan</a:t>
            </a:r>
          </a:p>
        </p:txBody>
      </p:sp>
      <p:pic>
        <p:nvPicPr>
          <p:cNvPr descr="img/class_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Dictionnaire ou classe ?</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dict: data only</a:t>
            </a:r>
            <a:br/>
            <a:r>
              <a:rPr>
                <a:latin typeface="Courier"/>
              </a:rPr>
              <a:t>p </a:t>
            </a:r>
            <a:r>
              <a:rPr>
                <a:solidFill>
                  <a:srgbClr val="666666"/>
                </a:solidFill>
                <a:latin typeface="Courier"/>
              </a:rPr>
              <a:t>=</a:t>
            </a:r>
            <a:r>
              <a:rPr>
                <a:latin typeface="Courier"/>
              </a:rPr>
              <a:t> {</a:t>
            </a:r>
            <a:r>
              <a:rPr>
                <a:solidFill>
                  <a:srgbClr val="4070A0"/>
                </a:solidFill>
                <a:latin typeface="Courier"/>
              </a:rPr>
              <a:t>"id"</a:t>
            </a:r>
            <a:r>
              <a:rPr>
                <a:latin typeface="Courier"/>
              </a:rPr>
              <a:t>: </a:t>
            </a:r>
            <a:r>
              <a:rPr>
                <a:solidFill>
                  <a:srgbClr val="4070A0"/>
                </a:solidFill>
                <a:latin typeface="Courier"/>
              </a:rPr>
              <a:t>"P001"</a:t>
            </a:r>
            <a:r>
              <a:rPr>
                <a:latin typeface="Courier"/>
              </a:rPr>
              <a:t>, </a:t>
            </a:r>
            <a:r>
              <a:rPr>
                <a:solidFill>
                  <a:srgbClr val="4070A0"/>
                </a:solidFill>
                <a:latin typeface="Courier"/>
              </a:rPr>
              <a:t>"age"</a:t>
            </a:r>
            <a:r>
              <a:rPr>
                <a:latin typeface="Courier"/>
              </a:rPr>
              <a:t>: </a:t>
            </a:r>
            <a:r>
              <a:rPr>
                <a:solidFill>
                  <a:srgbClr val="40A070"/>
                </a:solidFill>
                <a:latin typeface="Courier"/>
              </a:rPr>
              <a:t>54</a:t>
            </a:r>
            <a:r>
              <a:rPr>
                <a:latin typeface="Courier"/>
              </a:rPr>
              <a:t>}</a:t>
            </a:r>
            <a:br/>
            <a:r>
              <a:rPr>
                <a:latin typeface="Courier"/>
              </a:rPr>
              <a:t>p[</a:t>
            </a:r>
            <a:r>
              <a:rPr>
                <a:solidFill>
                  <a:srgbClr val="4070A0"/>
                </a:solidFill>
                <a:latin typeface="Courier"/>
              </a:rPr>
              <a:t>"age"</a:t>
            </a:r>
            <a:r>
              <a:rPr>
                <a:latin typeface="Courier"/>
              </a:rPr>
              <a:t>]</a:t>
            </a:r>
            <a:br/>
            <a:br/>
            <a:br/>
            <a:r>
              <a:rPr i="1">
                <a:solidFill>
                  <a:srgbClr val="60A0B0"/>
                </a:solidFill>
                <a:latin typeface="Courier"/>
              </a:rPr>
              <a:t># class: data + behaviour</a:t>
            </a:r>
            <a:br/>
            <a:r>
              <a:rPr b="1">
                <a:solidFill>
                  <a:srgbClr val="007020"/>
                </a:solidFill>
                <a:latin typeface="Courier"/>
              </a:rPr>
              <a:t>class</a:t>
            </a:r>
            <a:r>
              <a:rPr>
                <a:latin typeface="Courier"/>
              </a:rPr>
              <a:t> Patient:</a:t>
            </a:r>
            <a:br/>
            <a:r>
              <a:rPr>
                <a:latin typeface="Courier"/>
              </a:rPr>
              <a:t>    </a:t>
            </a:r>
            <a:r>
              <a:rPr b="1">
                <a:solidFill>
                  <a:srgbClr val="007020"/>
                </a:solidFill>
                <a:latin typeface="Courier"/>
              </a:rPr>
              <a:t>def</a:t>
            </a:r>
            <a:r>
              <a:rPr>
                <a:latin typeface="Courier"/>
              </a:rPr>
              <a:t> bmi(</a:t>
            </a:r>
            <a:r>
              <a:rPr>
                <a:solidFill>
                  <a:srgbClr val="19177C"/>
                </a:solidFill>
                <a:latin typeface="Courier"/>
              </a:rPr>
              <a:t>self</a:t>
            </a:r>
            <a:r>
              <a:rPr>
                <a:latin typeface="Courier"/>
              </a:rPr>
              <a:t>): ...</a:t>
            </a:r>
            <a:br/>
            <a:r>
              <a:rPr>
                <a:latin typeface="Courier"/>
              </a:rPr>
              <a:t>p.bmi()</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Héritage</a:t>
            </a:r>
          </a:p>
        </p:txBody>
      </p:sp>
      <p:pic>
        <p:nvPicPr>
          <p:cNvPr descr="img/inheritan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Classe parentale</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class</a:t>
            </a:r>
            <a:r>
              <a:rPr>
                <a:latin typeface="Courier"/>
              </a:rPr>
              <a:t> Patient():</a:t>
            </a:r>
            <a:br/>
            <a:r>
              <a:rPr>
                <a:latin typeface="Courier"/>
              </a:rPr>
              <a:t>    </a:t>
            </a:r>
            <a:r>
              <a:rPr b="1">
                <a:solidFill>
                  <a:srgbClr val="007020"/>
                </a:solidFill>
                <a:latin typeface="Courier"/>
              </a:rPr>
              <a:t>def</a:t>
            </a:r>
            <a:r>
              <a:rPr>
                <a:latin typeface="Courier"/>
              </a:rPr>
              <a:t> </a:t>
            </a:r>
            <a:r>
              <a:rPr>
                <a:solidFill>
                  <a:srgbClr val="06287E"/>
                </a:solidFill>
                <a:latin typeface="Courier"/>
              </a:rPr>
              <a:t>__init__</a:t>
            </a:r>
            <a:r>
              <a:rPr>
                <a:latin typeface="Courier"/>
              </a:rPr>
              <a:t>(</a:t>
            </a:r>
            <a:r>
              <a:rPr>
                <a:solidFill>
                  <a:srgbClr val="19177C"/>
                </a:solidFill>
                <a:latin typeface="Courier"/>
              </a:rPr>
              <a:t>self</a:t>
            </a:r>
            <a:r>
              <a:rPr>
                <a:latin typeface="Courier"/>
              </a:rPr>
              <a:t>, </a:t>
            </a:r>
            <a:r>
              <a:rPr>
                <a:solidFill>
                  <a:srgbClr val="008000"/>
                </a:solidFill>
                <a:latin typeface="Courier"/>
              </a:rPr>
              <a:t>id</a:t>
            </a:r>
            <a:r>
              <a:rPr>
                <a:latin typeface="Courier"/>
              </a:rPr>
              <a:t>, age, weight, height):</a:t>
            </a:r>
            <a:br/>
            <a:r>
              <a:rPr>
                <a:latin typeface="Courier"/>
              </a:rPr>
              <a:t>        </a:t>
            </a:r>
            <a:r>
              <a:rPr>
                <a:solidFill>
                  <a:srgbClr val="19177C"/>
                </a:solidFill>
                <a:latin typeface="Courier"/>
              </a:rPr>
              <a:t>self</a:t>
            </a:r>
            <a:r>
              <a:rPr>
                <a:latin typeface="Courier"/>
              </a:rPr>
              <a:t>.</a:t>
            </a:r>
            <a:r>
              <a:rPr>
                <a:solidFill>
                  <a:srgbClr val="008000"/>
                </a:solidFill>
                <a:latin typeface="Courier"/>
              </a:rPr>
              <a:t>id</a:t>
            </a:r>
            <a:r>
              <a:rPr>
                <a:latin typeface="Courier"/>
              </a:rPr>
              <a:t> </a:t>
            </a:r>
            <a:r>
              <a:rPr>
                <a:solidFill>
                  <a:srgbClr val="666666"/>
                </a:solidFill>
                <a:latin typeface="Courier"/>
              </a:rPr>
              <a:t>=</a:t>
            </a:r>
            <a:r>
              <a:rPr>
                <a:latin typeface="Courier"/>
              </a:rPr>
              <a:t> </a:t>
            </a:r>
            <a:r>
              <a:rPr>
                <a:solidFill>
                  <a:srgbClr val="008000"/>
                </a:solidFill>
                <a:latin typeface="Courier"/>
              </a:rPr>
              <a:t>id</a:t>
            </a:r>
            <a:br/>
            <a:r>
              <a:rPr>
                <a:latin typeface="Courier"/>
              </a:rPr>
              <a:t>        </a:t>
            </a:r>
            <a:r>
              <a:rPr>
                <a:solidFill>
                  <a:srgbClr val="19177C"/>
                </a:solidFill>
                <a:latin typeface="Courier"/>
              </a:rPr>
              <a:t>self</a:t>
            </a:r>
            <a:r>
              <a:rPr>
                <a:latin typeface="Courier"/>
              </a:rPr>
              <a:t>.age </a:t>
            </a:r>
            <a:r>
              <a:rPr>
                <a:solidFill>
                  <a:srgbClr val="666666"/>
                </a:solidFill>
                <a:latin typeface="Courier"/>
              </a:rPr>
              <a:t>=</a:t>
            </a:r>
            <a:r>
              <a:rPr>
                <a:latin typeface="Courier"/>
              </a:rPr>
              <a:t> age</a:t>
            </a:r>
            <a:br/>
            <a:r>
              <a:rPr>
                <a:latin typeface="Courier"/>
              </a:rPr>
              <a:t>        </a:t>
            </a:r>
            <a:r>
              <a:rPr>
                <a:solidFill>
                  <a:srgbClr val="19177C"/>
                </a:solidFill>
                <a:latin typeface="Courier"/>
              </a:rPr>
              <a:t>self</a:t>
            </a:r>
            <a:r>
              <a:rPr>
                <a:latin typeface="Courier"/>
              </a:rPr>
              <a:t>.weight </a:t>
            </a:r>
            <a:r>
              <a:rPr>
                <a:solidFill>
                  <a:srgbClr val="666666"/>
                </a:solidFill>
                <a:latin typeface="Courier"/>
              </a:rPr>
              <a:t>=</a:t>
            </a:r>
            <a:r>
              <a:rPr>
                <a:latin typeface="Courier"/>
              </a:rPr>
              <a:t> weight</a:t>
            </a:r>
            <a:br/>
            <a:r>
              <a:rPr>
                <a:latin typeface="Courier"/>
              </a:rPr>
              <a:t>        </a:t>
            </a:r>
            <a:r>
              <a:rPr>
                <a:solidFill>
                  <a:srgbClr val="19177C"/>
                </a:solidFill>
                <a:latin typeface="Courier"/>
              </a:rPr>
              <a:t>self</a:t>
            </a:r>
            <a:r>
              <a:rPr>
                <a:latin typeface="Courier"/>
              </a:rPr>
              <a:t>.height </a:t>
            </a:r>
            <a:r>
              <a:rPr>
                <a:solidFill>
                  <a:srgbClr val="666666"/>
                </a:solidFill>
                <a:latin typeface="Courier"/>
              </a:rPr>
              <a:t>=</a:t>
            </a:r>
            <a:r>
              <a:rPr>
                <a:latin typeface="Courier"/>
              </a:rPr>
              <a:t> height</a:t>
            </a:r>
            <a:br/>
            <a:br/>
            <a:r>
              <a:rPr>
                <a:latin typeface="Courier"/>
              </a:rPr>
              <a:t>    </a:t>
            </a:r>
            <a:r>
              <a:rPr b="1">
                <a:solidFill>
                  <a:srgbClr val="007020"/>
                </a:solidFill>
                <a:latin typeface="Courier"/>
              </a:rPr>
              <a:t>def</a:t>
            </a:r>
            <a:r>
              <a:rPr>
                <a:latin typeface="Courier"/>
              </a:rPr>
              <a:t> </a:t>
            </a:r>
            <a:r>
              <a:rPr>
                <a:solidFill>
                  <a:srgbClr val="06287E"/>
                </a:solidFill>
                <a:latin typeface="Courier"/>
              </a:rPr>
              <a:t>__repr__</a:t>
            </a:r>
            <a:r>
              <a:rPr>
                <a:latin typeface="Courier"/>
              </a:rPr>
              <a:t>(</a:t>
            </a:r>
            <a:r>
              <a:rPr>
                <a:solidFill>
                  <a:srgbClr val="19177C"/>
                </a:solidFill>
                <a:latin typeface="Courier"/>
              </a:rPr>
              <a:t>self</a:t>
            </a:r>
            <a:r>
              <a:rPr>
                <a:latin typeface="Courier"/>
              </a:rPr>
              <a:t>):</a:t>
            </a:r>
            <a:br/>
            <a:r>
              <a:rPr>
                <a:latin typeface="Courier"/>
              </a:rPr>
              <a:t>        </a:t>
            </a:r>
            <a:r>
              <a:rPr b="1">
                <a:solidFill>
                  <a:srgbClr val="007020"/>
                </a:solidFill>
                <a:latin typeface="Courier"/>
              </a:rPr>
              <a:t>return</a:t>
            </a:r>
            <a:r>
              <a:rPr>
                <a:latin typeface="Courier"/>
              </a:rPr>
              <a:t> </a:t>
            </a:r>
            <a:r>
              <a:rPr>
                <a:solidFill>
                  <a:srgbClr val="BB6688"/>
                </a:solidFill>
                <a:latin typeface="Courier"/>
              </a:rPr>
              <a:t>f"Patient </a:t>
            </a:r>
            <a:r>
              <a:rPr>
                <a:solidFill>
                  <a:srgbClr val="4070A0"/>
                </a:solidFill>
                <a:latin typeface="Courier"/>
              </a:rPr>
              <a:t>{</a:t>
            </a:r>
            <a:r>
              <a:rPr>
                <a:solidFill>
                  <a:srgbClr val="19177C"/>
                </a:solidFill>
                <a:latin typeface="Courier"/>
              </a:rPr>
              <a:t>self</a:t>
            </a:r>
            <a:r>
              <a:rPr>
                <a:solidFill>
                  <a:srgbClr val="4070A0"/>
                </a:solidFill>
                <a:latin typeface="Courier"/>
              </a:rPr>
              <a:t>.</a:t>
            </a:r>
            <a:r>
              <a:rPr>
                <a:solidFill>
                  <a:srgbClr val="008000"/>
                </a:solidFill>
                <a:latin typeface="Courier"/>
              </a:rPr>
              <a:t>id</a:t>
            </a:r>
            <a:r>
              <a:rPr>
                <a:solidFill>
                  <a:srgbClr val="4070A0"/>
                </a:solidFill>
                <a:latin typeface="Courier"/>
              </a:rPr>
              <a:t>}</a:t>
            </a:r>
            <a:r>
              <a:rPr>
                <a:solidFill>
                  <a:srgbClr val="BB6688"/>
                </a:solidFill>
                <a:latin typeface="Courier"/>
              </a:rPr>
              <a:t>"</a:t>
            </a:r>
            <a:br/>
            <a:br/>
            <a:r>
              <a:rPr>
                <a:latin typeface="Courier"/>
              </a:rPr>
              <a:t>i </a:t>
            </a:r>
            <a:r>
              <a:rPr>
                <a:solidFill>
                  <a:srgbClr val="666666"/>
                </a:solidFill>
                <a:latin typeface="Courier"/>
              </a:rPr>
              <a:t>=</a:t>
            </a:r>
            <a:r>
              <a:rPr>
                <a:latin typeface="Courier"/>
              </a:rPr>
              <a:t> Patient(</a:t>
            </a:r>
            <a:r>
              <a:rPr>
                <a:solidFill>
                  <a:srgbClr val="4070A0"/>
                </a:solidFill>
                <a:latin typeface="Courier"/>
              </a:rPr>
              <a:t>"P003"</a:t>
            </a:r>
            <a:r>
              <a:rPr>
                <a:latin typeface="Courier"/>
              </a:rPr>
              <a:t>, </a:t>
            </a:r>
            <a:r>
              <a:rPr>
                <a:solidFill>
                  <a:srgbClr val="40A070"/>
                </a:solidFill>
                <a:latin typeface="Courier"/>
              </a:rPr>
              <a:t>71</a:t>
            </a:r>
            <a:r>
              <a:rPr>
                <a:latin typeface="Courier"/>
              </a:rPr>
              <a:t>, </a:t>
            </a:r>
            <a:r>
              <a:rPr>
                <a:solidFill>
                  <a:srgbClr val="40A070"/>
                </a:solidFill>
                <a:latin typeface="Courier"/>
              </a:rPr>
              <a:t>95.2</a:t>
            </a:r>
            <a:r>
              <a:rPr>
                <a:latin typeface="Courier"/>
              </a:rPr>
              <a:t>, </a:t>
            </a:r>
            <a:r>
              <a:rPr>
                <a:solidFill>
                  <a:srgbClr val="40A070"/>
                </a:solidFill>
                <a:latin typeface="Courier"/>
              </a:rPr>
              <a:t>1.70</a:t>
            </a:r>
            <a:r>
              <a:rPr>
                <a:latin typeface="Courier"/>
              </a:rPr>
              <a:t>)</a:t>
            </a:r>
            <a:br/>
            <a:r>
              <a:rPr>
                <a:latin typeface="Courier"/>
              </a:rPr>
              <a:t>i.bmi() </a:t>
            </a:r>
            <a:r>
              <a:rPr i="1">
                <a:solidFill>
                  <a:srgbClr val="60A0B0"/>
                </a:solidFill>
                <a:latin typeface="Courier"/>
              </a:rPr>
              <a:t># -&gt; computes 95.2^2 / 1.70</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Classe enfant</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class</a:t>
            </a:r>
            <a:r>
              <a:rPr>
                <a:latin typeface="Courier"/>
              </a:rPr>
              <a:t> InPatient(Patient):</a:t>
            </a:r>
            <a:br/>
            <a:r>
              <a:rPr>
                <a:latin typeface="Courier"/>
              </a:rPr>
              <a:t>    </a:t>
            </a:r>
            <a:r>
              <a:rPr b="1">
                <a:solidFill>
                  <a:srgbClr val="007020"/>
                </a:solidFill>
                <a:latin typeface="Courier"/>
              </a:rPr>
              <a:t>def</a:t>
            </a:r>
            <a:r>
              <a:rPr>
                <a:latin typeface="Courier"/>
              </a:rPr>
              <a:t> </a:t>
            </a:r>
            <a:r>
              <a:rPr>
                <a:solidFill>
                  <a:srgbClr val="06287E"/>
                </a:solidFill>
                <a:latin typeface="Courier"/>
              </a:rPr>
              <a:t>__init__</a:t>
            </a:r>
            <a:r>
              <a:rPr>
                <a:latin typeface="Courier"/>
              </a:rPr>
              <a:t>(</a:t>
            </a:r>
            <a:r>
              <a:rPr>
                <a:solidFill>
                  <a:srgbClr val="19177C"/>
                </a:solidFill>
                <a:latin typeface="Courier"/>
              </a:rPr>
              <a:t>self</a:t>
            </a:r>
            <a:r>
              <a:rPr>
                <a:latin typeface="Courier"/>
              </a:rPr>
              <a:t>, </a:t>
            </a:r>
            <a:r>
              <a:rPr>
                <a:solidFill>
                  <a:srgbClr val="008000"/>
                </a:solidFill>
                <a:latin typeface="Courier"/>
              </a:rPr>
              <a:t>id</a:t>
            </a:r>
            <a:r>
              <a:rPr>
                <a:latin typeface="Courier"/>
              </a:rPr>
              <a:t>, age, weight, height, room):</a:t>
            </a:r>
            <a:br/>
            <a:r>
              <a:rPr>
                <a:latin typeface="Courier"/>
              </a:rPr>
              <a:t>        </a:t>
            </a:r>
            <a:r>
              <a:rPr>
                <a:solidFill>
                  <a:srgbClr val="008000"/>
                </a:solidFill>
                <a:latin typeface="Courier"/>
              </a:rPr>
              <a:t>super</a:t>
            </a:r>
            <a:r>
              <a:rPr>
                <a:latin typeface="Courier"/>
              </a:rPr>
              <a:t>().</a:t>
            </a:r>
            <a:r>
              <a:rPr>
                <a:solidFill>
                  <a:srgbClr val="06287E"/>
                </a:solidFill>
                <a:latin typeface="Courier"/>
              </a:rPr>
              <a:t>__init__</a:t>
            </a:r>
            <a:r>
              <a:rPr>
                <a:latin typeface="Courier"/>
              </a:rPr>
              <a:t>(</a:t>
            </a:r>
            <a:r>
              <a:rPr>
                <a:solidFill>
                  <a:srgbClr val="008000"/>
                </a:solidFill>
                <a:latin typeface="Courier"/>
              </a:rPr>
              <a:t>id</a:t>
            </a:r>
            <a:r>
              <a:rPr>
                <a:latin typeface="Courier"/>
              </a:rPr>
              <a:t>, age, weight, height)</a:t>
            </a:r>
            <a:br/>
            <a:r>
              <a:rPr>
                <a:latin typeface="Courier"/>
              </a:rPr>
              <a:t>        </a:t>
            </a:r>
            <a:r>
              <a:rPr>
                <a:solidFill>
                  <a:srgbClr val="19177C"/>
                </a:solidFill>
                <a:latin typeface="Courier"/>
              </a:rPr>
              <a:t>self</a:t>
            </a:r>
            <a:r>
              <a:rPr>
                <a:latin typeface="Courier"/>
              </a:rPr>
              <a:t>.room </a:t>
            </a:r>
            <a:r>
              <a:rPr>
                <a:solidFill>
                  <a:srgbClr val="666666"/>
                </a:solidFill>
                <a:latin typeface="Courier"/>
              </a:rPr>
              <a:t>=</a:t>
            </a:r>
            <a:r>
              <a:rPr>
                <a:latin typeface="Courier"/>
              </a:rPr>
              <a:t> room</a:t>
            </a:r>
            <a:br/>
            <a:br/>
            <a:r>
              <a:rPr>
                <a:latin typeface="Courier"/>
              </a:rPr>
              <a:t>    </a:t>
            </a:r>
            <a:r>
              <a:rPr b="1">
                <a:solidFill>
                  <a:srgbClr val="007020"/>
                </a:solidFill>
                <a:latin typeface="Courier"/>
              </a:rPr>
              <a:t>def</a:t>
            </a:r>
            <a:r>
              <a:rPr>
                <a:latin typeface="Courier"/>
              </a:rPr>
              <a:t> </a:t>
            </a:r>
            <a:r>
              <a:rPr>
                <a:solidFill>
                  <a:srgbClr val="06287E"/>
                </a:solidFill>
                <a:latin typeface="Courier"/>
              </a:rPr>
              <a:t>__repr__</a:t>
            </a:r>
            <a:r>
              <a:rPr>
                <a:latin typeface="Courier"/>
              </a:rPr>
              <a:t>(</a:t>
            </a:r>
            <a:r>
              <a:rPr>
                <a:solidFill>
                  <a:srgbClr val="19177C"/>
                </a:solidFill>
                <a:latin typeface="Courier"/>
              </a:rPr>
              <a:t>self</a:t>
            </a:r>
            <a:r>
              <a:rPr>
                <a:latin typeface="Courier"/>
              </a:rPr>
              <a:t>):</a:t>
            </a:r>
            <a:br/>
            <a:r>
              <a:rPr>
                <a:latin typeface="Courier"/>
              </a:rPr>
              <a:t>        </a:t>
            </a:r>
            <a:r>
              <a:rPr b="1">
                <a:solidFill>
                  <a:srgbClr val="007020"/>
                </a:solidFill>
                <a:latin typeface="Courier"/>
              </a:rPr>
              <a:t>return</a:t>
            </a:r>
            <a:r>
              <a:rPr>
                <a:latin typeface="Courier"/>
              </a:rPr>
              <a:t> </a:t>
            </a:r>
            <a:r>
              <a:rPr>
                <a:solidFill>
                  <a:srgbClr val="BB6688"/>
                </a:solidFill>
                <a:latin typeface="Courier"/>
              </a:rPr>
              <a:t>f"InPatient </a:t>
            </a:r>
            <a:r>
              <a:rPr>
                <a:solidFill>
                  <a:srgbClr val="4070A0"/>
                </a:solidFill>
                <a:latin typeface="Courier"/>
              </a:rPr>
              <a:t>{</a:t>
            </a:r>
            <a:r>
              <a:rPr>
                <a:solidFill>
                  <a:srgbClr val="19177C"/>
                </a:solidFill>
                <a:latin typeface="Courier"/>
              </a:rPr>
              <a:t>self</a:t>
            </a:r>
            <a:r>
              <a:rPr>
                <a:solidFill>
                  <a:srgbClr val="4070A0"/>
                </a:solidFill>
                <a:latin typeface="Courier"/>
              </a:rPr>
              <a:t>.</a:t>
            </a:r>
            <a:r>
              <a:rPr>
                <a:solidFill>
                  <a:srgbClr val="008000"/>
                </a:solidFill>
                <a:latin typeface="Courier"/>
              </a:rPr>
              <a:t>id</a:t>
            </a:r>
            <a:r>
              <a:rPr>
                <a:solidFill>
                  <a:srgbClr val="4070A0"/>
                </a:solidFill>
                <a:latin typeface="Courier"/>
              </a:rPr>
              <a:t>}</a:t>
            </a:r>
            <a:r>
              <a:rPr>
                <a:solidFill>
                  <a:srgbClr val="BB6688"/>
                </a:solidFill>
                <a:latin typeface="Courier"/>
              </a:rPr>
              <a:t>, room </a:t>
            </a:r>
            <a:r>
              <a:rPr>
                <a:solidFill>
                  <a:srgbClr val="4070A0"/>
                </a:solidFill>
                <a:latin typeface="Courier"/>
              </a:rPr>
              <a:t>{</a:t>
            </a:r>
            <a:r>
              <a:rPr>
                <a:solidFill>
                  <a:srgbClr val="19177C"/>
                </a:solidFill>
                <a:latin typeface="Courier"/>
              </a:rPr>
              <a:t>self</a:t>
            </a:r>
            <a:r>
              <a:rPr>
                <a:solidFill>
                  <a:srgbClr val="4070A0"/>
                </a:solidFill>
                <a:latin typeface="Courier"/>
              </a:rPr>
              <a:t>.</a:t>
            </a:r>
            <a:r>
              <a:rPr>
                <a:latin typeface="Courier"/>
              </a:rPr>
              <a:t>room</a:t>
            </a:r>
            <a:r>
              <a:rPr>
                <a:solidFill>
                  <a:srgbClr val="4070A0"/>
                </a:solidFill>
                <a:latin typeface="Courier"/>
              </a:rPr>
              <a:t>}</a:t>
            </a:r>
            <a:r>
              <a:rPr>
                <a:solidFill>
                  <a:srgbClr val="BB6688"/>
                </a:solidFill>
                <a:latin typeface="Courier"/>
              </a:rPr>
              <a:t>"</a:t>
            </a:r>
            <a:br/>
            <a:br/>
            <a:r>
              <a:rPr>
                <a:latin typeface="Courier"/>
              </a:rPr>
              <a:t>i </a:t>
            </a:r>
            <a:r>
              <a:rPr>
                <a:solidFill>
                  <a:srgbClr val="666666"/>
                </a:solidFill>
                <a:latin typeface="Courier"/>
              </a:rPr>
              <a:t>=</a:t>
            </a:r>
            <a:r>
              <a:rPr>
                <a:latin typeface="Courier"/>
              </a:rPr>
              <a:t> InPatient(</a:t>
            </a:r>
            <a:r>
              <a:rPr>
                <a:solidFill>
                  <a:srgbClr val="4070A0"/>
                </a:solidFill>
                <a:latin typeface="Courier"/>
              </a:rPr>
              <a:t>"P003"</a:t>
            </a:r>
            <a:r>
              <a:rPr>
                <a:latin typeface="Courier"/>
              </a:rPr>
              <a:t>, </a:t>
            </a:r>
            <a:r>
              <a:rPr>
                <a:solidFill>
                  <a:srgbClr val="40A070"/>
                </a:solidFill>
                <a:latin typeface="Courier"/>
              </a:rPr>
              <a:t>71</a:t>
            </a:r>
            <a:r>
              <a:rPr>
                <a:latin typeface="Courier"/>
              </a:rPr>
              <a:t>, </a:t>
            </a:r>
            <a:r>
              <a:rPr>
                <a:solidFill>
                  <a:srgbClr val="40A070"/>
                </a:solidFill>
                <a:latin typeface="Courier"/>
              </a:rPr>
              <a:t>95.2</a:t>
            </a:r>
            <a:r>
              <a:rPr>
                <a:latin typeface="Courier"/>
              </a:rPr>
              <a:t>, </a:t>
            </a:r>
            <a:r>
              <a:rPr>
                <a:solidFill>
                  <a:srgbClr val="40A070"/>
                </a:solidFill>
                <a:latin typeface="Courier"/>
              </a:rPr>
              <a:t>1.70</a:t>
            </a:r>
            <a:r>
              <a:rPr>
                <a:latin typeface="Courier"/>
              </a:rPr>
              <a:t>, room</a:t>
            </a:r>
            <a:r>
              <a:rPr>
                <a:solidFill>
                  <a:srgbClr val="666666"/>
                </a:solidFill>
                <a:latin typeface="Courier"/>
              </a:rPr>
              <a:t>=</a:t>
            </a:r>
            <a:r>
              <a:rPr>
                <a:solidFill>
                  <a:srgbClr val="40A070"/>
                </a:solidFill>
                <a:latin typeface="Courier"/>
              </a:rPr>
              <a:t>12</a:t>
            </a:r>
            <a:r>
              <a:rPr>
                <a:latin typeface="Courier"/>
              </a:rPr>
              <a:t>)</a:t>
            </a:r>
            <a:br/>
            <a:r>
              <a:rPr>
                <a:latin typeface="Courier"/>
              </a:rPr>
              <a:t>i.bmi()      </a:t>
            </a:r>
            <a:r>
              <a:rPr i="1">
                <a:solidFill>
                  <a:srgbClr val="60A0B0"/>
                </a:solidFill>
                <a:latin typeface="Courier"/>
              </a:rPr>
              <a:t># not on InPatient -&gt; found on Patient</a:t>
            </a:r>
            <a:br/>
            <a:r>
              <a:rPr>
                <a:latin typeface="Courier"/>
              </a:rPr>
              <a:t>i            </a:t>
            </a:r>
            <a:r>
              <a:rPr i="1">
                <a:solidFill>
                  <a:srgbClr val="60A0B0"/>
                </a:solidFill>
                <a:latin typeface="Courier"/>
              </a:rPr>
              <a:t># InPatient('P003', room 12)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2 Conditions, boucles et classes</dc:title>
  <dc:creator>Paul Dubois</dc:creator>
  <cp:keywords/>
  <dcterms:created xsi:type="dcterms:W3CDTF">2026-10-15T21:23:51Z</dcterms:created>
  <dcterms:modified xsi:type="dcterms:W3CDTF">2026-10-15T21:23:51Z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Semaine 1, cours</vt:lpwstr>
  </property>
  <property fmtid="{D5CDD505-2E9C-101B-9397-08002B2CF9AE}" pid="3" name="subtitle">
    <vt:lpwstr>Santé numérique, Mastère Spécialisé · 2026</vt:lpwstr>
  </property>
</Properties>
</file>