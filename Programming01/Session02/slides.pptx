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notesMaster" Target="notesMasters/notesMaster1.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Session 1 gave the values; this session gives the control: run this code only sometimes, run that code many times, and give a name to a block of code. Three pieces of syntax, and they are the same for every block in Python: a line ending with a colon, then an indented block. Four spaces, always the same. The indentation is not decoration, it is the syntax: it is what tells Python where the block stops. </a:t>
            </a:r>
            <a:r>
              <a:rPr>
                <a:latin typeface="Courier"/>
              </a:rPr>
              <a:t>if</a:t>
            </a:r>
            <a:r>
              <a:rPr/>
              <a:t> takes anything that is true or false, including the truthiness of Session 1 (</a:t>
            </a:r>
            <a:r>
              <a:rPr>
                <a:latin typeface="Courier"/>
              </a:rPr>
              <a:t>if heart_rates:</a:t>
            </a:r>
            <a:r>
              <a:rPr/>
              <a:t>). The comparison </a:t>
            </a:r>
            <a:r>
              <a:rPr>
                <a:latin typeface="Courier"/>
              </a:rPr>
              <a:t>&gt;=</a:t>
            </a:r>
            <a:r>
              <a:rPr/>
              <a:t> produces a bool; </a:t>
            </a:r>
            <a:r>
              <a:rPr>
                <a:latin typeface="Courier"/>
              </a:rPr>
              <a:t>=</a:t>
            </a:r>
            <a:r>
              <a:rPr/>
              <a:t> would be an assignment and a syntax error here.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With </a:t>
            </a:r>
            <a:r>
              <a:rPr>
                <a:latin typeface="Courier"/>
              </a:rPr>
              <a:t>elif</a:t>
            </a:r>
            <a:r>
              <a:rPr/>
              <a:t>, Python tests from top to bottom and stops at the first true test: the rest is never evaluated. So each </a:t>
            </a:r>
            <a:r>
              <a:rPr>
                <a:latin typeface="Courier"/>
              </a:rPr>
              <a:t>elif</a:t>
            </a:r>
            <a:r>
              <a:rPr/>
              <a:t> silently means “and none of the tests above matched”, which is exactly why </a:t>
            </a:r>
            <a:r>
              <a:rPr>
                <a:latin typeface="Courier"/>
              </a:rPr>
              <a:t>sbp &lt; 120</a:t>
            </a:r>
            <a:r>
              <a:rPr/>
              <a:t> does not need to repeat </a:t>
            </a:r>
            <a:r>
              <a:rPr>
                <a:latin typeface="Courier"/>
              </a:rPr>
              <a:t>and sbp &gt;= 90</a:t>
            </a:r>
            <a:r>
              <a:rPr/>
              <a:t>. The classic bug is on the right: a wider test placed first swallows the narrower ones, and every patient below 130 comes out “elevated”. Nothing crashes, the numbers are just wrong, which is the dangerous kind of bug. The rule: for thresholds, go from the narrowest to the widest, and let </a:t>
            </a:r>
            <a:r>
              <a:rPr>
                <a:latin typeface="Courier"/>
              </a:rPr>
              <a:t>else</a:t>
            </a:r>
            <a:r>
              <a:rPr/>
              <a:t> catch what is left.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as the English sentence it is: “for each heart rate in heart rates, do this”. The name on the left is created by the loop and takes a new value each turn; there is no counter to initialise and no length to get right. Point at the indented block: it runs once per item, five times here, and what is not indented runs once, after the loop. The most common beginner bug of the session is a line that is accidentally in or out of the body. Coming from another language, they will want </a:t>
            </a:r>
            <a:r>
              <a:rPr>
                <a:latin typeface="Courier"/>
              </a:rPr>
              <a:t>for i in range(len(xs)): xs[i]</a:t>
            </a:r>
            <a:r>
              <a:rPr/>
              <a:t>. Show them the direct form once and they rarely go back.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range(stop)</a:t>
            </a:r>
            <a:r>
              <a:rPr/>
              <a:t>, </a:t>
            </a:r>
            <a:r>
              <a:rPr>
                <a:latin typeface="Courier"/>
              </a:rPr>
              <a:t>range(start, stop)</a:t>
            </a:r>
            <a:r>
              <a:rPr/>
              <a:t>, </a:t>
            </a:r>
            <a:r>
              <a:rPr>
                <a:latin typeface="Courier"/>
              </a:rPr>
              <a:t>range(start, stop, step)</a:t>
            </a:r>
            <a:r>
              <a:rPr/>
              <a:t>: the counted loop, used when the number of turns is the point and the items are not. Note </a:t>
            </a:r>
            <a:r>
              <a:rPr>
                <a:latin typeface="Courier"/>
              </a:rPr>
              <a:t>range(5)</a:t>
            </a:r>
            <a:r>
              <a:rPr/>
              <a:t> stops at 4, like a slice, and that </a:t>
            </a:r>
            <a:r>
              <a:rPr>
                <a:latin typeface="Courier"/>
              </a:rPr>
              <a:t>range</a:t>
            </a:r>
            <a:r>
              <a:rPr/>
              <a:t> builds nothing: it hands out the numbers one at a time, which is why </a:t>
            </a:r>
            <a:r>
              <a:rPr>
                <a:latin typeface="Courier"/>
              </a:rPr>
              <a:t>range(10_000_000)</a:t>
            </a:r>
            <a:r>
              <a:rPr/>
              <a:t> is instant and costs no memory. </a:t>
            </a:r>
            <a:r>
              <a:rPr>
                <a:latin typeface="Courier"/>
              </a:rPr>
              <a:t>enumerate</a:t>
            </a:r>
            <a:r>
              <a:rPr/>
              <a:t> when you need the position as well as the value: it gives a pair each turn, unpacked into two names exactly like </a:t>
            </a:r>
            <a:r>
              <a:rPr>
                <a:latin typeface="Courier"/>
              </a:rPr>
              <a:t>a, b = 1, 2</a:t>
            </a:r>
            <a:r>
              <a:rPr/>
              <a:t> in Session 1. Start elsewhere with </a:t>
            </a:r>
            <a:r>
              <a:rPr>
                <a:latin typeface="Courier"/>
              </a:rPr>
              <a:t>enumerate(hrs, start=1)</a:t>
            </a:r>
            <a:r>
              <a:rPr/>
              <a:t> when you want to count from 1 for a human reader. If they find themselves writing </a:t>
            </a:r>
            <a:r>
              <a:rPr>
                <a:latin typeface="Courier"/>
              </a:rPr>
              <a:t>for i in range(len(hrs))</a:t>
            </a:r>
            <a:r>
              <a:rPr/>
              <a:t> and then </a:t>
            </a:r>
            <a:r>
              <a:rPr>
                <a:latin typeface="Courier"/>
              </a:rPr>
              <a:t>hrs[i]</a:t>
            </a:r>
            <a:r>
              <a:rPr/>
              <a:t>, </a:t>
            </a:r>
            <a:r>
              <a:rPr>
                <a:latin typeface="Courier"/>
              </a:rPr>
              <a:t>enumerate</a:t>
            </a:r>
            <a:r>
              <a:rPr/>
              <a:t> is what they wanted.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zip</a:t>
            </a:r>
            <a:r>
              <a:rPr/>
              <a:t> walks two (or more) sequences in step: ids and temperatures, heights and weights, measured and predicted. Again a pair per turn, unpacked into two names. One trap worth saying out loud: </a:t>
            </a:r>
            <a:r>
              <a:rPr>
                <a:latin typeface="Courier"/>
              </a:rPr>
              <a:t>zip</a:t>
            </a:r>
            <a:r>
              <a:rPr/>
              <a:t> stops at the shortest sequence, silently. If the ids and the temperatures do not have the same length, the extra ones are dropped without a word, so check </a:t>
            </a:r>
            <a:r>
              <a:rPr>
                <a:latin typeface="Courier"/>
              </a:rPr>
              <a:t>len</a:t>
            </a:r>
            <a:r>
              <a:rPr/>
              <a:t> first when the two come from different files. </a:t>
            </a:r>
            <a:r>
              <a:rPr>
                <a:latin typeface="Courier"/>
              </a:rPr>
              <a:t>.items()</a:t>
            </a:r>
            <a:r>
              <a:rPr/>
              <a:t> does the same for a dictionary, giving the key and the value; </a:t>
            </a:r>
            <a:r>
              <a:rPr>
                <a:latin typeface="Courier"/>
              </a:rPr>
              <a:t>.keys()</a:t>
            </a:r>
            <a:r>
              <a:rPr/>
              <a:t> and </a:t>
            </a:r>
            <a:r>
              <a:rPr>
                <a:latin typeface="Courier"/>
              </a:rPr>
              <a:t>.values()</a:t>
            </a:r>
            <a:r>
              <a:rPr/>
              <a:t> exist when only one of them is needed. Iterating a dict directly gives the keys alone, which is a common surprise. These four helpers cover almost every loop they will write this year.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accumulator pattern: a variable created </a:t>
            </a:r>
            <a:r>
              <a:rPr i="1"/>
              <a:t>before</a:t>
            </a:r>
            <a:r>
              <a:rPr/>
              <a:t> the loop, updated </a:t>
            </a:r>
            <a:r>
              <a:rPr i="1"/>
              <a:t>inside</a:t>
            </a:r>
            <a:r>
              <a:rPr/>
              <a:t> it, used </a:t>
            </a:r>
            <a:r>
              <a:rPr i="1"/>
              <a:t>after</a:t>
            </a:r>
            <a:r>
              <a:rPr/>
              <a:t> it. Sum, count, maximum, a list being built: they are all this shape. Create it before the loop, or the name does not exist yet; </a:t>
            </a:r>
            <a:r>
              <a:rPr>
                <a:latin typeface="Courier"/>
              </a:rPr>
              <a:t>total = 0</a:t>
            </a:r>
            <a:r>
              <a:rPr/>
              <a:t> for a sum, </a:t>
            </a:r>
            <a:r>
              <a:rPr>
                <a:latin typeface="Courier"/>
              </a:rPr>
              <a:t>best = values[0]</a:t>
            </a:r>
            <a:r>
              <a:rPr/>
              <a:t> for a maximum (not 0, which breaks on negative values). They will do this by hand in the notebook, then meet </a:t>
            </a:r>
            <a:r>
              <a:rPr>
                <a:latin typeface="Courier"/>
              </a:rPr>
              <a:t>sum</a:t>
            </a:r>
            <a:r>
              <a:rPr/>
              <a:t>, </a:t>
            </a:r>
            <a:r>
              <a:rPr>
                <a:latin typeface="Courier"/>
              </a:rPr>
              <a:t>max</a:t>
            </a:r>
            <a:r>
              <a:rPr/>
              <a:t> and </a:t>
            </a:r>
            <a:r>
              <a:rPr>
                <a:latin typeface="Courier"/>
              </a:rPr>
              <a:t>np.mean</a:t>
            </a:r>
            <a:r>
              <a:rPr/>
              <a:t>, which do the same thing faster and with less room for error. Writing it once by hand is what makes the shortcut readable afterwards.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a:t>
            </a:r>
            <a:r>
              <a:rPr>
                <a:latin typeface="Courier"/>
              </a:rPr>
              <a:t>for</a:t>
            </a:r>
            <a:r>
              <a:rPr/>
              <a:t> loop walks a finite collection; a </a:t>
            </a:r>
            <a:r>
              <a:rPr>
                <a:latin typeface="Courier"/>
              </a:rPr>
              <a:t>while</a:t>
            </a:r>
            <a:r>
              <a:rPr/>
              <a:t> loop asks a question before each turn and stops when the answer is False. Use it when the number of turns depends on the computation itself: a half-life falling under a threshold, a solver converging, reading until the end of a stream. Every while loop needs three things, and forgetting the third is the classic infinite loop: an initial state, a condition that mentions it, and a body that changes it. The interrupt button (■) is their way out; mention it before they need it.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break</a:t>
            </a:r>
            <a:r>
              <a:rPr/>
              <a:t> leaves the loop immediately: the search is over, the remaining items are never looked at. This is how you find the first abnormal value without scanning the rest. </a:t>
            </a:r>
            <a:r>
              <a:rPr>
                <a:latin typeface="Courier"/>
              </a:rPr>
              <a:t>continue</a:t>
            </a:r>
            <a:r>
              <a:rPr/>
              <a:t> abandons the current turn only and goes on to the next: the idiom for skipping missing values, which in real exports is most of the work. Both work in </a:t>
            </a:r>
            <a:r>
              <a:rPr>
                <a:latin typeface="Courier"/>
              </a:rPr>
              <a:t>for</a:t>
            </a:r>
            <a:r>
              <a:rPr/>
              <a:t> and in </a:t>
            </a:r>
            <a:r>
              <a:rPr>
                <a:latin typeface="Courier"/>
              </a:rPr>
              <a:t>while</a:t>
            </a:r>
            <a:r>
              <a:rPr/>
              <a:t>. Keep them for cases that read as “stop” or “skip”: nested in three levels of </a:t>
            </a:r>
            <a:r>
              <a:rPr>
                <a:latin typeface="Courier"/>
              </a:rPr>
              <a:t>if</a:t>
            </a:r>
            <a:r>
              <a:rPr/>
              <a:t>, they become unreadable.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comprehension is the same loop written as one expression: what to keep, where it comes from, and optionally which ones. Python reads it in that order, and so should they. It is the idiomatic way to transform a list into another list, and it shows up constantly in real code, so they must be able to read one even if they prefer writing loops. The limit: a comprehension builds a collection. A loop that prints, writes a file or calls a service stays a loop. And a comprehension with two </a:t>
            </a:r>
            <a:r>
              <a:rPr>
                <a:latin typeface="Courier"/>
              </a:rPr>
              <a:t>for</a:t>
            </a:r>
            <a:r>
              <a:rPr/>
              <a:t> and three </a:t>
            </a:r>
            <a:r>
              <a:rPr>
                <a:latin typeface="Courier"/>
              </a:rPr>
              <a:t>if</a:t>
            </a:r>
            <a:r>
              <a:rPr/>
              <a:t> should go back to being a loop.</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def</a:t>
            </a:r>
            <a:r>
              <a:rPr/>
              <a:t> creates a function; calling it runs the body with the arguments bound to the parameters, and </a:t>
            </a:r>
            <a:r>
              <a:rPr>
                <a:latin typeface="Courier"/>
              </a:rPr>
              <a:t>return</a:t>
            </a:r>
            <a:r>
              <a:rPr/>
              <a:t> hands a value back to the caller. Insist on the difference between printing and returning: </a:t>
            </a:r>
            <a:r>
              <a:rPr>
                <a:latin typeface="Courier"/>
              </a:rPr>
              <a:t>print</a:t>
            </a:r>
            <a:r>
              <a:rPr/>
              <a:t> shows a value to a human and gives nothing back, </a:t>
            </a:r>
            <a:r>
              <a:rPr>
                <a:latin typeface="Courier"/>
              </a:rPr>
              <a:t>return</a:t>
            </a:r>
            <a:r>
              <a:rPr/>
              <a:t> produces a value the rest of the program can use. A function that prints its result cannot be reused. Default arguments (</a:t>
            </a:r>
            <a:r>
              <a:rPr>
                <a:latin typeface="Courier"/>
              </a:rPr>
              <a:t>skip_none=True</a:t>
            </a:r>
            <a:r>
              <a:rPr/>
              <a:t>) give an option without forcing every caller to think about it. Keyword arguments at the call site (</a:t>
            </a:r>
            <a:r>
              <a:rPr>
                <a:latin typeface="Courier"/>
              </a:rPr>
              <a:t>mean(values, skip_none=False)</a:t>
            </a:r>
            <a:r>
              <a:rPr/>
              <a:t>) are worth the extra characters: in six months, that line still says what it does. Scope in one sentence: names created inside the function disappear when it returns.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have been using objects since Session 1 without the word: a </a:t>
            </a:r>
            <a:r>
              <a:rPr>
                <a:latin typeface="Courier"/>
              </a:rPr>
              <a:t>str</a:t>
            </a:r>
            <a:r>
              <a:rPr/>
              <a:t> has </a:t>
            </a:r>
            <a:r>
              <a:rPr>
                <a:latin typeface="Courier"/>
              </a:rPr>
              <a:t>.upper()</a:t>
            </a:r>
            <a:r>
              <a:rPr/>
              <a:t>, a list has </a:t>
            </a:r>
            <a:r>
              <a:rPr>
                <a:latin typeface="Courier"/>
              </a:rPr>
              <a:t>.append()</a:t>
            </a:r>
            <a:r>
              <a:rPr/>
              <a:t>. A class is how you define your own type, for data that travels together. </a:t>
            </a:r>
            <a:r>
              <a:rPr>
                <a:latin typeface="Courier"/>
              </a:rPr>
              <a:t>__init__</a:t>
            </a:r>
            <a:r>
              <a:rPr/>
              <a:t> runs at creation and stores the attributes on </a:t>
            </a:r>
            <a:r>
              <a:rPr>
                <a:latin typeface="Courier"/>
              </a:rPr>
              <a:t>self</a:t>
            </a:r>
            <a:r>
              <a:rPr/>
              <a:t>; </a:t>
            </a:r>
            <a:r>
              <a:rPr>
                <a:latin typeface="Courier"/>
              </a:rPr>
              <a:t>self</a:t>
            </a:r>
            <a:r>
              <a:rPr/>
              <a:t> is simply the object the method was called on, and it is the first parameter of every method. </a:t>
            </a:r>
            <a:r>
              <a:rPr>
                <a:latin typeface="Courier"/>
              </a:rPr>
              <a:t>p.bmi()</a:t>
            </a:r>
            <a:r>
              <a:rPr/>
              <a:t> is just </a:t>
            </a:r>
            <a:r>
              <a:rPr>
                <a:latin typeface="Courier"/>
              </a:rPr>
              <a:t>Patient.bmi(p)</a:t>
            </a:r>
            <a:r>
              <a:rPr/>
              <a:t>. The names with double underscores are hooks Python calls for you: </a:t>
            </a:r>
            <a:r>
              <a:rPr>
                <a:latin typeface="Courier"/>
              </a:rPr>
              <a:t>__init__</a:t>
            </a:r>
            <a:r>
              <a:rPr/>
              <a:t> at creation, </a:t>
            </a:r>
            <a:r>
              <a:rPr>
                <a:latin typeface="Courier"/>
              </a:rPr>
              <a:t>__repr__</a:t>
            </a:r>
            <a:r>
              <a:rPr/>
              <a:t> when the object is displayed, </a:t>
            </a:r>
            <a:r>
              <a:rPr>
                <a:latin typeface="Courier"/>
              </a:rPr>
              <a:t>__len__</a:t>
            </a:r>
            <a:r>
              <a:rPr/>
              <a:t> for </a:t>
            </a:r>
            <a:r>
              <a:rPr>
                <a:latin typeface="Courier"/>
              </a:rPr>
              <a:t>len(obj)</a:t>
            </a:r>
            <a:r>
              <a:rPr/>
              <a:t>. Define </a:t>
            </a:r>
            <a:r>
              <a:rPr>
                <a:latin typeface="Courier"/>
              </a:rPr>
              <a:t>__repr__</a:t>
            </a:r>
            <a:r>
              <a:rPr/>
              <a:t> early, it turns an unreadable </a:t>
            </a:r>
            <a:r>
              <a:rPr>
                <a:latin typeface="Courier"/>
              </a:rPr>
              <a:t>&lt;object at 0x7f...&gt;</a:t>
            </a:r>
            <a:r>
              <a:rPr/>
              <a:t> into something they can debug with. Two objects of the same class are independent: changing </a:t>
            </a:r>
            <a:r>
              <a:rPr>
                <a:latin typeface="Courier"/>
              </a:rPr>
              <a:t>q.weight</a:t>
            </a:r>
            <a:r>
              <a:rPr/>
              <a:t> leaves </a:t>
            </a:r>
            <a:r>
              <a:rPr>
                <a:latin typeface="Courier"/>
              </a:rPr>
              <a:t>p</a:t>
            </a:r>
            <a:r>
              <a:rPr/>
              <a:t> untouched.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Honest answer: for a handful of fields read once from a CSV, a dict is fine, and that is what pandas will give them anyway. A class earns its place when behaviour belongs with the data (a BMI computed from the patient’s own fields), when the same shape is created many times, or when you want a guarantee that every object has the same attributes, which a dict never gives you: a typo in a key creates a new key instead of an error.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class InPatient(Patient)</a:t>
            </a:r>
            <a:r>
              <a:rPr/>
              <a:t> means “an InPatient is a Patient, plus a room”. The class in brackets is the parent (base class, superclass); the new one is the child, or subclass. Everything defined on </a:t>
            </a:r>
            <a:r>
              <a:rPr>
                <a:latin typeface="Courier"/>
              </a:rPr>
              <a:t>Patient</a:t>
            </a:r>
            <a:r>
              <a:rPr/>
              <a:t> is available on an </a:t>
            </a:r>
            <a:r>
              <a:rPr>
                <a:latin typeface="Courier"/>
              </a:rPr>
              <a:t>InPatient</a:t>
            </a:r>
            <a:r>
              <a:rPr/>
              <a:t> without being written again: the attributes set in </a:t>
            </a:r>
            <a:r>
              <a:rPr>
                <a:latin typeface="Courier"/>
              </a:rPr>
              <a:t>__init__</a:t>
            </a:r>
            <a:r>
              <a:rPr/>
              <a:t>, </a:t>
            </a:r>
            <a:r>
              <a:rPr>
                <a:latin typeface="Courier"/>
              </a:rPr>
              <a:t>bmi()</a:t>
            </a:r>
            <a:r>
              <a:rPr/>
              <a:t>, </a:t>
            </a:r>
            <a:r>
              <a:rPr>
                <a:latin typeface="Courier"/>
              </a:rPr>
              <a:t>add_heart_rate()</a:t>
            </a:r>
            <a:r>
              <a:rPr/>
              <a:t>, </a:t>
            </a:r>
            <a:r>
              <a:rPr>
                <a:latin typeface="Courier"/>
              </a:rPr>
              <a:t>__repr__</a:t>
            </a:r>
            <a:r>
              <a:rPr/>
              <a:t>. </a:t>
            </a:r>
            <a:r>
              <a:rPr>
                <a:latin typeface="Courier"/>
              </a:rPr>
              <a:t>super().__init__(id, age, weight, height)</a:t>
            </a:r>
            <a:r>
              <a:rPr/>
              <a:t> calls the parent’s constructor, so the shared attributes are set in one place, by the class that owns them. Forgetting that call is the classic mistake: the object is created, and then </a:t>
            </a:r>
            <a:r>
              <a:rPr>
                <a:latin typeface="Courier"/>
              </a:rPr>
              <a:t>i.bmi()</a:t>
            </a:r>
            <a:r>
              <a:rPr/>
              <a:t> fails with </a:t>
            </a:r>
            <a:r>
              <a:rPr>
                <a:latin typeface="Courier"/>
              </a:rPr>
              <a:t>AttributeError: 'InPatient' object has no attribute 'weight'</a:t>
            </a:r>
            <a:r>
              <a:rPr/>
              <a:t>, because nobody ever set it. </a:t>
            </a:r>
            <a:r>
              <a:rPr>
                <a:latin typeface="Courier"/>
              </a:rPr>
              <a:t>isinstance(i, Patient)</a:t>
            </a:r>
            <a:r>
              <a:rPr/>
              <a:t> is True, and that is the whole point: code written for patients works unchanged on inpatients. The reverse is False; an </a:t>
            </a:r>
            <a:r>
              <a:rPr>
                <a:latin typeface="Courier"/>
              </a:rPr>
              <a:t>InPatient</a:t>
            </a:r>
            <a:r>
              <a:rPr/>
              <a:t> is a special case of </a:t>
            </a:r>
            <a:r>
              <a:rPr>
                <a:latin typeface="Courier"/>
              </a:rPr>
              <a:t>Patient</a:t>
            </a:r>
            <a:r>
              <a:rPr/>
              <a:t>, not the other way round. Prefer </a:t>
            </a:r>
            <a:r>
              <a:rPr>
                <a:latin typeface="Courier"/>
              </a:rPr>
              <a:t>isinstance(x, Patient)</a:t>
            </a:r>
            <a:r>
              <a:rPr/>
              <a:t> to </a:t>
            </a:r>
            <a:r>
              <a:rPr>
                <a:latin typeface="Courier"/>
              </a:rPr>
              <a:t>type(x) == Patient</a:t>
            </a:r>
            <a:r>
              <a:rPr/>
              <a:t>, which answers False for every subclass and quietly breaks the idea. A warning: inheritance is tempting and often wrong. Use it when the sentence “X is a Y” is literally true; when X merely </a:t>
            </a:r>
            <a:r>
              <a:rPr i="1"/>
              <a:t>has</a:t>
            </a:r>
            <a:r>
              <a:rPr/>
              <a:t> a Y, store it as an attribute instead.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rule is one line: Python looks for the name on the object’s own class first, then on its parent, then on </a:t>
            </a:r>
            <a:r>
              <a:rPr i="1"/>
              <a:t>its</a:t>
            </a:r>
            <a:r>
              <a:rPr/>
              <a:t> parent, up to </a:t>
            </a:r>
            <a:r>
              <a:rPr>
                <a:latin typeface="Courier"/>
              </a:rPr>
              <a:t>object</a:t>
            </a:r>
            <a:r>
              <a:rPr/>
              <a:t>; the first one found wins. </a:t>
            </a:r>
            <a:r>
              <a:rPr>
                <a:latin typeface="Courier"/>
              </a:rPr>
              <a:t>i.bmi()</a:t>
            </a:r>
            <a:r>
              <a:rPr/>
              <a:t> is not defined on </a:t>
            </a:r>
            <a:r>
              <a:rPr>
                <a:latin typeface="Courier"/>
              </a:rPr>
              <a:t>InPatient</a:t>
            </a:r>
            <a:r>
              <a:rPr/>
              <a:t>, so Python walks up and runs the one on </a:t>
            </a:r>
            <a:r>
              <a:rPr>
                <a:latin typeface="Courier"/>
              </a:rPr>
              <a:t>Patient</a:t>
            </a:r>
            <a:r>
              <a:rPr/>
              <a:t>. </a:t>
            </a:r>
            <a:r>
              <a:rPr>
                <a:latin typeface="Courier"/>
              </a:rPr>
              <a:t>repr(i)</a:t>
            </a:r>
            <a:r>
              <a:rPr/>
              <a:t> is defined on both, so the child’s version wins: that is </a:t>
            </a:r>
            <a:r>
              <a:rPr i="1"/>
              <a:t>overriding</a:t>
            </a:r>
            <a:r>
              <a:rPr/>
              <a:t>. An overridden method can still reuse the one it replaced: </a:t>
            </a:r>
            <a:r>
              <a:rPr>
                <a:latin typeface="Courier"/>
              </a:rPr>
              <a:t>super().__repr__()</a:t>
            </a:r>
            <a:r>
              <a:rPr/>
              <a:t> inside the child calls the parent’s version, which is how you extend behaviour instead of copying it. Same idea as </a:t>
            </a:r>
            <a:r>
              <a:rPr>
                <a:latin typeface="Courier"/>
              </a:rPr>
              <a:t>super().__init__</a:t>
            </a:r>
            <a:r>
              <a:rPr/>
              <a:t>, which is nothing more than an overridden </a:t>
            </a:r>
            <a:r>
              <a:rPr>
                <a:latin typeface="Courier"/>
              </a:rPr>
              <a:t>__init__</a:t>
            </a:r>
            <a:r>
              <a:rPr/>
              <a:t> calling the original. The payoff is </a:t>
            </a:r>
            <a:r>
              <a:rPr i="1"/>
              <a:t>polymorphism</a:t>
            </a:r>
            <a:r>
              <a:rPr/>
              <a:t>: one loop over a mixed list of </a:t>
            </a:r>
            <a:r>
              <a:rPr>
                <a:latin typeface="Courier"/>
              </a:rPr>
              <a:t>Patient</a:t>
            </a:r>
            <a:r>
              <a:rPr/>
              <a:t> and </a:t>
            </a:r>
            <a:r>
              <a:rPr>
                <a:latin typeface="Courier"/>
              </a:rPr>
              <a:t>InPatient</a:t>
            </a:r>
            <a:r>
              <a:rPr/>
              <a:t> objects calls </a:t>
            </a:r>
            <a:r>
              <a:rPr>
                <a:latin typeface="Courier"/>
              </a:rPr>
              <a:t>p.bmi()</a:t>
            </a:r>
            <a:r>
              <a:rPr/>
              <a:t> on each, and each object runs the right version. No test on the type anywhere, which is exactly the </a:t>
            </a:r>
            <a:r>
              <a:rPr>
                <a:latin typeface="Courier"/>
              </a:rPr>
              <a:t>if</a:t>
            </a:r>
            <a:r>
              <a:rPr/>
              <a:t> ladder that rots when a new case appears. Debugging habit: when a method does not do what they expect, ask which class it came from. </a:t>
            </a:r>
            <a:r>
              <a:rPr>
                <a:latin typeface="Courier"/>
              </a:rPr>
              <a:t>type(i).__mro__</a:t>
            </a:r>
            <a:r>
              <a:rPr/>
              <a:t> prints the search order, </a:t>
            </a:r>
            <a:r>
              <a:rPr>
                <a:latin typeface="Courier"/>
              </a:rPr>
              <a:t>help(InPatient)</a:t>
            </a:r>
            <a:r>
              <a:rPr/>
              <a:t> shows what was inherited and what was redefined.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9.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2</a:t>
            </a:r>
            <a:br/>
            <a:r>
              <a:rPr/>
              <a:t>Conditions, Loops &amp; Classes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Digital Health,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Making decisions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if</a:t>
            </a:r>
            <a:r>
              <a:rPr/>
              <a:t> / </a:t>
            </a:r>
            <a:r>
              <a:rPr>
                <a:latin typeface="Courier"/>
              </a:rPr>
              <a:t>elif</a:t>
            </a:r>
            <a:r>
              <a:rPr/>
              <a:t> / </a:t>
            </a:r>
            <a:r>
              <a:rPr>
                <a:latin typeface="Courier"/>
              </a:rPr>
              <a:t>else</a:t>
            </a:r>
          </a:p>
        </p:txBody>
      </p:sp>
      <p:sp>
        <p:nvSpPr>
          <p:cNvPr id="3" name="Content Placeholder 2"/>
          <p:cNvSpPr>
            <a:spLocks noGrp="1"/>
          </p:cNvSpPr>
          <p:nvPr>
            <p:ph idx="1"/>
          </p:nvPr>
        </p:nvSpPr>
        <p:spPr/>
        <p:txBody>
          <a:bodyPr>
            <a:normAutofit/>
          </a:bodyPr>
          <a:lstStyle/>
          <a:p>
            <a:pPr lvl="0" indent="0">
              <a:buNone/>
            </a:pPr>
            <a:r>
              <a:rPr>
                <a:latin typeface="Courier"/>
              </a:rPr>
              <a:t>temp </a:t>
            </a:r>
            <a:r>
              <a:rPr>
                <a:solidFill>
                  <a:srgbClr val="666666"/>
                </a:solidFill>
                <a:latin typeface="Courier"/>
              </a:rPr>
              <a:t>=</a:t>
            </a:r>
            <a:r>
              <a:rPr>
                <a:latin typeface="Courier"/>
              </a:rPr>
              <a:t> </a:t>
            </a:r>
            <a:r>
              <a:rPr>
                <a:solidFill>
                  <a:srgbClr val="40A070"/>
                </a:solidFill>
                <a:latin typeface="Courier"/>
              </a:rPr>
              <a:t>38.4</a:t>
            </a:r>
            <a:br/>
            <a:br/>
            <a:r>
              <a:rPr b="1">
                <a:solidFill>
                  <a:srgbClr val="007020"/>
                </a:solidFill>
                <a:latin typeface="Courier"/>
              </a:rPr>
              <a:t>if</a:t>
            </a:r>
            <a:r>
              <a:rPr>
                <a:latin typeface="Courier"/>
              </a:rPr>
              <a:t> temp </a:t>
            </a:r>
            <a:r>
              <a:rPr>
                <a:solidFill>
                  <a:srgbClr val="666666"/>
                </a:solidFill>
                <a:latin typeface="Courier"/>
              </a:rPr>
              <a:t>&gt;=</a:t>
            </a:r>
            <a:r>
              <a:rPr>
                <a:latin typeface="Courier"/>
              </a:rPr>
              <a:t> </a:t>
            </a:r>
            <a:r>
              <a:rPr>
                <a:solidFill>
                  <a:srgbClr val="40A070"/>
                </a:solidFill>
                <a:latin typeface="Courier"/>
              </a:rPr>
              <a:t>39</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"high fever"</a:t>
            </a:r>
            <a:r>
              <a:rPr>
                <a:latin typeface="Courier"/>
              </a:rPr>
              <a:t>)</a:t>
            </a:r>
            <a:br/>
            <a:r>
              <a:rPr b="1">
                <a:solidFill>
                  <a:srgbClr val="007020"/>
                </a:solidFill>
                <a:latin typeface="Courier"/>
              </a:rPr>
              <a:t>elif</a:t>
            </a:r>
            <a:r>
              <a:rPr>
                <a:latin typeface="Courier"/>
              </a:rPr>
              <a:t> temp </a:t>
            </a:r>
            <a:r>
              <a:rPr>
                <a:solidFill>
                  <a:srgbClr val="666666"/>
                </a:solidFill>
                <a:latin typeface="Courier"/>
              </a:rPr>
              <a:t>&gt;=</a:t>
            </a:r>
            <a:r>
              <a:rPr>
                <a:latin typeface="Courier"/>
              </a:rPr>
              <a:t> </a:t>
            </a:r>
            <a:r>
              <a:rPr>
                <a:solidFill>
                  <a:srgbClr val="40A070"/>
                </a:solidFill>
                <a:latin typeface="Courier"/>
              </a:rPr>
              <a:t>38</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"fever"</a:t>
            </a:r>
            <a:r>
              <a:rPr>
                <a:latin typeface="Courier"/>
              </a:rPr>
              <a:t>)</a:t>
            </a:r>
            <a:br/>
            <a:r>
              <a:rPr b="1">
                <a:solidFill>
                  <a:srgbClr val="007020"/>
                </a:solidFill>
                <a:latin typeface="Courier"/>
              </a:rPr>
              <a:t>else</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"no fever"</a:t>
            </a:r>
            <a:r>
              <a:rPr>
                <a:latin typeface="Courie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Order of tests</a:t>
            </a:r>
          </a:p>
        </p:txBody>
      </p:sp>
      <p:pic>
        <p:nvPicPr>
          <p:cNvPr descr="img/branch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Repeating work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for</a:t>
            </a:r>
            <a:r>
              <a:rPr/>
              <a:t> loop</a:t>
            </a:r>
          </a:p>
        </p:txBody>
      </p:sp>
      <p:pic>
        <p:nvPicPr>
          <p:cNvPr descr="img/for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range</a:t>
            </a:r>
            <a:r>
              <a:rPr/>
              <a:t> and </a:t>
            </a:r>
            <a:r>
              <a:rPr>
                <a:latin typeface="Courier"/>
              </a:rPr>
              <a:t>enumerate</a:t>
            </a:r>
          </a:p>
        </p:txBody>
      </p:sp>
      <p:pic>
        <p:nvPicPr>
          <p:cNvPr descr="img/loop_helpers_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zip</a:t>
            </a:r>
            <a:r>
              <a:rPr/>
              <a:t> and </a:t>
            </a:r>
            <a:r>
              <a:rPr>
                <a:latin typeface="Courier"/>
              </a:rPr>
              <a:t>.items()</a:t>
            </a:r>
          </a:p>
        </p:txBody>
      </p:sp>
      <p:pic>
        <p:nvPicPr>
          <p:cNvPr descr="img/loop_helpers_b.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Accumulating a result</a:t>
            </a:r>
          </a:p>
        </p:txBody>
      </p:sp>
      <p:sp>
        <p:nvSpPr>
          <p:cNvPr id="3" name="Content Placeholder 2"/>
          <p:cNvSpPr>
            <a:spLocks noGrp="1"/>
          </p:cNvSpPr>
          <p:nvPr>
            <p:ph idx="1"/>
          </p:nvPr>
        </p:nvSpPr>
        <p:spPr/>
        <p:txBody>
          <a:bodyPr>
            <a:normAutofit/>
          </a:bodyPr>
          <a:lstStyle/>
          <a:p>
            <a:pPr lvl="0" indent="0">
              <a:buNone/>
            </a:pPr>
            <a:r>
              <a:rPr>
                <a:latin typeface="Courier"/>
              </a:rPr>
              <a:t>total </a:t>
            </a:r>
            <a:r>
              <a:rPr>
                <a:solidFill>
                  <a:srgbClr val="666666"/>
                </a:solidFill>
                <a:latin typeface="Courier"/>
              </a:rPr>
              <a:t>=</a:t>
            </a:r>
            <a:r>
              <a:rPr>
                <a:latin typeface="Courier"/>
              </a:rPr>
              <a:t> </a:t>
            </a:r>
            <a:r>
              <a:rPr>
                <a:solidFill>
                  <a:srgbClr val="40A070"/>
                </a:solidFill>
                <a:latin typeface="Courier"/>
              </a:rPr>
              <a:t>0</a:t>
            </a:r>
            <a:br/>
            <a:r>
              <a:rPr b="1">
                <a:solidFill>
                  <a:srgbClr val="007020"/>
                </a:solidFill>
                <a:latin typeface="Courier"/>
              </a:rPr>
              <a:t>for</a:t>
            </a:r>
            <a:r>
              <a:rPr>
                <a:latin typeface="Courier"/>
              </a:rPr>
              <a:t> hr </a:t>
            </a:r>
            <a:r>
              <a:rPr b="1">
                <a:solidFill>
                  <a:srgbClr val="007020"/>
                </a:solidFill>
                <a:latin typeface="Courier"/>
              </a:rPr>
              <a:t>in</a:t>
            </a:r>
            <a:r>
              <a:rPr>
                <a:latin typeface="Courier"/>
              </a:rPr>
              <a:t> heart_rates:</a:t>
            </a:r>
            <a:br/>
            <a:r>
              <a:rPr>
                <a:latin typeface="Courier"/>
              </a:rPr>
              <a:t>    total </a:t>
            </a:r>
            <a:r>
              <a:rPr>
                <a:solidFill>
                  <a:srgbClr val="666666"/>
                </a:solidFill>
                <a:latin typeface="Courier"/>
              </a:rPr>
              <a:t>=</a:t>
            </a:r>
            <a:r>
              <a:rPr>
                <a:latin typeface="Courier"/>
              </a:rPr>
              <a:t> total </a:t>
            </a:r>
            <a:r>
              <a:rPr>
                <a:solidFill>
                  <a:srgbClr val="666666"/>
                </a:solidFill>
                <a:latin typeface="Courier"/>
              </a:rPr>
              <a:t>+</a:t>
            </a:r>
            <a:r>
              <a:rPr>
                <a:latin typeface="Courier"/>
              </a:rPr>
              <a:t> hr</a:t>
            </a:r>
            <a:br/>
            <a:br/>
            <a:r>
              <a:rPr>
                <a:latin typeface="Courier"/>
              </a:rPr>
              <a:t>mean </a:t>
            </a:r>
            <a:r>
              <a:rPr>
                <a:solidFill>
                  <a:srgbClr val="666666"/>
                </a:solidFill>
                <a:latin typeface="Courier"/>
              </a:rPr>
              <a:t>=</a:t>
            </a:r>
            <a:r>
              <a:rPr>
                <a:latin typeface="Courier"/>
              </a:rPr>
              <a:t> total </a:t>
            </a:r>
            <a:r>
              <a:rPr>
                <a:solidFill>
                  <a:srgbClr val="666666"/>
                </a:solidFill>
                <a:latin typeface="Courier"/>
              </a:rPr>
              <a:t>/</a:t>
            </a:r>
            <a:r>
              <a:rPr>
                <a:latin typeface="Courier"/>
              </a:rPr>
              <a:t> </a:t>
            </a:r>
            <a:r>
              <a:rPr>
                <a:solidFill>
                  <a:srgbClr val="008000"/>
                </a:solidFill>
                <a:latin typeface="Courier"/>
              </a:rPr>
              <a:t>len</a:t>
            </a:r>
            <a:r>
              <a:rPr>
                <a:latin typeface="Courier"/>
              </a:rPr>
              <a:t>(heart_rates)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while</a:t>
            </a:r>
            <a:r>
              <a:rPr/>
              <a:t>: unknown number of iterations</a:t>
            </a:r>
          </a:p>
        </p:txBody>
      </p:sp>
      <p:pic>
        <p:nvPicPr>
          <p:cNvPr descr="img/while_loo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break</a:t>
            </a:r>
            <a:r>
              <a:rPr/>
              <a:t> and </a:t>
            </a:r>
            <a:r>
              <a:rPr>
                <a:latin typeface="Courier"/>
              </a:rPr>
              <a:t>continue</a:t>
            </a:r>
          </a:p>
        </p:txBody>
      </p:sp>
      <p:pic>
        <p:nvPicPr>
          <p:cNvPr descr="img/break_continu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Comprehensions</a:t>
            </a:r>
          </a:p>
        </p:txBody>
      </p:sp>
      <p:pic>
        <p:nvPicPr>
          <p:cNvPr descr="img/comprehen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Functions</a:t>
            </a:r>
          </a:p>
        </p:txBody>
      </p:sp>
      <p:pic>
        <p:nvPicPr>
          <p:cNvPr descr="img/function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Objects and classes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class is a blueprint</a:t>
            </a:r>
          </a:p>
        </p:txBody>
      </p:sp>
      <p:pic>
        <p:nvPicPr>
          <p:cNvPr descr="img/class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Dictionary or class?</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dict: data only</a:t>
            </a:r>
            <a:br/>
            <a:r>
              <a:rPr>
                <a:latin typeface="Courier"/>
              </a:rPr>
              <a:t>p </a:t>
            </a:r>
            <a:r>
              <a:rPr>
                <a:solidFill>
                  <a:srgbClr val="666666"/>
                </a:solidFill>
                <a:latin typeface="Courier"/>
              </a:rPr>
              <a:t>=</a:t>
            </a:r>
            <a:r>
              <a:rPr>
                <a:latin typeface="Courier"/>
              </a:rPr>
              <a:t> {</a:t>
            </a:r>
            <a:r>
              <a:rPr>
                <a:solidFill>
                  <a:srgbClr val="4070A0"/>
                </a:solidFill>
                <a:latin typeface="Courier"/>
              </a:rPr>
              <a:t>"id"</a:t>
            </a:r>
            <a:r>
              <a:rPr>
                <a:latin typeface="Courier"/>
              </a:rPr>
              <a:t>: </a:t>
            </a:r>
            <a:r>
              <a:rPr>
                <a:solidFill>
                  <a:srgbClr val="4070A0"/>
                </a:solidFill>
                <a:latin typeface="Courier"/>
              </a:rPr>
              <a:t>"P001"</a:t>
            </a:r>
            <a:r>
              <a:rPr>
                <a:latin typeface="Courier"/>
              </a:rPr>
              <a:t>, </a:t>
            </a:r>
            <a:r>
              <a:rPr>
                <a:solidFill>
                  <a:srgbClr val="4070A0"/>
                </a:solidFill>
                <a:latin typeface="Courier"/>
              </a:rPr>
              <a:t>"age"</a:t>
            </a:r>
            <a:r>
              <a:rPr>
                <a:latin typeface="Courier"/>
              </a:rPr>
              <a:t>: </a:t>
            </a:r>
            <a:r>
              <a:rPr>
                <a:solidFill>
                  <a:srgbClr val="40A070"/>
                </a:solidFill>
                <a:latin typeface="Courier"/>
              </a:rPr>
              <a:t>54</a:t>
            </a:r>
            <a:r>
              <a:rPr>
                <a:latin typeface="Courier"/>
              </a:rPr>
              <a:t>}</a:t>
            </a:r>
            <a:br/>
            <a:r>
              <a:rPr>
                <a:latin typeface="Courier"/>
              </a:rPr>
              <a:t>p[</a:t>
            </a:r>
            <a:r>
              <a:rPr>
                <a:solidFill>
                  <a:srgbClr val="4070A0"/>
                </a:solidFill>
                <a:latin typeface="Courier"/>
              </a:rPr>
              <a:t>"age"</a:t>
            </a:r>
            <a:r>
              <a:rPr>
                <a:latin typeface="Courier"/>
              </a:rPr>
              <a:t>]</a:t>
            </a:r>
            <a:br/>
            <a:br/>
            <a:br/>
            <a:r>
              <a:rPr i="1">
                <a:solidFill>
                  <a:srgbClr val="60A0B0"/>
                </a:solidFill>
                <a:latin typeface="Courier"/>
              </a:rPr>
              <a:t># class: data + behaviour</a:t>
            </a:r>
            <a:br/>
            <a:r>
              <a:rPr b="1">
                <a:solidFill>
                  <a:srgbClr val="007020"/>
                </a:solidFill>
                <a:latin typeface="Courier"/>
              </a:rPr>
              <a:t>class</a:t>
            </a:r>
            <a:r>
              <a:rPr>
                <a:latin typeface="Courier"/>
              </a:rPr>
              <a:t> Patient:</a:t>
            </a:r>
            <a:br/>
            <a:r>
              <a:rPr>
                <a:latin typeface="Courier"/>
              </a:rPr>
              <a:t>    </a:t>
            </a:r>
            <a:r>
              <a:rPr b="1">
                <a:solidFill>
                  <a:srgbClr val="007020"/>
                </a:solidFill>
                <a:latin typeface="Courier"/>
              </a:rPr>
              <a:t>def</a:t>
            </a:r>
            <a:r>
              <a:rPr>
                <a:latin typeface="Courier"/>
              </a:rPr>
              <a:t> bmi(</a:t>
            </a:r>
            <a:r>
              <a:rPr>
                <a:solidFill>
                  <a:srgbClr val="19177C"/>
                </a:solidFill>
                <a:latin typeface="Courier"/>
              </a:rPr>
              <a:t>self</a:t>
            </a:r>
            <a:r>
              <a:rPr>
                <a:latin typeface="Courier"/>
              </a:rPr>
              <a:t>): ...</a:t>
            </a:r>
            <a:br/>
            <a:r>
              <a:rPr>
                <a:latin typeface="Courier"/>
              </a:rPr>
              <a:t>p.bmi()</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Inheritance</a:t>
            </a:r>
          </a:p>
        </p:txBody>
      </p:sp>
      <p:pic>
        <p:nvPicPr>
          <p:cNvPr descr="img/inherit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Parent class</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class</a:t>
            </a:r>
            <a:r>
              <a:rPr>
                <a:latin typeface="Courier"/>
              </a:rPr>
              <a:t> Patient():</a:t>
            </a:r>
            <a:br/>
            <a:r>
              <a:rPr>
                <a:latin typeface="Courier"/>
              </a:rPr>
              <a:t>    </a:t>
            </a:r>
            <a:r>
              <a:rPr b="1">
                <a:solidFill>
                  <a:srgbClr val="007020"/>
                </a:solidFill>
                <a:latin typeface="Courier"/>
              </a:rPr>
              <a:t>def</a:t>
            </a:r>
            <a:r>
              <a:rPr>
                <a:latin typeface="Courier"/>
              </a:rPr>
              <a:t> </a:t>
            </a:r>
            <a:r>
              <a:rPr>
                <a:solidFill>
                  <a:srgbClr val="06287E"/>
                </a:solidFill>
                <a:latin typeface="Courier"/>
              </a:rPr>
              <a:t>__init__</a:t>
            </a:r>
            <a:r>
              <a:rPr>
                <a:latin typeface="Courier"/>
              </a:rPr>
              <a:t>(</a:t>
            </a:r>
            <a:r>
              <a:rPr>
                <a:solidFill>
                  <a:srgbClr val="19177C"/>
                </a:solidFill>
                <a:latin typeface="Courier"/>
              </a:rPr>
              <a:t>self</a:t>
            </a:r>
            <a:r>
              <a:rPr>
                <a:latin typeface="Courier"/>
              </a:rPr>
              <a:t>, </a:t>
            </a:r>
            <a:r>
              <a:rPr>
                <a:solidFill>
                  <a:srgbClr val="008000"/>
                </a:solidFill>
                <a:latin typeface="Courier"/>
              </a:rPr>
              <a:t>id</a:t>
            </a:r>
            <a:r>
              <a:rPr>
                <a:latin typeface="Courier"/>
              </a:rPr>
              <a:t>, age, weight, height):</a:t>
            </a:r>
            <a:br/>
            <a:r>
              <a:rPr>
                <a:latin typeface="Courier"/>
              </a:rPr>
              <a:t>        </a:t>
            </a:r>
            <a:r>
              <a:rPr>
                <a:solidFill>
                  <a:srgbClr val="19177C"/>
                </a:solidFill>
                <a:latin typeface="Courier"/>
              </a:rPr>
              <a:t>self</a:t>
            </a:r>
            <a:r>
              <a:rPr>
                <a:latin typeface="Courier"/>
              </a:rPr>
              <a:t>.</a:t>
            </a:r>
            <a:r>
              <a:rPr>
                <a:solidFill>
                  <a:srgbClr val="008000"/>
                </a:solidFill>
                <a:latin typeface="Courier"/>
              </a:rPr>
              <a:t>id</a:t>
            </a:r>
            <a:r>
              <a:rPr>
                <a:latin typeface="Courier"/>
              </a:rPr>
              <a:t> </a:t>
            </a:r>
            <a:r>
              <a:rPr>
                <a:solidFill>
                  <a:srgbClr val="666666"/>
                </a:solidFill>
                <a:latin typeface="Courier"/>
              </a:rPr>
              <a:t>=</a:t>
            </a:r>
            <a:r>
              <a:rPr>
                <a:latin typeface="Courier"/>
              </a:rPr>
              <a:t> </a:t>
            </a:r>
            <a:r>
              <a:rPr>
                <a:solidFill>
                  <a:srgbClr val="008000"/>
                </a:solidFill>
                <a:latin typeface="Courier"/>
              </a:rPr>
              <a:t>id</a:t>
            </a:r>
            <a:br/>
            <a:r>
              <a:rPr>
                <a:latin typeface="Courier"/>
              </a:rPr>
              <a:t>        </a:t>
            </a:r>
            <a:r>
              <a:rPr>
                <a:solidFill>
                  <a:srgbClr val="19177C"/>
                </a:solidFill>
                <a:latin typeface="Courier"/>
              </a:rPr>
              <a:t>self</a:t>
            </a:r>
            <a:r>
              <a:rPr>
                <a:latin typeface="Courier"/>
              </a:rPr>
              <a:t>.age </a:t>
            </a:r>
            <a:r>
              <a:rPr>
                <a:solidFill>
                  <a:srgbClr val="666666"/>
                </a:solidFill>
                <a:latin typeface="Courier"/>
              </a:rPr>
              <a:t>=</a:t>
            </a:r>
            <a:r>
              <a:rPr>
                <a:latin typeface="Courier"/>
              </a:rPr>
              <a:t> age</a:t>
            </a:r>
            <a:br/>
            <a:r>
              <a:rPr>
                <a:latin typeface="Courier"/>
              </a:rPr>
              <a:t>        </a:t>
            </a:r>
            <a:r>
              <a:rPr>
                <a:solidFill>
                  <a:srgbClr val="19177C"/>
                </a:solidFill>
                <a:latin typeface="Courier"/>
              </a:rPr>
              <a:t>self</a:t>
            </a:r>
            <a:r>
              <a:rPr>
                <a:latin typeface="Courier"/>
              </a:rPr>
              <a:t>.weight </a:t>
            </a:r>
            <a:r>
              <a:rPr>
                <a:solidFill>
                  <a:srgbClr val="666666"/>
                </a:solidFill>
                <a:latin typeface="Courier"/>
              </a:rPr>
              <a:t>=</a:t>
            </a:r>
            <a:r>
              <a:rPr>
                <a:latin typeface="Courier"/>
              </a:rPr>
              <a:t> weight</a:t>
            </a:r>
            <a:br/>
            <a:r>
              <a:rPr>
                <a:latin typeface="Courier"/>
              </a:rPr>
              <a:t>        </a:t>
            </a:r>
            <a:r>
              <a:rPr>
                <a:solidFill>
                  <a:srgbClr val="19177C"/>
                </a:solidFill>
                <a:latin typeface="Courier"/>
              </a:rPr>
              <a:t>self</a:t>
            </a:r>
            <a:r>
              <a:rPr>
                <a:latin typeface="Courier"/>
              </a:rPr>
              <a:t>.height </a:t>
            </a:r>
            <a:r>
              <a:rPr>
                <a:solidFill>
                  <a:srgbClr val="666666"/>
                </a:solidFill>
                <a:latin typeface="Courier"/>
              </a:rPr>
              <a:t>=</a:t>
            </a:r>
            <a:r>
              <a:rPr>
                <a:latin typeface="Courier"/>
              </a:rPr>
              <a:t> height</a:t>
            </a:r>
            <a:br/>
            <a:br/>
            <a:r>
              <a:rPr>
                <a:latin typeface="Courier"/>
              </a:rPr>
              <a:t>    </a:t>
            </a:r>
            <a:r>
              <a:rPr b="1">
                <a:solidFill>
                  <a:srgbClr val="007020"/>
                </a:solidFill>
                <a:latin typeface="Courier"/>
              </a:rPr>
              <a:t>def</a:t>
            </a:r>
            <a:r>
              <a:rPr>
                <a:latin typeface="Courier"/>
              </a:rPr>
              <a:t> </a:t>
            </a:r>
            <a:r>
              <a:rPr>
                <a:solidFill>
                  <a:srgbClr val="06287E"/>
                </a:solidFill>
                <a:latin typeface="Courier"/>
              </a:rPr>
              <a:t>__repr__</a:t>
            </a:r>
            <a:r>
              <a:rPr>
                <a:latin typeface="Courier"/>
              </a:rPr>
              <a:t>(</a:t>
            </a:r>
            <a:r>
              <a:rPr>
                <a:solidFill>
                  <a:srgbClr val="19177C"/>
                </a:solidFill>
                <a:latin typeface="Courier"/>
              </a:rPr>
              <a:t>self</a:t>
            </a:r>
            <a:r>
              <a:rPr>
                <a:latin typeface="Courier"/>
              </a:rPr>
              <a:t>):</a:t>
            </a:r>
            <a:br/>
            <a:r>
              <a:rPr>
                <a:latin typeface="Courier"/>
              </a:rPr>
              <a:t>        </a:t>
            </a:r>
            <a:r>
              <a:rPr b="1">
                <a:solidFill>
                  <a:srgbClr val="007020"/>
                </a:solidFill>
                <a:latin typeface="Courier"/>
              </a:rPr>
              <a:t>return</a:t>
            </a:r>
            <a:r>
              <a:rPr>
                <a:latin typeface="Courier"/>
              </a:rPr>
              <a:t> </a:t>
            </a:r>
            <a:r>
              <a:rPr>
                <a:solidFill>
                  <a:srgbClr val="BB6688"/>
                </a:solidFill>
                <a:latin typeface="Courier"/>
              </a:rPr>
              <a:t>f"Patient </a:t>
            </a:r>
            <a:r>
              <a:rPr>
                <a:solidFill>
                  <a:srgbClr val="4070A0"/>
                </a:solidFill>
                <a:latin typeface="Courier"/>
              </a:rPr>
              <a:t>{</a:t>
            </a:r>
            <a:r>
              <a:rPr>
                <a:solidFill>
                  <a:srgbClr val="19177C"/>
                </a:solidFill>
                <a:latin typeface="Courier"/>
              </a:rPr>
              <a:t>self</a:t>
            </a:r>
            <a:r>
              <a:rPr>
                <a:solidFill>
                  <a:srgbClr val="4070A0"/>
                </a:solidFill>
                <a:latin typeface="Courier"/>
              </a:rPr>
              <a:t>.</a:t>
            </a:r>
            <a:r>
              <a:rPr>
                <a:solidFill>
                  <a:srgbClr val="008000"/>
                </a:solidFill>
                <a:latin typeface="Courier"/>
              </a:rPr>
              <a:t>id</a:t>
            </a:r>
            <a:r>
              <a:rPr>
                <a:solidFill>
                  <a:srgbClr val="4070A0"/>
                </a:solidFill>
                <a:latin typeface="Courier"/>
              </a:rPr>
              <a:t>}</a:t>
            </a:r>
            <a:r>
              <a:rPr>
                <a:solidFill>
                  <a:srgbClr val="BB6688"/>
                </a:solidFill>
                <a:latin typeface="Courier"/>
              </a:rPr>
              <a:t>"</a:t>
            </a:r>
            <a:br/>
            <a:br/>
            <a:r>
              <a:rPr>
                <a:latin typeface="Courier"/>
              </a:rPr>
              <a:t>i </a:t>
            </a:r>
            <a:r>
              <a:rPr>
                <a:solidFill>
                  <a:srgbClr val="666666"/>
                </a:solidFill>
                <a:latin typeface="Courier"/>
              </a:rPr>
              <a:t>=</a:t>
            </a:r>
            <a:r>
              <a:rPr>
                <a:latin typeface="Courier"/>
              </a:rPr>
              <a:t> Patient(</a:t>
            </a:r>
            <a:r>
              <a:rPr>
                <a:solidFill>
                  <a:srgbClr val="4070A0"/>
                </a:solidFill>
                <a:latin typeface="Courier"/>
              </a:rPr>
              <a:t>"P003"</a:t>
            </a:r>
            <a:r>
              <a:rPr>
                <a:latin typeface="Courier"/>
              </a:rPr>
              <a:t>, </a:t>
            </a:r>
            <a:r>
              <a:rPr>
                <a:solidFill>
                  <a:srgbClr val="40A070"/>
                </a:solidFill>
                <a:latin typeface="Courier"/>
              </a:rPr>
              <a:t>71</a:t>
            </a:r>
            <a:r>
              <a:rPr>
                <a:latin typeface="Courier"/>
              </a:rPr>
              <a:t>, </a:t>
            </a:r>
            <a:r>
              <a:rPr>
                <a:solidFill>
                  <a:srgbClr val="40A070"/>
                </a:solidFill>
                <a:latin typeface="Courier"/>
              </a:rPr>
              <a:t>95.2</a:t>
            </a:r>
            <a:r>
              <a:rPr>
                <a:latin typeface="Courier"/>
              </a:rPr>
              <a:t>, </a:t>
            </a:r>
            <a:r>
              <a:rPr>
                <a:solidFill>
                  <a:srgbClr val="40A070"/>
                </a:solidFill>
                <a:latin typeface="Courier"/>
              </a:rPr>
              <a:t>1.70</a:t>
            </a:r>
            <a:r>
              <a:rPr>
                <a:latin typeface="Courier"/>
              </a:rPr>
              <a:t>)</a:t>
            </a:r>
            <a:br/>
            <a:r>
              <a:rPr>
                <a:latin typeface="Courier"/>
              </a:rPr>
              <a:t>i.bmi() </a:t>
            </a:r>
            <a:r>
              <a:rPr i="1">
                <a:solidFill>
                  <a:srgbClr val="60A0B0"/>
                </a:solidFill>
                <a:latin typeface="Courier"/>
              </a:rPr>
              <a:t># -&gt; computes 95.2^2 / 1.70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Child class</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class</a:t>
            </a:r>
            <a:r>
              <a:rPr>
                <a:latin typeface="Courier"/>
              </a:rPr>
              <a:t> InPatient(Patient):</a:t>
            </a:r>
            <a:br/>
            <a:r>
              <a:rPr>
                <a:latin typeface="Courier"/>
              </a:rPr>
              <a:t>    </a:t>
            </a:r>
            <a:r>
              <a:rPr b="1">
                <a:solidFill>
                  <a:srgbClr val="007020"/>
                </a:solidFill>
                <a:latin typeface="Courier"/>
              </a:rPr>
              <a:t>def</a:t>
            </a:r>
            <a:r>
              <a:rPr>
                <a:latin typeface="Courier"/>
              </a:rPr>
              <a:t> </a:t>
            </a:r>
            <a:r>
              <a:rPr>
                <a:solidFill>
                  <a:srgbClr val="06287E"/>
                </a:solidFill>
                <a:latin typeface="Courier"/>
              </a:rPr>
              <a:t>__init__</a:t>
            </a:r>
            <a:r>
              <a:rPr>
                <a:latin typeface="Courier"/>
              </a:rPr>
              <a:t>(</a:t>
            </a:r>
            <a:r>
              <a:rPr>
                <a:solidFill>
                  <a:srgbClr val="19177C"/>
                </a:solidFill>
                <a:latin typeface="Courier"/>
              </a:rPr>
              <a:t>self</a:t>
            </a:r>
            <a:r>
              <a:rPr>
                <a:latin typeface="Courier"/>
              </a:rPr>
              <a:t>, </a:t>
            </a:r>
            <a:r>
              <a:rPr>
                <a:solidFill>
                  <a:srgbClr val="008000"/>
                </a:solidFill>
                <a:latin typeface="Courier"/>
              </a:rPr>
              <a:t>id</a:t>
            </a:r>
            <a:r>
              <a:rPr>
                <a:latin typeface="Courier"/>
              </a:rPr>
              <a:t>, age, weight, height, room):</a:t>
            </a:r>
            <a:br/>
            <a:r>
              <a:rPr>
                <a:latin typeface="Courier"/>
              </a:rPr>
              <a:t>        </a:t>
            </a:r>
            <a:r>
              <a:rPr>
                <a:solidFill>
                  <a:srgbClr val="008000"/>
                </a:solidFill>
                <a:latin typeface="Courier"/>
              </a:rPr>
              <a:t>super</a:t>
            </a:r>
            <a:r>
              <a:rPr>
                <a:latin typeface="Courier"/>
              </a:rPr>
              <a:t>().</a:t>
            </a:r>
            <a:r>
              <a:rPr>
                <a:solidFill>
                  <a:srgbClr val="06287E"/>
                </a:solidFill>
                <a:latin typeface="Courier"/>
              </a:rPr>
              <a:t>__init__</a:t>
            </a:r>
            <a:r>
              <a:rPr>
                <a:latin typeface="Courier"/>
              </a:rPr>
              <a:t>(</a:t>
            </a:r>
            <a:r>
              <a:rPr>
                <a:solidFill>
                  <a:srgbClr val="008000"/>
                </a:solidFill>
                <a:latin typeface="Courier"/>
              </a:rPr>
              <a:t>id</a:t>
            </a:r>
            <a:r>
              <a:rPr>
                <a:latin typeface="Courier"/>
              </a:rPr>
              <a:t>, age, weight, height)</a:t>
            </a:r>
            <a:br/>
            <a:r>
              <a:rPr>
                <a:latin typeface="Courier"/>
              </a:rPr>
              <a:t>        </a:t>
            </a:r>
            <a:r>
              <a:rPr>
                <a:solidFill>
                  <a:srgbClr val="19177C"/>
                </a:solidFill>
                <a:latin typeface="Courier"/>
              </a:rPr>
              <a:t>self</a:t>
            </a:r>
            <a:r>
              <a:rPr>
                <a:latin typeface="Courier"/>
              </a:rPr>
              <a:t>.room </a:t>
            </a:r>
            <a:r>
              <a:rPr>
                <a:solidFill>
                  <a:srgbClr val="666666"/>
                </a:solidFill>
                <a:latin typeface="Courier"/>
              </a:rPr>
              <a:t>=</a:t>
            </a:r>
            <a:r>
              <a:rPr>
                <a:latin typeface="Courier"/>
              </a:rPr>
              <a:t> room</a:t>
            </a:r>
            <a:br/>
            <a:br/>
            <a:r>
              <a:rPr>
                <a:latin typeface="Courier"/>
              </a:rPr>
              <a:t>    </a:t>
            </a:r>
            <a:r>
              <a:rPr b="1">
                <a:solidFill>
                  <a:srgbClr val="007020"/>
                </a:solidFill>
                <a:latin typeface="Courier"/>
              </a:rPr>
              <a:t>def</a:t>
            </a:r>
            <a:r>
              <a:rPr>
                <a:latin typeface="Courier"/>
              </a:rPr>
              <a:t> </a:t>
            </a:r>
            <a:r>
              <a:rPr>
                <a:solidFill>
                  <a:srgbClr val="06287E"/>
                </a:solidFill>
                <a:latin typeface="Courier"/>
              </a:rPr>
              <a:t>__repr__</a:t>
            </a:r>
            <a:r>
              <a:rPr>
                <a:latin typeface="Courier"/>
              </a:rPr>
              <a:t>(</a:t>
            </a:r>
            <a:r>
              <a:rPr>
                <a:solidFill>
                  <a:srgbClr val="19177C"/>
                </a:solidFill>
                <a:latin typeface="Courier"/>
              </a:rPr>
              <a:t>self</a:t>
            </a:r>
            <a:r>
              <a:rPr>
                <a:latin typeface="Courier"/>
              </a:rPr>
              <a:t>):</a:t>
            </a:r>
            <a:br/>
            <a:r>
              <a:rPr>
                <a:latin typeface="Courier"/>
              </a:rPr>
              <a:t>        </a:t>
            </a:r>
            <a:r>
              <a:rPr b="1">
                <a:solidFill>
                  <a:srgbClr val="007020"/>
                </a:solidFill>
                <a:latin typeface="Courier"/>
              </a:rPr>
              <a:t>return</a:t>
            </a:r>
            <a:r>
              <a:rPr>
                <a:latin typeface="Courier"/>
              </a:rPr>
              <a:t> </a:t>
            </a:r>
            <a:r>
              <a:rPr>
                <a:solidFill>
                  <a:srgbClr val="BB6688"/>
                </a:solidFill>
                <a:latin typeface="Courier"/>
              </a:rPr>
              <a:t>f"InPatient </a:t>
            </a:r>
            <a:r>
              <a:rPr>
                <a:solidFill>
                  <a:srgbClr val="4070A0"/>
                </a:solidFill>
                <a:latin typeface="Courier"/>
              </a:rPr>
              <a:t>{</a:t>
            </a:r>
            <a:r>
              <a:rPr>
                <a:solidFill>
                  <a:srgbClr val="19177C"/>
                </a:solidFill>
                <a:latin typeface="Courier"/>
              </a:rPr>
              <a:t>self</a:t>
            </a:r>
            <a:r>
              <a:rPr>
                <a:solidFill>
                  <a:srgbClr val="4070A0"/>
                </a:solidFill>
                <a:latin typeface="Courier"/>
              </a:rPr>
              <a:t>.</a:t>
            </a:r>
            <a:r>
              <a:rPr>
                <a:solidFill>
                  <a:srgbClr val="008000"/>
                </a:solidFill>
                <a:latin typeface="Courier"/>
              </a:rPr>
              <a:t>id</a:t>
            </a:r>
            <a:r>
              <a:rPr>
                <a:solidFill>
                  <a:srgbClr val="4070A0"/>
                </a:solidFill>
                <a:latin typeface="Courier"/>
              </a:rPr>
              <a:t>}</a:t>
            </a:r>
            <a:r>
              <a:rPr>
                <a:solidFill>
                  <a:srgbClr val="BB6688"/>
                </a:solidFill>
                <a:latin typeface="Courier"/>
              </a:rPr>
              <a:t>, room </a:t>
            </a:r>
            <a:r>
              <a:rPr>
                <a:solidFill>
                  <a:srgbClr val="4070A0"/>
                </a:solidFill>
                <a:latin typeface="Courier"/>
              </a:rPr>
              <a:t>{</a:t>
            </a:r>
            <a:r>
              <a:rPr>
                <a:solidFill>
                  <a:srgbClr val="19177C"/>
                </a:solidFill>
                <a:latin typeface="Courier"/>
              </a:rPr>
              <a:t>self</a:t>
            </a:r>
            <a:r>
              <a:rPr>
                <a:solidFill>
                  <a:srgbClr val="4070A0"/>
                </a:solidFill>
                <a:latin typeface="Courier"/>
              </a:rPr>
              <a:t>.</a:t>
            </a:r>
            <a:r>
              <a:rPr>
                <a:latin typeface="Courier"/>
              </a:rPr>
              <a:t>room</a:t>
            </a:r>
            <a:r>
              <a:rPr>
                <a:solidFill>
                  <a:srgbClr val="4070A0"/>
                </a:solidFill>
                <a:latin typeface="Courier"/>
              </a:rPr>
              <a:t>}</a:t>
            </a:r>
            <a:r>
              <a:rPr>
                <a:solidFill>
                  <a:srgbClr val="BB6688"/>
                </a:solidFill>
                <a:latin typeface="Courier"/>
              </a:rPr>
              <a:t>"</a:t>
            </a:r>
            <a:br/>
            <a:br/>
            <a:r>
              <a:rPr>
                <a:latin typeface="Courier"/>
              </a:rPr>
              <a:t>i </a:t>
            </a:r>
            <a:r>
              <a:rPr>
                <a:solidFill>
                  <a:srgbClr val="666666"/>
                </a:solidFill>
                <a:latin typeface="Courier"/>
              </a:rPr>
              <a:t>=</a:t>
            </a:r>
            <a:r>
              <a:rPr>
                <a:latin typeface="Courier"/>
              </a:rPr>
              <a:t> InPatient(</a:t>
            </a:r>
            <a:r>
              <a:rPr>
                <a:solidFill>
                  <a:srgbClr val="4070A0"/>
                </a:solidFill>
                <a:latin typeface="Courier"/>
              </a:rPr>
              <a:t>"P003"</a:t>
            </a:r>
            <a:r>
              <a:rPr>
                <a:latin typeface="Courier"/>
              </a:rPr>
              <a:t>, </a:t>
            </a:r>
            <a:r>
              <a:rPr>
                <a:solidFill>
                  <a:srgbClr val="40A070"/>
                </a:solidFill>
                <a:latin typeface="Courier"/>
              </a:rPr>
              <a:t>71</a:t>
            </a:r>
            <a:r>
              <a:rPr>
                <a:latin typeface="Courier"/>
              </a:rPr>
              <a:t>, </a:t>
            </a:r>
            <a:r>
              <a:rPr>
                <a:solidFill>
                  <a:srgbClr val="40A070"/>
                </a:solidFill>
                <a:latin typeface="Courier"/>
              </a:rPr>
              <a:t>95.2</a:t>
            </a:r>
            <a:r>
              <a:rPr>
                <a:latin typeface="Courier"/>
              </a:rPr>
              <a:t>, </a:t>
            </a:r>
            <a:r>
              <a:rPr>
                <a:solidFill>
                  <a:srgbClr val="40A070"/>
                </a:solidFill>
                <a:latin typeface="Courier"/>
              </a:rPr>
              <a:t>1.70</a:t>
            </a:r>
            <a:r>
              <a:rPr>
                <a:latin typeface="Courier"/>
              </a:rPr>
              <a:t>, room</a:t>
            </a:r>
            <a:r>
              <a:rPr>
                <a:solidFill>
                  <a:srgbClr val="666666"/>
                </a:solidFill>
                <a:latin typeface="Courier"/>
              </a:rPr>
              <a:t>=</a:t>
            </a:r>
            <a:r>
              <a:rPr>
                <a:solidFill>
                  <a:srgbClr val="40A070"/>
                </a:solidFill>
                <a:latin typeface="Courier"/>
              </a:rPr>
              <a:t>12</a:t>
            </a:r>
            <a:r>
              <a:rPr>
                <a:latin typeface="Courier"/>
              </a:rPr>
              <a:t>)</a:t>
            </a:r>
            <a:br/>
            <a:r>
              <a:rPr>
                <a:latin typeface="Courier"/>
              </a:rPr>
              <a:t>i.bmi()      </a:t>
            </a:r>
            <a:r>
              <a:rPr i="1">
                <a:solidFill>
                  <a:srgbClr val="60A0B0"/>
                </a:solidFill>
                <a:latin typeface="Courier"/>
              </a:rPr>
              <a:t># not on InPatient -&gt; found on Patient</a:t>
            </a:r>
            <a:br/>
            <a:r>
              <a:rPr>
                <a:latin typeface="Courier"/>
              </a:rPr>
              <a:t>i            </a:t>
            </a:r>
            <a:r>
              <a:rPr i="1">
                <a:solidFill>
                  <a:srgbClr val="60A0B0"/>
                </a:solidFill>
                <a:latin typeface="Courier"/>
              </a:rPr>
              <a:t># InPatient('P003', room 12)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Conditions, Loops &amp; Classes</dc:title>
  <dc:creator>Paul Dubois</dc:creator>
  <cp:keywords/>
  <dcterms:created xsi:type="dcterms:W3CDTF">2026-10-15T11:19:05Z</dcterms:created>
  <dcterms:modified xsi:type="dcterms:W3CDTF">2026-10-15T11:19:05Z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Lecture</vt:lpwstr>
  </property>
  <property fmtid="{D5CDD505-2E9C-101B-9397-08002B2CF9AE}" pid="3" name="subtitle">
    <vt:lpwstr>Digital Health, Mastère Spécialisé · 2026</vt:lpwstr>
  </property>
</Properties>
</file>