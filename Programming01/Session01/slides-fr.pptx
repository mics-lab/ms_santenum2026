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notesMaster" Target="notesMasters/notesMaster1.xml" /><Relationship Id="rId43" Type="http://schemas.openxmlformats.org/officeDocument/2006/relationships/viewProps" Target="viewProps.xml" /><Relationship Id="rId42" Type="http://schemas.openxmlformats.org/officeDocument/2006/relationships/presProps" Target="presProps.xml" /><Relationship Id="rId1" Type="http://schemas.openxmlformats.org/officeDocument/2006/relationships/slideMaster" Target="slideMasters/slideMaster1.xml" /><Relationship Id="rId45" Type="http://schemas.openxmlformats.org/officeDocument/2006/relationships/tableStyles" Target="tableStyles.xml" /><Relationship Id="rId4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L’image la plus utile de la session. </a:t>
            </a:r>
            <a:r>
              <a:rPr>
                <a:latin typeface="Courier"/>
              </a:rPr>
              <a:t>age = 54</a:t>
            </a:r>
            <a:r>
              <a:rPr/>
              <a:t> ne met pas 54” dans une case appelé âge » : il crée la valeur 54 quelque part en mémoire, et y colle l’étiquette </a:t>
            </a:r>
            <a:r>
              <a:rPr>
                <a:latin typeface="Courier"/>
              </a:rPr>
              <a:t>age</a:t>
            </a:r>
            <a:r>
              <a:rPr/>
              <a:t>. Le type appartient à la valeur, pas au nom. C’est pourquoi il n’y a pas de déclaration dans Python (pas de </a:t>
            </a:r>
            <a:r>
              <a:rPr>
                <a:latin typeface="Courier"/>
              </a:rPr>
              <a:t>int age;</a:t>
            </a:r>
            <a:r>
              <a:rPr/>
              <a:t> comme en C, vu dans la Session 0) : on ne dit jamais ce que tiendra un nom. </a:t>
            </a:r>
            <a:r>
              <a:rPr>
                <a:latin typeface="Courier"/>
              </a:rPr>
              <a:t>type(x)</a:t>
            </a:r>
            <a:r>
              <a:rPr/>
              <a:t> demande la valeur de quoi il s’agit. Faites-leur le taper en direct ; c’est le premier débogage outil qu’ils rechercheront.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C’est toute la cartographie de la séance, et du cahier : cinq valeurs uniques à gauche, quatre conteneurs à droite. Ancrez chacun à un exemple de santé, ils retiendront l’exemple avant le nom : un âge est un </a:t>
            </a:r>
            <a:r>
              <a:rPr>
                <a:latin typeface="Courier"/>
              </a:rPr>
              <a:t>int</a:t>
            </a:r>
            <a:r>
              <a:rPr/>
              <a:t>, une température un </a:t>
            </a:r>
            <a:r>
              <a:rPr>
                <a:latin typeface="Courier"/>
              </a:rPr>
              <a:t>float</a:t>
            </a:r>
            <a:r>
              <a:rPr/>
              <a:t>, “a de la fièvre” un </a:t>
            </a:r>
            <a:r>
              <a:rPr>
                <a:latin typeface="Courier"/>
              </a:rPr>
              <a:t>bool</a:t>
            </a:r>
            <a:r>
              <a:rPr/>
              <a:t>, un identifiant de patient un </a:t>
            </a:r>
            <a:r>
              <a:rPr>
                <a:latin typeface="Courier"/>
              </a:rPr>
              <a:t>str</a:t>
            </a:r>
            <a:r>
              <a:rPr/>
              <a:t>, une mesure que personne n’a prise est </a:t>
            </a:r>
            <a:r>
              <a:rPr>
                <a:latin typeface="Courier"/>
              </a:rPr>
              <a:t>None</a:t>
            </a:r>
            <a:r>
              <a:rPr/>
              <a:t>. Une Series de fréquences cardiaques est un </a:t>
            </a:r>
            <a:r>
              <a:rPr>
                <a:latin typeface="Courier"/>
              </a:rPr>
              <a:t>list</a:t>
            </a:r>
            <a:r>
              <a:rPr/>
              <a:t>, une tension artérielle un </a:t>
            </a:r>
            <a:r>
              <a:rPr>
                <a:latin typeface="Courier"/>
              </a:rPr>
              <a:t>tuple</a:t>
            </a:r>
            <a:r>
              <a:rPr/>
              <a:t>, un dossier patient un </a:t>
            </a:r>
            <a:r>
              <a:rPr>
                <a:latin typeface="Courier"/>
              </a:rPr>
              <a:t>dict</a:t>
            </a:r>
            <a:r>
              <a:rPr/>
              <a:t>, les différents médicaments présents dans un service un </a:t>
            </a:r>
            <a:r>
              <a:rPr>
                <a:latin typeface="Courier"/>
              </a:rPr>
              <a:t>set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Saisie dynamique : le label déplacé vers une nouvelle valeur, d’un nouveau type. Python a permis au réaffectation, mais il refuse toujours de mélanger des types qui n’ont aucun sens ensemble. Lisez le message d’erreur à haute voix avec eux. Les erreurs Python nomment les types impliqués, et apprendre à lire cette ligne représente la moitié du débogage.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int</a:t>
            </a:r>
            <a:r>
              <a:rPr/>
              <a:t> est exact et n’a pas de maximum : </a:t>
            </a:r>
            <a:r>
              <a:rPr>
                <a:latin typeface="Courier"/>
              </a:rPr>
              <a:t>2 ** 100</a:t>
            </a:r>
            <a:r>
              <a:rPr/>
              <a:t> fonctionne simplement, Python fait croître l’entier comme nécessaire. </a:t>
            </a:r>
            <a:r>
              <a:rPr>
                <a:latin typeface="Courier"/>
              </a:rPr>
              <a:t>float</a:t>
            </a:r>
            <a:r>
              <a:rPr/>
              <a:t> est une approximation sur 64 bits : environ 16 chiffres significatifs et un maximum proche de 1.8e308 (</a:t>
            </a:r>
            <a:r>
              <a:rPr>
                <a:latin typeface="Courier"/>
              </a:rPr>
              <a:t>2.0 ** 1024</a:t>
            </a:r>
            <a:r>
              <a:rPr/>
              <a:t> débordements). </a:t>
            </a:r>
            <a:r>
              <a:rPr>
                <a:latin typeface="Courier"/>
              </a:rPr>
              <a:t>0.1 + 0.2 != 0.3</a:t>
            </a:r>
            <a:r>
              <a:rPr/>
              <a:t> surprend tout le monde une fois. Ce n’est pas un bug Python : 0.1 n’a pas de valeur exacte forme binaire, exactement comme 1/3 n’a pas de forme décimale exacte. Chaque langue fait cela. La règle à retenir : comparer les floats avec </a:t>
            </a:r>
            <a:r>
              <a:rPr>
                <a:latin typeface="Courier"/>
              </a:rPr>
              <a:t>math.isclose</a:t>
            </a:r>
            <a:r>
              <a:rPr/>
              <a:t>, jamais avec </a:t>
            </a:r>
            <a:r>
              <a:rPr>
                <a:latin typeface="Courier"/>
              </a:rPr>
              <a:t>==</a:t>
            </a:r>
            <a:r>
              <a:rPr/>
              <a:t>. Une valeur de laboratoire le filtre écrit avec </a:t>
            </a:r>
            <a:r>
              <a:rPr>
                <a:latin typeface="Courier"/>
              </a:rPr>
              <a:t>==</a:t>
            </a:r>
            <a:r>
              <a:rPr/>
              <a:t> sur les floats supprimera silencieusement les lignes.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Celui à souligner : </a:t>
            </a:r>
            <a:r>
              <a:rPr>
                <a:latin typeface="Courier"/>
              </a:rPr>
              <a:t>/</a:t>
            </a:r>
            <a:r>
              <a:rPr/>
              <a:t> renvoie toujours un flottant, même pour </a:t>
            </a:r>
            <a:r>
              <a:rPr>
                <a:latin typeface="Courier"/>
              </a:rPr>
              <a:t>6 / 2</a:t>
            </a:r>
            <a:r>
              <a:rPr/>
              <a:t> (donne </a:t>
            </a:r>
            <a:r>
              <a:rPr>
                <a:latin typeface="Courier"/>
              </a:rPr>
              <a:t>3.0</a:t>
            </a:r>
            <a:r>
              <a:rPr/>
              <a:t>). </a:t>
            </a:r>
            <a:r>
              <a:rPr>
                <a:latin typeface="Courier"/>
              </a:rPr>
              <a:t>//</a:t>
            </a:r>
            <a:r>
              <a:rPr/>
              <a:t> et </a:t>
            </a:r>
            <a:r>
              <a:rPr>
                <a:latin typeface="Courier"/>
              </a:rPr>
              <a:t>%</a:t>
            </a:r>
            <a:r>
              <a:rPr/>
              <a:t> vont ensemble : “combien de groupes complets et ce qui reste”. Exemple : </a:t>
            </a:r>
            <a:r>
              <a:rPr>
                <a:latin typeface="Courier"/>
              </a:rPr>
              <a:t>minutes // 60</a:t>
            </a:r>
            <a:r>
              <a:rPr/>
              <a:t> et </a:t>
            </a:r>
            <a:r>
              <a:rPr>
                <a:latin typeface="Courier"/>
              </a:rPr>
              <a:t>minutes % 60</a:t>
            </a:r>
            <a:r>
              <a:rPr/>
              <a:t> transforment une durée de séjour en heures et minutes. </a:t>
            </a:r>
            <a:r>
              <a:rPr>
                <a:latin typeface="Courier"/>
              </a:rPr>
              <a:t>int(3.9)</a:t>
            </a:r>
            <a:r>
              <a:rPr/>
              <a:t> vaut 3 : </a:t>
            </a:r>
            <a:r>
              <a:rPr>
                <a:latin typeface="Courier"/>
              </a:rPr>
              <a:t>int</a:t>
            </a:r>
            <a:r>
              <a:rPr/>
              <a:t> est tronqué, il n’est pas arrondi. Utilisez </a:t>
            </a:r>
            <a:r>
              <a:rPr>
                <a:latin typeface="Courier"/>
              </a:rPr>
              <a:t>round</a:t>
            </a:r>
            <a:r>
              <a:rPr/>
              <a:t> lorsque vous voulez dire rond.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 comparaisons produisent des booléens, et les booléens sont ce que </a:t>
            </a:r>
            <a:r>
              <a:rPr>
                <a:latin typeface="Courier"/>
              </a:rPr>
              <a:t>if</a:t>
            </a:r>
            <a:r>
              <a:rPr/>
              <a:t> et les filtres consomment. La comparaison chaînée est une subtilité Python qui se lit comme des mathématiques ; la plupart des langues ont besoin </a:t>
            </a:r>
            <a:r>
              <a:rPr>
                <a:latin typeface="Courier"/>
              </a:rPr>
              <a:t>temp &gt;= 36.5 and temp &lt;= 37.5</a:t>
            </a:r>
            <a:r>
              <a:rPr/>
              <a:t>. </a:t>
            </a:r>
            <a:r>
              <a:rPr>
                <a:latin typeface="Courier"/>
              </a:rPr>
              <a:t>True + True == 2</a:t>
            </a:r>
            <a:r>
              <a:rPr/>
              <a:t> est une curiosité maintenant, mais il sera utile plus tard : </a:t>
            </a:r>
            <a:r>
              <a:rPr>
                <a:latin typeface="Courier"/>
              </a:rPr>
              <a:t>sum(fevers)</a:t>
            </a:r>
            <a:r>
              <a:rPr/>
              <a:t> compte le les patients ayant de la fièvre, et </a:t>
            </a:r>
            <a:r>
              <a:rPr>
                <a:latin typeface="Courier"/>
              </a:rPr>
              <a:t>mean</a:t>
            </a:r>
            <a:r>
              <a:rPr/>
              <a:t> d’une colonne booléenne est une proportion. Notez </a:t>
            </a:r>
            <a:r>
              <a:rPr>
                <a:latin typeface="Courier"/>
              </a:rPr>
              <a:t>=</a:t>
            </a:r>
            <a:r>
              <a:rPr/>
              <a:t> (attribuer) contre </a:t>
            </a:r>
            <a:r>
              <a:rPr>
                <a:latin typeface="Courier"/>
              </a:rPr>
              <a:t>==</a:t>
            </a:r>
            <a:r>
              <a:rPr/>
              <a:t> (comparer) : la faute de frappe la plus courante de la semaine.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N’importe quelle valeur peut être placée dans un </a:t>
            </a:r>
            <a:r>
              <a:rPr>
                <a:latin typeface="Courier"/>
              </a:rPr>
              <a:t>if</a:t>
            </a:r>
            <a:r>
              <a:rPr/>
              <a:t>. Zéro et vide sont faux, tout le reste est vrai. Cela donne un code court et idiomatique (</a:t>
            </a:r>
            <a:r>
              <a:rPr>
                <a:latin typeface="Courier"/>
              </a:rPr>
              <a:t>if heart_rates:</a:t>
            </a:r>
            <a:r>
              <a:rPr/>
              <a:t> au lieu de </a:t>
            </a:r>
            <a:r>
              <a:rPr>
                <a:latin typeface="Courier"/>
              </a:rPr>
              <a:t>if len(heart_rates) &gt; 0:</a:t>
            </a:r>
            <a:r>
              <a:rPr/>
              <a:t>), et un piège classique : la chaîne </a:t>
            </a:r>
            <a:r>
              <a:rPr>
                <a:latin typeface="Courier"/>
              </a:rPr>
              <a:t>"0"</a:t>
            </a:r>
            <a:r>
              <a:rPr/>
              <a:t> lue depuis un CSV est véridique, car c’est un chaîne non vide. Convertissez avant de tester.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chaîne est une séquence de caractères et les séquences partagent une grammaire d’indexation qu’elles sera réutilisé pour les listes, les tuples, les tableaux numpy et les pandas : les indices commencent à 0, les indices négatifs comptez à partir de la fin, et une tranche </a:t>
            </a:r>
            <a:r>
              <a:rPr>
                <a:latin typeface="Courier"/>
              </a:rPr>
              <a:t>[start:stop]</a:t>
            </a:r>
            <a:r>
              <a:rPr/>
              <a:t> exclut </a:t>
            </a:r>
            <a:r>
              <a:rPr>
                <a:latin typeface="Courier"/>
              </a:rPr>
              <a:t>stop</a:t>
            </a:r>
            <a:r>
              <a:rPr/>
              <a:t>. </a:t>
            </a:r>
            <a:r>
              <a:rPr>
                <a:latin typeface="Courier"/>
              </a:rPr>
              <a:t>name[:3]</a:t>
            </a:r>
            <a:r>
              <a:rPr/>
              <a:t> est « les trois premiers », </a:t>
            </a:r>
            <a:r>
              <a:rPr>
                <a:latin typeface="Courier"/>
              </a:rPr>
              <a:t>name[-1]</a:t>
            </a:r>
            <a:r>
              <a:rPr/>
              <a:t> « le dernier » : dites-les sous forme de phrases. Les chaînes sont immuables : vous ne modifiez jamais une chaîne, vous en construisez une nouvelle. C’est pourquoi chaque La méthode string renvoie un résultat au lieu de modifier la chaîne en place.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Cette diapositive est un nettoyage de données en miniature. Le texte libre d’un système hospitalier est livré avec espaces parasites, casse mixte et sauts de ligne ; </a:t>
            </a:r>
            <a:r>
              <a:rPr>
                <a:latin typeface="Courier"/>
              </a:rPr>
              <a:t>strip</a:t>
            </a:r>
            <a:r>
              <a:rPr/>
              <a:t>, </a:t>
            </a:r>
            <a:r>
              <a:rPr>
                <a:latin typeface="Courier"/>
              </a:rPr>
              <a:t>lower</a:t>
            </a:r>
            <a:r>
              <a:rPr/>
              <a:t> et </a:t>
            </a:r>
            <a:r>
              <a:rPr>
                <a:latin typeface="Courier"/>
              </a:rPr>
              <a:t>replace</a:t>
            </a:r>
            <a:r>
              <a:rPr/>
              <a:t> le normalisent de sorte que « diabète de type 2 » et « diabète de type 2 » comptent comme le même diagnostic. Chaîne de méthodes car chacune renvoie une nouvelle chaîne. Les f-strings sont le moyen de créer du texte à partir de valeurs : </a:t>
            </a:r>
            <a:r>
              <a:rPr>
                <a:latin typeface="Courier"/>
              </a:rPr>
              <a:t>{bmi:.2f}</a:t>
            </a:r>
            <a:r>
              <a:rPr/>
              <a:t> signifie “deux décimales”. Ils remplacent </a:t>
            </a:r>
            <a:r>
              <a:rPr>
                <a:latin typeface="Courier"/>
              </a:rPr>
              <a:t>"BMI: " + str(bmi)</a:t>
            </a:r>
            <a:r>
              <a:rPr/>
              <a:t>, qui est plus long et ne formate pas.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Tout ce qui est lu dans un fichier ou saisi par un utilisateur arrive sous forme de texte. </a:t>
            </a:r>
            <a:r>
              <a:rPr>
                <a:latin typeface="Courier"/>
              </a:rPr>
              <a:t>"54"</a:t>
            </a:r>
            <a:r>
              <a:rPr/>
              <a:t> n’est pas 54 jusqu’à ce que vous le convertissez et </a:t>
            </a:r>
            <a:r>
              <a:rPr>
                <a:latin typeface="Courier"/>
              </a:rPr>
              <a:t>"54" + 1</a:t>
            </a:r>
            <a:r>
              <a:rPr/>
              <a:t> échoue. Les conversions échouent bruyamment lorsque le texte ne correspond pas à ce que vous attendiez : </a:t>
            </a:r>
            <a:r>
              <a:rPr>
                <a:latin typeface="Courier"/>
              </a:rPr>
              <a:t>int("3.5")</a:t>
            </a:r>
            <a:r>
              <a:rPr/>
              <a:t> est un </a:t>
            </a:r>
            <a:r>
              <a:rPr>
                <a:latin typeface="Courier"/>
              </a:rPr>
              <a:t>ValueError</a:t>
            </a:r>
            <a:r>
              <a:rPr/>
              <a:t>, pas un 3 silencieux. C’est une fonctionnalité : une mauvaise ligne arrête le script au lieu de corrompre le résultat. </a:t>
            </a:r>
            <a:r>
              <a:rPr>
                <a:latin typeface="Courier"/>
              </a:rPr>
              <a:t>None</a:t>
            </a:r>
            <a:r>
              <a:rPr/>
              <a:t> est la « aucune valeur » de Python : le glucose qui n’a pas été mesuré. Ce n’est pas 0 (un glucose de 0 serait un patient mort). Testez-le avec </a:t>
            </a:r>
            <a:r>
              <a:rPr>
                <a:latin typeface="Courier"/>
              </a:rPr>
              <a:t>is None</a:t>
            </a:r>
            <a:r>
              <a:rPr/>
              <a:t>, pas </a:t>
            </a:r>
            <a:r>
              <a:rPr>
                <a:latin typeface="Courier"/>
              </a:rPr>
              <a:t>== None</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Trois questions décident quel conteneur utiliser. (1) Puis-je trouver des éléments par position ou par nom ? Position : liste ou tuple. Nom : dict. (2) Est-ce que ça va changer ? Une liste s’allonge à mesure que les mesures arrivent ; un tuple est un enregistrement fixe, comme (systolique, diastolique). (3) Les doublons sont-ils importants ? Un ensemble conserve chaque valeur une fois, ce qui correspond exactement à « la valeur distincte ». médicaments”. Syntaxe littérale : crochets pour les listes, parenthèses pour les tuples, accolades pour les dictionnaires et ensembles (les accolades avec </a:t>
            </a:r>
            <a:r>
              <a:rPr>
                <a:latin typeface="Courier"/>
              </a:rPr>
              <a:t>key: value</a:t>
            </a:r>
            <a:r>
              <a:rPr/>
              <a:t> paires forment un dict). Attention : </a:t>
            </a:r>
            <a:r>
              <a:rPr>
                <a:latin typeface="Courier"/>
              </a:rPr>
              <a:t>{}</a:t>
            </a:r>
            <a:r>
              <a:rPr/>
              <a:t> est un dict vide ; un l’ensemble vide est </a:t>
            </a:r>
            <a:r>
              <a:rPr>
                <a:latin typeface="Courier"/>
              </a:rPr>
              <a:t>set()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Même indexation et découpage que les chaînes : ils le savent déjà. La différence est qu’une liste peut changer sur place. </a:t>
            </a:r>
            <a:r>
              <a:rPr>
                <a:latin typeface="Courier"/>
              </a:rPr>
              <a:t>min</a:t>
            </a:r>
            <a:r>
              <a:rPr/>
              <a:t>, </a:t>
            </a:r>
            <a:r>
              <a:rPr>
                <a:latin typeface="Courier"/>
              </a:rPr>
              <a:t>max</a:t>
            </a:r>
            <a:r>
              <a:rPr/>
              <a:t>, </a:t>
            </a:r>
            <a:r>
              <a:rPr>
                <a:latin typeface="Courier"/>
              </a:rPr>
              <a:t>sum</a:t>
            </a:r>
            <a:r>
              <a:rPr/>
              <a:t> et </a:t>
            </a:r>
            <a:r>
              <a:rPr>
                <a:latin typeface="Courier"/>
              </a:rPr>
              <a:t>len</a:t>
            </a:r>
            <a:r>
              <a:rPr/>
              <a:t> fonctionnent sur n’importe quelle liste de nombres. La dernière ligne est une compréhension de liste : “l’heure, pour chaque heure en heart_rates, si hr &gt; 80”. Lisez-le dans cet ordre. C’est la manière Python de filtrer et de transformer, et c’est la forme de ce que feront les pandas sur une colonne entière. </a:t>
            </a:r>
            <a:r>
              <a:rPr>
                <a:latin typeface="Courier"/>
              </a:rPr>
              <a:t>sorted(x)</a:t>
            </a:r>
            <a:r>
              <a:rPr/>
              <a:t> renvoie une nouvelle liste triée ; </a:t>
            </a:r>
            <a:r>
              <a:rPr>
                <a:latin typeface="Courier"/>
              </a:rPr>
              <a:t>x.sort()</a:t>
            </a:r>
            <a:r>
              <a:rPr/>
              <a:t> trie sur place et renvoie </a:t>
            </a:r>
            <a:r>
              <a:rPr>
                <a:latin typeface="Courier"/>
              </a:rPr>
              <a:t>None</a:t>
            </a:r>
            <a:r>
              <a:rPr/>
              <a:t>. L’attribution du résultat de </a:t>
            </a:r>
            <a:r>
              <a:rPr>
                <a:latin typeface="Courier"/>
              </a:rPr>
              <a:t>.sort()</a:t>
            </a:r>
            <a:r>
              <a:rPr/>
              <a:t> est un bug classique.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Retour à la première image : </a:t>
            </a:r>
            <a:r>
              <a:rPr>
                <a:latin typeface="Courier"/>
              </a:rPr>
              <a:t>b = a</a:t>
            </a:r>
            <a:r>
              <a:rPr/>
              <a:t> colle une deuxième étiquette sur la même liste. Ce n’est pas le cas copie. L’ajout via </a:t>
            </a:r>
            <a:r>
              <a:rPr>
                <a:latin typeface="Courier"/>
              </a:rPr>
              <a:t>b</a:t>
            </a:r>
            <a:r>
              <a:rPr/>
              <a:t> est visible via </a:t>
            </a:r>
            <a:r>
              <a:rPr>
                <a:latin typeface="Courier"/>
              </a:rPr>
              <a:t>a</a:t>
            </a:r>
            <a:r>
              <a:rPr/>
              <a:t>, car il n’y a qu’une seule liste. Cela est important dès qu’ils transmettent une liste à une fonction ou prennent une “copie” d’une table à nettoyez-le. </a:t>
            </a:r>
            <a:r>
              <a:rPr>
                <a:latin typeface="Courier"/>
              </a:rPr>
              <a:t>.copy()</a:t>
            </a:r>
            <a:r>
              <a:rPr/>
              <a:t> (ou </a:t>
            </a:r>
            <a:r>
              <a:rPr>
                <a:latin typeface="Courier"/>
              </a:rPr>
              <a:t>list(a)</a:t>
            </a:r>
            <a:r>
              <a:rPr/>
              <a:t>, ou </a:t>
            </a:r>
            <a:r>
              <a:rPr>
                <a:latin typeface="Courier"/>
              </a:rPr>
              <a:t>a[:]</a:t>
            </a:r>
            <a:r>
              <a:rPr/>
              <a:t>) constitue une liste indépendante. Les chaînes, les nombres et les tuples sont immuables, leur partage est donc inoffensif : rien ne peut changez-les en place. Le piège n’existe que pour les valeurs mutables : listes, dicts, ensembles.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tuple est un groupe fixe de valeurs qui vont ensemble : une tension artérielle, une (ligne, col) coordonnée, une plage (min, max). Le point est fixe : personne ne peut changer la moitié d’un sang pression par accident. Au déballage, chaque pièce a un nom, et il est partout : </a:t>
            </a:r>
            <a:r>
              <a:rPr>
                <a:latin typeface="Courier"/>
              </a:rPr>
              <a:t>for key, value in d.items()</a:t>
            </a:r>
            <a:r>
              <a:rPr/>
              <a:t>, fonctions renvoyant plusieurs valeurs, l’idiome swap. Étant immuable, un tuple peut être une clé de dict ; une liste ne le peut pas.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dict mappe les clés aux valeurs : un enregistrement où chaque champ a un nom. </a:t>
            </a:r>
            <a:r>
              <a:rPr>
                <a:latin typeface="Courier"/>
              </a:rPr>
              <a:t>patient["age"]</a:t>
            </a:r>
            <a:r>
              <a:rPr/>
              <a:t> est plus clair que </a:t>
            </a:r>
            <a:r>
              <a:rPr>
                <a:latin typeface="Courier"/>
              </a:rPr>
              <a:t>patient[1]</a:t>
            </a:r>
            <a:r>
              <a:rPr/>
              <a:t> et reste correct lorsqu’un champ est ajouté. Les clés manquantes génèrent un </a:t>
            </a:r>
            <a:r>
              <a:rPr>
                <a:latin typeface="Courier"/>
              </a:rPr>
              <a:t>KeyError</a:t>
            </a:r>
            <a:r>
              <a:rPr/>
              <a:t>. Deux façons de gérer : testez d’abord avec </a:t>
            </a:r>
            <a:r>
              <a:rPr>
                <a:latin typeface="Courier"/>
              </a:rPr>
              <a:t>in</a:t>
            </a:r>
            <a:r>
              <a:rPr/>
              <a:t>, ou utilisez </a:t>
            </a:r>
            <a:r>
              <a:rPr>
                <a:latin typeface="Courier"/>
              </a:rPr>
              <a:t>.get</a:t>
            </a:r>
            <a:r>
              <a:rPr/>
              <a:t> avec un défaut. Préférez </a:t>
            </a:r>
            <a:r>
              <a:rPr>
                <a:latin typeface="Courier"/>
              </a:rPr>
              <a:t>.get</a:t>
            </a:r>
            <a:r>
              <a:rPr/>
              <a:t> lorsqu’un champ manquant est normal (le statut de fumeur l’est souvent). La recherche par clé est instantanée quelle que soit la taille du dict ; c’est pourquoi les dictées sont aussi utilisé pour compter les choses : </a:t>
            </a:r>
            <a:r>
              <a:rPr>
                <a:latin typeface="Courier"/>
              </a:rPr>
              <a:t>counts[d] = counts.get(d, 0) + 1</a:t>
            </a:r>
            <a:r>
              <a:rPr/>
              <a:t>. Boucle avec </a:t>
            </a:r>
            <a:r>
              <a:rPr>
                <a:latin typeface="Courier"/>
              </a:rPr>
              <a:t>for key, value in patient.items():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ensemble conserve chaque valeur une fois et n’a aucun ordre. La conversion d’une liste en un ensemble est la plus rapide manière de dédupliquer : </a:t>
            </a:r>
            <a:r>
              <a:rPr>
                <a:latin typeface="Courier"/>
              </a:rPr>
              <a:t>len(set(medications))</a:t>
            </a:r>
            <a:r>
              <a:rPr/>
              <a:t> est le nombre de médicaments distincts. Les opérateurs répondent directement aux questions cliniques : quels médicaments deux patients partagent-ils ? (</a:t>
            </a:r>
            <a:r>
              <a:rPr>
                <a:latin typeface="Courier"/>
              </a:rPr>
              <a:t>&amp;</a:t>
            </a:r>
            <a:r>
              <a:rPr/>
              <a:t>, contrôles d’interactions), quels médicaments apparaissent (</a:t>
            </a:r>
            <a:r>
              <a:rPr>
                <a:latin typeface="Courier"/>
              </a:rPr>
              <a:t>|</a:t>
            </a:r>
            <a:r>
              <a:rPr/>
              <a:t>), lesquels sont spécifiques à un (</a:t>
            </a:r>
            <a:r>
              <a:rPr>
                <a:latin typeface="Courier"/>
              </a:rPr>
              <a:t>-</a:t>
            </a:r>
            <a:r>
              <a:rPr/>
              <a:t>). </a:t>
            </a:r>
            <a:r>
              <a:rPr>
                <a:latin typeface="Courier"/>
              </a:rPr>
              <a:t>x in some_set</a:t>
            </a:r>
            <a:r>
              <a:rPr/>
              <a:t> est instantané, comme pour les touches de dictée.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 données réelles sont imbriquées : une liste de patients, chacun un dict, certains champs eux-mêmes sont des listes. C’est exactement la forme d’une exportation JSON, et de ce qu’un DataFrame pandas aplatit plus tard. Lisez le chemin d’accès une parenthèse à la fois, en indiquant le type à chaque étape : </a:t>
            </a:r>
            <a:r>
              <a:rPr>
                <a:latin typeface="Courier"/>
              </a:rPr>
              <a:t>patients</a:t>
            </a:r>
            <a:r>
              <a:rPr/>
              <a:t> est un list, </a:t>
            </a:r>
            <a:r>
              <a:rPr>
                <a:latin typeface="Courier"/>
              </a:rPr>
              <a:t>[2]</a:t>
            </a:r>
            <a:r>
              <a:rPr/>
              <a:t> donne un dict, </a:t>
            </a:r>
            <a:r>
              <a:rPr>
                <a:latin typeface="Courier"/>
              </a:rPr>
              <a:t>["diagnoses"]</a:t>
            </a:r>
            <a:r>
              <a:rPr/>
              <a:t> donne une liste, </a:t>
            </a:r>
            <a:r>
              <a:rPr>
                <a:latin typeface="Courier"/>
              </a:rPr>
              <a:t>[0]</a:t>
            </a:r>
            <a:r>
              <a:rPr/>
              <a:t> donne une str. Lorsqu’un accès échoue, imprimez le </a:t>
            </a:r>
            <a:r>
              <a:rPr>
                <a:latin typeface="Courier"/>
              </a:rPr>
              <a:t>type</a:t>
            </a:r>
            <a:r>
              <a:rPr/>
              <a:t> de la valeur intermédiaire : c’est presque toujours “Je pensais que c’était un dicté mais c’est une liste”.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liste d’un million de fréquences cardiaques correspond à un million d’objets Python distincts, chacun avec son propre tapez, dispersés dans la mémoire; la liste ne contient que des flèches. Chaque </a:t>
            </a:r>
            <a:r>
              <a:rPr>
                <a:latin typeface="Courier"/>
              </a:rPr>
              <a:t>+</a:t>
            </a:r>
            <a:r>
              <a:rPr/>
              <a:t> dans une boucle demande Python “de quel type s’agit-il ?” encore. Un tableau NumPy est un bloc contigu de nombres, tous du même type (le dtype). Le la boucle est ensuite exécutée par du code C compilé, qui ne demande jamais : c’est le panneau “Rapide” de Séance 0, rendue concrète. Le prix : un tableau ne contient qu’un seul type et a une taille fixe. Pour les chiffres, c’est le prix que vous voulez toujours payer. Mesurez-le vous-même dans le cahier avec </a:t>
            </a:r>
            <a:r>
              <a:rPr>
                <a:latin typeface="Courier"/>
              </a:rPr>
              <a:t>%timeit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Deux attributs décrivent chaque tableau, et ils sont la première chose à imprimer lorsque quelque chose ça va mal. </a:t>
            </a:r>
            <a:r>
              <a:rPr>
                <a:latin typeface="Courier"/>
              </a:rPr>
              <a:t>.shape</a:t>
            </a:r>
            <a:r>
              <a:rPr/>
              <a:t> est un tuple, la taille le long de chaque axe ; </a:t>
            </a:r>
            <a:r>
              <a:rPr>
                <a:latin typeface="Courier"/>
              </a:rPr>
              <a:t>.ndim</a:t>
            </a:r>
            <a:r>
              <a:rPr/>
              <a:t> est sa longueur. </a:t>
            </a:r>
            <a:r>
              <a:rPr>
                <a:latin typeface="Courier"/>
              </a:rPr>
              <a:t>.dtype</a:t>
            </a:r>
            <a:r>
              <a:rPr/>
              <a:t> est le type unique de chaque cellule. L’axe 0 représente les lignes (descendant), l’axe 1 les colonnes (traversant). Une table de 200 les patients par 3 mesures ont la forme </a:t>
            </a:r>
            <a:r>
              <a:rPr>
                <a:latin typeface="Courier"/>
              </a:rPr>
              <a:t>(200, 3)</a:t>
            </a:r>
            <a:r>
              <a:rPr/>
              <a:t>. Un flottant dans la liste et chaque cellule devient un flottant : le tableau sélectionne un type qui correspond chaque valeur. Une chaîne dans la liste créerait un tableau de chaînes et l’arithmétique s’arrête fonctionne, un symptôme classique d’une colonne CSV sale.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Python en a un </a:t>
            </a:r>
            <a:r>
              <a:rPr>
                <a:latin typeface="Courier"/>
              </a:rPr>
              <a:t>int</a:t>
            </a:r>
            <a:r>
              <a:rPr/>
              <a:t> et un </a:t>
            </a:r>
            <a:r>
              <a:rPr>
                <a:latin typeface="Courier"/>
              </a:rPr>
              <a:t>float</a:t>
            </a:r>
            <a:r>
              <a:rPr/>
              <a:t>. NumPy a une famille de chacun, avec une taille fixe en octets, car chaque cellule d’un tableau doit avoir la même taille pour que le bloc de mémoire soit travail. Le nombre dans le nom est le nombre de bits : </a:t>
            </a:r>
            <a:r>
              <a:rPr>
                <a:latin typeface="Courier"/>
              </a:rPr>
              <a:t>int16</a:t>
            </a:r>
            <a:r>
              <a:rPr/>
              <a:t> est 16 bits, 2 octets. </a:t>
            </a:r>
            <a:r>
              <a:rPr>
                <a:latin typeface="Courier"/>
              </a:rPr>
              <a:t>u</a:t>
            </a:r>
            <a:r>
              <a:rPr/>
              <a:t> signifie non signé (pas de valeurs négatives). Vous choisissez rarement : </a:t>
            </a:r>
            <a:r>
              <a:rPr>
                <a:latin typeface="Courier"/>
              </a:rPr>
              <a:t>np.array</a:t>
            </a:r>
            <a:r>
              <a:rPr/>
              <a:t> choisit </a:t>
            </a:r>
            <a:r>
              <a:rPr>
                <a:latin typeface="Courier"/>
              </a:rPr>
              <a:t>int64</a:t>
            </a:r>
            <a:r>
              <a:rPr/>
              <a:t> ou </a:t>
            </a:r>
            <a:r>
              <a:rPr>
                <a:latin typeface="Courier"/>
              </a:rPr>
              <a:t>float64</a:t>
            </a:r>
            <a:r>
              <a:rPr/>
              <a:t>. Mais les fichiers que vous lisez choisissent vous : un DICOM CT est généralement </a:t>
            </a:r>
            <a:r>
              <a:rPr>
                <a:latin typeface="Courier"/>
              </a:rPr>
              <a:t>int16</a:t>
            </a:r>
            <a:r>
              <a:rPr/>
              <a:t>, un PNG </a:t>
            </a:r>
            <a:r>
              <a:rPr>
                <a:latin typeface="Courier"/>
              </a:rPr>
              <a:t>uint8</a:t>
            </a:r>
            <a:r>
              <a:rPr/>
              <a:t>, un NIfTI souvent </a:t>
            </a:r>
            <a:r>
              <a:rPr>
                <a:latin typeface="Courier"/>
              </a:rPr>
              <a:t>float32</a:t>
            </a:r>
            <a:r>
              <a:rPr/>
              <a:t> et un profond modèle d’apprentissage </a:t>
            </a:r>
            <a:r>
              <a:rPr>
                <a:latin typeface="Courier"/>
              </a:rPr>
              <a:t>float32</a:t>
            </a:r>
            <a:r>
              <a:rPr/>
              <a:t> ou moins. Imprimez toujours </a:t>
            </a:r>
            <a:r>
              <a:rPr>
                <a:latin typeface="Courier"/>
              </a:rPr>
              <a:t>.dtype</a:t>
            </a:r>
            <a:r>
              <a:rPr/>
              <a:t> après le chargement des données.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flottant est une notation scientifique en binaire : un signe, un exposant (là où va le point : le plage) et une mantisse (les chiffres significatifs : la précision). Réduire de moitié la taille coûte aux deux. </a:t>
            </a:r>
            <a:r>
              <a:rPr>
                <a:latin typeface="Courier"/>
              </a:rPr>
              <a:t>float32</a:t>
            </a:r>
            <a:r>
              <a:rPr/>
              <a:t> conserve 7 chiffres, ce qui est suffisant pour toute mesure effectuée dans un hôpital. </a:t>
            </a:r>
            <a:r>
              <a:rPr>
                <a:latin typeface="Courier"/>
              </a:rPr>
              <a:t>float16</a:t>
            </a:r>
            <a:r>
              <a:rPr/>
              <a:t> conserve 3 chiffres et ne peut pas dépasser 65 504. </a:t>
            </a:r>
            <a:r>
              <a:rPr>
                <a:latin typeface="Courier"/>
              </a:rPr>
              <a:t>float8</a:t>
            </a:r>
            <a:r>
              <a:rPr/>
              <a:t> conserve environ un chiffre; il existe pour le deep learning sur les GPU récents (deux variantes : e4m3 pour la précision, e5m2 pour la gamme). NumPy lui-même s’arrête à </a:t>
            </a:r>
            <a:r>
              <a:rPr>
                <a:latin typeface="Courier"/>
              </a:rPr>
              <a:t>float16</a:t>
            </a:r>
            <a:r>
              <a:rPr/>
              <a:t> : </a:t>
            </a:r>
            <a:r>
              <a:rPr>
                <a:latin typeface="Courier"/>
              </a:rPr>
              <a:t>float8</a:t>
            </a:r>
            <a:r>
              <a:rPr/>
              <a:t> vient du package </a:t>
            </a:r>
            <a:r>
              <a:rPr>
                <a:latin typeface="Courier"/>
              </a:rPr>
              <a:t>ml_dtypes</a:t>
            </a:r>
            <a:r>
              <a:rPr/>
              <a:t> ou de </a:t>
            </a:r>
            <a:r>
              <a:rPr>
                <a:latin typeface="Courier"/>
              </a:rPr>
              <a:t>torch.float8_e4m3fn</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Chaque nombre sur cette diapositive a été calculé par numpy, et non saisi à la main. </a:t>
            </a:r>
            <a:r>
              <a:rPr>
                <a:latin typeface="Courier"/>
              </a:rPr>
              <a:t>float64</a:t>
            </a:r>
            <a:r>
              <a:rPr/>
              <a:t> et </a:t>
            </a:r>
            <a:r>
              <a:rPr>
                <a:latin typeface="Courier"/>
              </a:rPr>
              <a:t>float32</a:t>
            </a:r>
            <a:r>
              <a:rPr/>
              <a:t> s’accordent bien au-delà de ce que mesure un thermomètre. </a:t>
            </a:r>
            <a:r>
              <a:rPr>
                <a:latin typeface="Courier"/>
              </a:rPr>
              <a:t>float16</a:t>
            </a:r>
            <a:r>
              <a:rPr/>
              <a:t> démarre pour afficher : 38,40625 au lieu de 38,4, inoffensif pour une température, mais l’erreur croît avec la valeur (1000,4 devient 1000,5 : l’écart entre deux voisins float16 proches de 1000 est de 0,5). </a:t>
            </a:r>
            <a:r>
              <a:rPr>
                <a:latin typeface="Courier"/>
              </a:rPr>
              <a:t>float8</a:t>
            </a:r>
            <a:r>
              <a:rPr/>
              <a:t> transforme une fièvre de 38,4 °C en 40 °C et une numération plaquettaire de 1 000 en « pas un numéro”. Il s’agit d’un format pour les poids des réseaux neuronaux, qui tolèrent le bruit, pas pour données cliniques.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mémoire correspond aux octets par valeur multipliés par le nombre de valeurs. Un volume CT équivaut à 79 millions de voxels : 629 Mo en </a:t>
            </a:r>
            <a:r>
              <a:rPr>
                <a:latin typeface="Courier"/>
              </a:rPr>
              <a:t>float64</a:t>
            </a:r>
            <a:r>
              <a:rPr/>
              <a:t>, 315 Mo en </a:t>
            </a:r>
            <a:r>
              <a:rPr>
                <a:latin typeface="Courier"/>
              </a:rPr>
              <a:t>float32</a:t>
            </a:r>
            <a:r>
              <a:rPr/>
              <a:t>. Un lot de scans pour la formation ne tient pas sur un GPU en </a:t>
            </a:r>
            <a:r>
              <a:rPr>
                <a:latin typeface="Courier"/>
              </a:rPr>
              <a:t>float64</a:t>
            </a:r>
            <a:r>
              <a:rPr/>
              <a:t>. Moins d’octets signifie également plus rapide : plus de valeurs par transfert de mémoire et les GPU ont des matériel pour l’arithmétique 16 et 8 bits. C’est pourquoi le deep learning s’entraîne en </a:t>
            </a:r>
            <a:r>
              <a:rPr>
                <a:latin typeface="Courier"/>
              </a:rPr>
              <a:t>float32</a:t>
            </a:r>
            <a:r>
              <a:rPr/>
              <a:t> ou “précision mixte” (</a:t>
            </a:r>
            <a:r>
              <a:rPr>
                <a:latin typeface="Courier"/>
              </a:rPr>
              <a:t>float16</a:t>
            </a:r>
            <a:r>
              <a:rPr/>
              <a:t>/</a:t>
            </a:r>
            <a:r>
              <a:rPr>
                <a:latin typeface="Courier"/>
              </a:rPr>
              <a:t>bfloat16</a:t>
            </a:r>
            <a:r>
              <a:rPr/>
              <a:t> pour le gros, </a:t>
            </a:r>
            <a:r>
              <a:rPr>
                <a:latin typeface="Courier"/>
              </a:rPr>
              <a:t>float32</a:t>
            </a:r>
            <a:r>
              <a:rPr/>
              <a:t> là où cela compte), et fonctionne grands modèles en 8 bits ou moins. La règle pour ce cours : </a:t>
            </a:r>
            <a:r>
              <a:rPr>
                <a:latin typeface="Courier"/>
              </a:rPr>
              <a:t>float64</a:t>
            </a:r>
            <a:r>
              <a:rPr/>
              <a:t> pour les statistiques et les tableaux, </a:t>
            </a:r>
            <a:r>
              <a:rPr>
                <a:latin typeface="Courier"/>
              </a:rPr>
              <a:t>float32</a:t>
            </a:r>
            <a:r>
              <a:rPr/>
              <a:t> pour les images et des réseaux de neurones, plus petits seulement lorsqu’une bibliothèque le fait pour vous.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dtype=</a:t>
            </a:r>
            <a:r>
              <a:rPr/>
              <a:t> à la création, </a:t>
            </a:r>
            <a:r>
              <a:rPr>
                <a:latin typeface="Courier"/>
              </a:rPr>
              <a:t>.astype()</a:t>
            </a:r>
            <a:r>
              <a:rPr/>
              <a:t> pour convertir (il renvoie un nouveau tableau), </a:t>
            </a:r>
            <a:r>
              <a:rPr>
                <a:latin typeface="Courier"/>
              </a:rPr>
              <a:t>.nbytes</a:t>
            </a:r>
            <a:r>
              <a:rPr/>
              <a:t> pour le mémoire. Trois échecs silencieux, dont aucun ne génère d’erreur : (1) nombres entiers enroulés : 250 + 10 dans </a:t>
            </a:r>
            <a:r>
              <a:rPr>
                <a:latin typeface="Courier"/>
              </a:rPr>
              <a:t>uint8</a:t>
            </a:r>
            <a:r>
              <a:rPr/>
              <a:t> est 4. Typique lors du réglage de la luminosité d’une image; convertissez d’abord en un type plus grand. (2) </a:t>
            </a:r>
            <a:r>
              <a:rPr>
                <a:latin typeface="Courier"/>
              </a:rPr>
              <a:t>float16</a:t>
            </a:r>
            <a:r>
              <a:rPr/>
              <a:t> déborde jusqu’à </a:t>
            </a:r>
            <a:r>
              <a:rPr>
                <a:latin typeface="Courier"/>
              </a:rPr>
              <a:t>inf</a:t>
            </a:r>
            <a:r>
              <a:rPr/>
              <a:t> au-dessus de 65 504. (3) ajouter de nombreux petits nombres dans des décrochages de faible précision : à 256, le 0,1 suivant est inférieur à la moitié l’écart entre les voisins float16 (0,25), donc la somme cesse de croître. Accumuler dans </a:t>
            </a:r>
            <a:r>
              <a:rPr>
                <a:latin typeface="Courier"/>
              </a:rPr>
              <a:t>float32</a:t>
            </a:r>
            <a:r>
              <a:rPr/>
              <a:t> ou </a:t>
            </a:r>
            <a:r>
              <a:rPr>
                <a:latin typeface="Courier"/>
              </a:rPr>
              <a:t>float64</a:t>
            </a:r>
            <a:r>
              <a:rPr/>
              <a:t> (le </a:t>
            </a:r>
            <a:r>
              <a:rPr>
                <a:latin typeface="Courier"/>
              </a:rPr>
              <a:t>.sum()</a:t>
            </a:r>
            <a:r>
              <a:rPr/>
              <a:t> de numpy vous protège déjà mieux qu’un running totale, mais pas complètement).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np</a:t>
            </a:r>
            <a:r>
              <a:rPr/>
              <a:t> est l’alias universel ; chaque tutoriel, réponse et bibliothèque l’utilise. </a:t>
            </a:r>
            <a:r>
              <a:rPr>
                <a:latin typeface="Courier"/>
              </a:rPr>
              <a:t>arange</a:t>
            </a:r>
            <a:r>
              <a:rPr/>
              <a:t> fonctionne comme </a:t>
            </a:r>
            <a:r>
              <a:rPr>
                <a:latin typeface="Courier"/>
              </a:rPr>
              <a:t>range</a:t>
            </a:r>
            <a:r>
              <a:rPr/>
              <a:t> (fin exclue) ; </a:t>
            </a:r>
            <a:r>
              <a:rPr>
                <a:latin typeface="Courier"/>
              </a:rPr>
              <a:t>linspace</a:t>
            </a:r>
            <a:r>
              <a:rPr/>
              <a:t> prend un certain nombre de points et comprend la fin. </a:t>
            </a:r>
            <a:r>
              <a:rPr>
                <a:latin typeface="Courier"/>
              </a:rPr>
              <a:t>reshape</a:t>
            </a:r>
            <a:r>
              <a:rPr/>
              <a:t> réorganise sans copier, tant que les tailles correspondent : 12 valeurs ne peuvent pas devenir 5 x 2. Nombres aléatoires : utilisez toujours un générateur prédéfini, donc le même script donne le même résultat demain et sur la machine de votre collègue. C’est la reproductibilité à la plus petite échelle.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Même grammaire que les listes et les chaînes, avec un index par axe, séparé par une virgule : </a:t>
            </a:r>
            <a:r>
              <a:rPr>
                <a:latin typeface="Courier"/>
              </a:rPr>
              <a:t>y[row, col]</a:t>
            </a:r>
            <a:r>
              <a:rPr/>
              <a:t>. Un </a:t>
            </a:r>
            <a:r>
              <a:rPr>
                <a:latin typeface="Courier"/>
              </a:rPr>
              <a:t>:</a:t>
            </a:r>
            <a:r>
              <a:rPr/>
              <a:t> signifie à lui seul « tout le long de cet axe ». </a:t>
            </a:r>
            <a:r>
              <a:rPr>
                <a:latin typeface="Courier"/>
              </a:rPr>
              <a:t>y[1]</a:t>
            </a:r>
            <a:r>
              <a:rPr/>
              <a:t> est une ligne entière ; </a:t>
            </a:r>
            <a:r>
              <a:rPr>
                <a:latin typeface="Courier"/>
              </a:rPr>
              <a:t>y[:, 2]</a:t>
            </a:r>
            <a:r>
              <a:rPr/>
              <a:t> une colonne entière (ce que les listes de listes ne peuvent pas faire). Les tranches d’un tableau sont des vues, pas des copies : l’écriture dans </a:t>
            </a:r>
            <a:r>
              <a:rPr>
                <a:latin typeface="Courier"/>
              </a:rPr>
              <a:t>y[:2, :2]</a:t>
            </a:r>
            <a:r>
              <a:rPr/>
              <a:t> change </a:t>
            </a:r>
            <a:r>
              <a:rPr>
                <a:latin typeface="Courier"/>
              </a:rPr>
              <a:t>y</a:t>
            </a:r>
            <a:r>
              <a:rPr/>
              <a:t>. C’est l’alias de la section précédente à nouveau ; utilisez </a:t>
            </a:r>
            <a:r>
              <a:rPr>
                <a:latin typeface="Courier"/>
              </a:rPr>
              <a:t>.copy()</a:t>
            </a:r>
            <a:r>
              <a:rPr/>
              <a:t> lorsque vous voulez l’indépendance. L’affectation fonctionne sur des tranches entières : </a:t>
            </a:r>
            <a:r>
              <a:rPr>
                <a:latin typeface="Courier"/>
              </a:rPr>
              <a:t>t[:, 1] = 0</a:t>
            </a:r>
            <a:r>
              <a:rPr/>
              <a:t> définit une colonne à la fois.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Chaque opérateur arithmétique et chaque fonction mathématique </a:t>
            </a:r>
            <a:r>
              <a:rPr>
                <a:latin typeface="Courier"/>
              </a:rPr>
              <a:t>np.</a:t>
            </a:r>
            <a:r>
              <a:rPr/>
              <a:t> s’applique à chaque élément : ceci c’est la vectorisation, et c’est tout le style de numpy, pandas et torch. Si vous écrivez un </a:t>
            </a:r>
            <a:r>
              <a:rPr>
                <a:latin typeface="Courier"/>
              </a:rPr>
              <a:t>for</a:t>
            </a:r>
            <a:r>
              <a:rPr/>
              <a:t> boucle sur les éléments d’un tableau, il y a presque toujours une seule ligne à la place. Attention avec </a:t>
            </a:r>
            <a:r>
              <a:rPr>
                <a:latin typeface="Courier"/>
              </a:rPr>
              <a:t>*</a:t>
            </a:r>
            <a:r>
              <a:rPr/>
              <a:t> : sur les tableaux, il multiplie élément par élément. Le produit matriciel est </a:t>
            </a:r>
            <a:r>
              <a:rPr>
                <a:latin typeface="Courier"/>
              </a:rPr>
              <a:t>@</a:t>
            </a:r>
            <a:r>
              <a:rPr/>
              <a:t>. Comparez avec les listes : </a:t>
            </a:r>
            <a:r>
              <a:rPr>
                <a:latin typeface="Courier"/>
              </a:rPr>
              <a:t>[1, 2] * 2</a:t>
            </a:r>
            <a:r>
              <a:rPr/>
              <a:t> est </a:t>
            </a:r>
            <a:r>
              <a:rPr>
                <a:latin typeface="Courier"/>
              </a:rPr>
              <a:t>[1, 2, 1, 2]</a:t>
            </a:r>
            <a:r>
              <a:rPr/>
              <a:t> et </a:t>
            </a:r>
            <a:r>
              <a:rPr>
                <a:latin typeface="Courier"/>
              </a:rPr>
              <a:t>[1, 2] + [3]</a:t>
            </a:r>
            <a:r>
              <a:rPr/>
              <a:t> est concaténé. Même symbole, type différent, signification différente.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Lorsque les formes diffèrent, numpy étend le plus petit tableau le long de l’axe manquant, comme si il a été répété (il n’est pas réellement copié). </a:t>
            </a:r>
            <a:r>
              <a:rPr>
                <a:latin typeface="Courier"/>
              </a:rPr>
              <a:t>x + 10</a:t>
            </a:r>
            <a:r>
              <a:rPr/>
              <a:t> diffusait déjà : un scalaire étendu à chaque cellule. La règle : comparer les formes en partant de la droite ; chaque paire de tailles doit être égale, ou l’une d’elles doit être 1. </a:t>
            </a:r>
            <a:r>
              <a:rPr>
                <a:latin typeface="Courier"/>
              </a:rPr>
              <a:t>(3, 4)</a:t>
            </a:r>
            <a:r>
              <a:rPr/>
              <a:t> et </a:t>
            </a:r>
            <a:r>
              <a:rPr>
                <a:latin typeface="Courier"/>
              </a:rPr>
              <a:t>(4,)</a:t>
            </a:r>
            <a:r>
              <a:rPr/>
              <a:t> correspondent. </a:t>
            </a:r>
            <a:r>
              <a:rPr>
                <a:latin typeface="Courier"/>
              </a:rPr>
              <a:t>(3, 4)</a:t>
            </a:r>
            <a:r>
              <a:rPr/>
              <a:t> et </a:t>
            </a:r>
            <a:r>
              <a:rPr>
                <a:latin typeface="Courier"/>
              </a:rPr>
              <a:t>(3,)</a:t>
            </a:r>
            <a:r>
              <a:rPr/>
              <a:t> ne le font pas : pour ajouter une valeur par ligne, faites-en une colonne, formez </a:t>
            </a:r>
            <a:r>
              <a:rPr>
                <a:latin typeface="Courier"/>
              </a:rPr>
              <a:t>(3, 1)</a:t>
            </a:r>
            <a:r>
              <a:rPr/>
              <a:t>, avec </a:t>
            </a:r>
            <a:r>
              <a:rPr>
                <a:latin typeface="Courier"/>
              </a:rPr>
              <a:t>.reshape(3, 1)</a:t>
            </a:r>
            <a:r>
              <a:rPr/>
              <a:t> ou </a:t>
            </a:r>
            <a:r>
              <a:rPr>
                <a:latin typeface="Courier"/>
              </a:rPr>
              <a:t>v[:, None]</a:t>
            </a:r>
            <a:r>
              <a:rPr/>
              <a:t>. Utilisation typique : soustraire la moyenne de chaque colonne d’un tableau, sur une seule ligne.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sum</a:t>
            </a:r>
            <a:r>
              <a:rPr/>
              <a:t>, </a:t>
            </a:r>
            <a:r>
              <a:rPr>
                <a:latin typeface="Courier"/>
              </a:rPr>
              <a:t>mean</a:t>
            </a:r>
            <a:r>
              <a:rPr/>
              <a:t>, </a:t>
            </a:r>
            <a:r>
              <a:rPr>
                <a:latin typeface="Courier"/>
              </a:rPr>
              <a:t>std</a:t>
            </a:r>
            <a:r>
              <a:rPr/>
              <a:t>, </a:t>
            </a:r>
            <a:r>
              <a:rPr>
                <a:latin typeface="Courier"/>
              </a:rPr>
              <a:t>min</a:t>
            </a:r>
            <a:r>
              <a:rPr/>
              <a:t>, </a:t>
            </a:r>
            <a:r>
              <a:rPr>
                <a:latin typeface="Courier"/>
              </a:rPr>
              <a:t>max</a:t>
            </a:r>
            <a:r>
              <a:rPr/>
              <a:t>, </a:t>
            </a:r>
            <a:r>
              <a:rPr>
                <a:latin typeface="Courier"/>
              </a:rPr>
              <a:t>argmax</a:t>
            </a:r>
            <a:r>
              <a:rPr/>
              <a:t> prennent tous un </a:t>
            </a:r>
            <a:r>
              <a:rPr>
                <a:latin typeface="Courier"/>
              </a:rPr>
              <a:t>axis</a:t>
            </a:r>
            <a:r>
              <a:rPr/>
              <a:t>. Sans cela, ils réduisent l’ensemble du tableau à un seul numéro. La phrase qui met fin à la confusion : l’axe que vous nommez est celui qui disparaît. </a:t>
            </a:r>
            <a:r>
              <a:rPr>
                <a:latin typeface="Courier"/>
              </a:rPr>
              <a:t>axis=0</a:t>
            </a:r>
            <a:r>
              <a:rPr/>
              <a:t> réduit les lignes, vous obtenez donc une valeur par colonne : sur un patient x mesures tableau, la moyenne de chaque mesure. </a:t>
            </a:r>
            <a:r>
              <a:rPr>
                <a:latin typeface="Courier"/>
              </a:rPr>
              <a:t>axis=1</a:t>
            </a:r>
            <a:r>
              <a:rPr/>
              <a:t> donne une valeur par patient. Vérifiez à chaque fois la forme du résultat : </a:t>
            </a:r>
            <a:r>
              <a:rPr>
                <a:latin typeface="Courier"/>
              </a:rPr>
              <a:t>(4,)</a:t>
            </a:r>
            <a:r>
              <a:rPr/>
              <a:t> versus </a:t>
            </a:r>
            <a:r>
              <a:rPr>
                <a:latin typeface="Courier"/>
              </a:rPr>
              <a:t>(3,)</a:t>
            </a:r>
            <a:r>
              <a:rPr/>
              <a:t> vous indique lequel vous avez fait. La standardisation d’un tableau combine les deux slides : </a:t>
            </a:r>
            <a:r>
              <a:rPr>
                <a:latin typeface="Courier"/>
              </a:rPr>
              <a:t>(m - m.mean(axis=0)) / m.std(axis=0)</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comparaison sur un tableau donne un tableau de booléens de même forme : le masque. Indexation avec un masque garde les positions où c’est True ; le résultat est toujours 1D. C’est ainsi que vous filtrez sans boucle, et exactement comment les pandas filtrent les lignes plus tard (</a:t>
            </a:r>
            <a:r>
              <a:rPr>
                <a:latin typeface="Courier"/>
              </a:rPr>
              <a:t>df[df["bmi"] &gt;= 30]</a:t>
            </a:r>
            <a:r>
              <a:rPr/>
              <a:t>). Combinez les conditions avec </a:t>
            </a:r>
            <a:r>
              <a:rPr>
                <a:latin typeface="Courier"/>
              </a:rPr>
              <a:t>&amp;</a:t>
            </a:r>
            <a:r>
              <a:rPr/>
              <a:t> et </a:t>
            </a:r>
            <a:r>
              <a:rPr>
                <a:latin typeface="Courier"/>
              </a:rPr>
              <a:t>|</a:t>
            </a:r>
            <a:r>
              <a:rPr/>
              <a:t>, pas </a:t>
            </a:r>
            <a:r>
              <a:rPr>
                <a:latin typeface="Courier"/>
              </a:rPr>
              <a:t>and</a:t>
            </a:r>
            <a:r>
              <a:rPr/>
              <a:t> / </a:t>
            </a:r>
            <a:r>
              <a:rPr>
                <a:latin typeface="Courier"/>
              </a:rPr>
              <a:t>or</a:t>
            </a:r>
            <a:r>
              <a:rPr/>
              <a:t>, et mettez chaque condition entre parenthèses : </a:t>
            </a:r>
            <a:r>
              <a:rPr>
                <a:latin typeface="Courier"/>
              </a:rPr>
              <a:t>(bmi &gt;= 18.5) &amp; (bmi &lt; 25)</a:t>
            </a:r>
            <a:r>
              <a:rPr/>
              <a:t>. Oublier les parenthèses est l’erreur de la semaine. </a:t>
            </a:r>
            <a:r>
              <a:rPr>
                <a:latin typeface="Courier"/>
              </a:rPr>
              <a:t>np.where(cond, a, b)</a:t>
            </a:r>
            <a:r>
              <a:rPr/>
              <a:t> sélections parmi </a:t>
            </a:r>
            <a:r>
              <a:rPr>
                <a:latin typeface="Courier"/>
              </a:rPr>
              <a:t>a</a:t>
            </a:r>
            <a:r>
              <a:rPr/>
              <a:t> où True et parmi </a:t>
            </a:r>
            <a:r>
              <a:rPr>
                <a:latin typeface="Courier"/>
              </a:rPr>
              <a:t>b</a:t>
            </a:r>
            <a:r>
              <a:rPr/>
              <a:t> ailleurs, par ex. couper valeurs négatives à 0.</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mini cas d’usage du notebook : 200 patients simulés (seed 42), tailles et poids tirée des distributions normales. Une ligne calcule 200 IMC, avec diffusion entre deux tableaux de même forme. Une moyenne d’un masque est une fraction (21,5 % d’obèses ici). </a:t>
            </a:r>
            <a:r>
              <a:rPr>
                <a:latin typeface="Courier"/>
              </a:rPr>
              <a:t>digitize</a:t>
            </a:r>
            <a:r>
              <a:rPr/>
              <a:t> transforme une valeur en catégorie de les points de coupure, </a:t>
            </a:r>
            <a:r>
              <a:rPr>
                <a:latin typeface="Courier"/>
              </a:rPr>
              <a:t>bincount</a:t>
            </a:r>
            <a:r>
              <a:rPr/>
              <a:t> compte chaque catégorie. Comparez avec la liste des dictés de la section 4 : mêmes questions, pas de boucle, et il faudrait le même temps sur 200 000 patients. C’est pourquoi chaque bibliothèque de données est construite sur des tableaux.</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8.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9.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0.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1.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2.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3.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4.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15.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16.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17.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18.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19.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20.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Séance 1</a:t>
            </a:r>
            <a:br/>
            <a:r>
              <a:rPr/>
              <a:t>Types Python</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Santé numérique,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Semaine 1, cours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Variables et valeurs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Une variable est le nom d’une valeur</a:t>
            </a:r>
          </a:p>
        </p:txBody>
      </p:sp>
      <p:pic>
        <p:nvPicPr>
          <p:cNvPr descr="img/nam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Chaque valeur a un type</a:t>
            </a:r>
          </a:p>
        </p:txBody>
      </p:sp>
      <p:pic>
        <p:nvPicPr>
          <p:cNvPr descr="img/type_ma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Les noms peuvent changer de type</a:t>
            </a:r>
          </a:p>
        </p:txBody>
      </p:sp>
      <p:sp>
        <p:nvSpPr>
          <p:cNvPr id="3" name="Content Placeholder 2"/>
          <p:cNvSpPr>
            <a:spLocks noGrp="1"/>
          </p:cNvSpPr>
          <p:nvPr>
            <p:ph idx="1"/>
          </p:nvPr>
        </p:nvSpPr>
        <p:spPr/>
        <p:txBody>
          <a:bodyPr>
            <a:normAutofit/>
          </a:bodyPr>
          <a:lstStyle/>
          <a:p>
            <a:pPr lvl="0" indent="0">
              <a:buNone/>
            </a:pPr>
            <a:r>
              <a:rPr>
                <a:latin typeface="Courier"/>
              </a:rPr>
              <a:t>x </a:t>
            </a:r>
            <a:r>
              <a:rPr>
                <a:solidFill>
                  <a:srgbClr val="666666"/>
                </a:solidFill>
                <a:latin typeface="Courier"/>
              </a:rPr>
              <a:t>=</a:t>
            </a:r>
            <a:r>
              <a:rPr>
                <a:latin typeface="Courier"/>
              </a:rPr>
              <a:t> </a:t>
            </a:r>
            <a:r>
              <a:rPr>
                <a:solidFill>
                  <a:srgbClr val="40A070"/>
                </a:solidFill>
                <a:latin typeface="Courier"/>
              </a:rPr>
              <a:t>42</a:t>
            </a:r>
            <a:r>
              <a:rPr>
                <a:latin typeface="Courier"/>
              </a:rPr>
              <a:t>          </a:t>
            </a:r>
            <a:r>
              <a:rPr i="1">
                <a:solidFill>
                  <a:srgbClr val="60A0B0"/>
                </a:solidFill>
                <a:latin typeface="Courier"/>
              </a:rPr>
              <a:t># an int</a:t>
            </a:r>
            <a:br/>
            <a:r>
              <a:rPr>
                <a:latin typeface="Courier"/>
              </a:rPr>
              <a:t>x </a:t>
            </a:r>
            <a:r>
              <a:rPr>
                <a:solidFill>
                  <a:srgbClr val="666666"/>
                </a:solidFill>
                <a:latin typeface="Courier"/>
              </a:rPr>
              <a:t>=</a:t>
            </a:r>
            <a:r>
              <a:rPr>
                <a:latin typeface="Courier"/>
              </a:rPr>
              <a:t> </a:t>
            </a:r>
            <a:r>
              <a:rPr>
                <a:solidFill>
                  <a:srgbClr val="4070A0"/>
                </a:solidFill>
                <a:latin typeface="Courier"/>
              </a:rPr>
              <a:t>"42"</a:t>
            </a:r>
            <a:r>
              <a:rPr>
                <a:latin typeface="Courier"/>
              </a:rPr>
              <a:t>        </a:t>
            </a:r>
            <a:r>
              <a:rPr i="1">
                <a:solidFill>
                  <a:srgbClr val="60A0B0"/>
                </a:solidFill>
                <a:latin typeface="Courier"/>
              </a:rPr>
              <a:t># now a str</a:t>
            </a:r>
            <a:br/>
            <a:r>
              <a:rPr>
                <a:latin typeface="Courier"/>
              </a:rPr>
              <a:t>x </a:t>
            </a:r>
            <a:r>
              <a:rPr>
                <a:solidFill>
                  <a:srgbClr val="666666"/>
                </a:solidFill>
                <a:latin typeface="Courier"/>
              </a:rPr>
              <a:t>+</a:t>
            </a:r>
            <a:r>
              <a:rPr>
                <a:latin typeface="Courier"/>
              </a:rPr>
              <a:t> </a:t>
            </a:r>
            <a:r>
              <a:rPr>
                <a:solidFill>
                  <a:srgbClr val="40A070"/>
                </a:solidFill>
                <a:latin typeface="Courier"/>
              </a:rPr>
              <a:t>1</a:t>
            </a:r>
            <a:r>
              <a:rPr>
                <a:latin typeface="Courier"/>
              </a:rPr>
              <a:t>           </a:t>
            </a:r>
            <a:r>
              <a:rPr i="1">
                <a:solidFill>
                  <a:srgbClr val="60A0B0"/>
                </a:solidFill>
                <a:latin typeface="Courier"/>
              </a:rPr>
              <a:t># TypeError</a:t>
            </a:r>
            <a:br/>
            <a:r>
              <a:rPr>
                <a:solidFill>
                  <a:srgbClr val="008000"/>
                </a:solidFill>
                <a:latin typeface="Courier"/>
              </a:rPr>
              <a:t>int</a:t>
            </a:r>
            <a:r>
              <a:rPr>
                <a:latin typeface="Courier"/>
              </a:rPr>
              <a:t>(x) </a:t>
            </a:r>
            <a:r>
              <a:rPr>
                <a:solidFill>
                  <a:srgbClr val="666666"/>
                </a:solidFill>
                <a:latin typeface="Courier"/>
              </a:rPr>
              <a:t>+</a:t>
            </a:r>
            <a:r>
              <a:rPr>
                <a:latin typeface="Courier"/>
              </a:rPr>
              <a:t> </a:t>
            </a:r>
            <a:r>
              <a:rPr>
                <a:solidFill>
                  <a:srgbClr val="40A070"/>
                </a:solidFill>
                <a:latin typeface="Courier"/>
              </a:rPr>
              <a:t>1</a:t>
            </a:r>
            <a:r>
              <a:rPr>
                <a:latin typeface="Courier"/>
              </a:rPr>
              <a:t>      </a:t>
            </a:r>
            <a:r>
              <a:rPr i="1">
                <a:solidFill>
                  <a:srgbClr val="60A0B0"/>
                </a:solidFill>
                <a:latin typeface="Courier"/>
              </a:rPr>
              <a:t># 43</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Valeurs uniques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Numéros : </a:t>
            </a:r>
            <a:r>
              <a:rPr>
                <a:latin typeface="Courier"/>
              </a:rPr>
              <a:t>int</a:t>
            </a:r>
            <a:r>
              <a:rPr/>
              <a:t> et </a:t>
            </a:r>
            <a:r>
              <a:rPr>
                <a:latin typeface="Courier"/>
              </a:rPr>
              <a:t>float</a:t>
            </a:r>
          </a:p>
        </p:txBody>
      </p:sp>
      <p:pic>
        <p:nvPicPr>
          <p:cNvPr descr="img/number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Opérateurs arithmétiques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normAutofit/>
                    </a:bodyPr>
                    <a:lstStyle/>
                    <a:p>
                      <a:pPr lvl="0" indent="0" marL="0">
                        <a:buNone/>
                      </a:pPr>
                      <a:r>
                        <a:rPr/>
                        <a:t>Expressions</a:t>
                      </a:r>
                    </a:p>
                  </a:txBody>
                  <a:tcPr/>
                </a:tc>
                <a:tc>
                  <a:txBody>
                    <a:bodyPr>
                      <a:normAutofit/>
                    </a:bodyPr>
                    <a:lstStyle/>
                    <a:p>
                      <a:pPr lvl="0" indent="0" marL="0">
                        <a:buNone/>
                      </a:pPr>
                      <a:r>
                        <a:rPr/>
                        <a:t>Résultat</a:t>
                      </a:r>
                    </a:p>
                  </a:txBody>
                  <a:tcPr/>
                </a:tc>
                <a:tc>
                  <a:txBody>
                    <a:bodyPr>
                      <a:normAutofit/>
                    </a:bodyPr>
                    <a:lstStyle/>
                    <a:p>
                      <a:pPr lvl="0" indent="0" marL="0">
                        <a:buNone/>
                      </a:pPr>
                      <a:r>
                        <a:rPr/>
                        <a:t>Tapez</a:t>
                      </a:r>
                    </a:p>
                  </a:txBody>
                  <a:tcPr/>
                </a:tc>
              </a:tr>
              <a:tr h="0">
                <a:tc>
                  <a:txBody>
                    <a:bodyPr>
                      <a:normAutofit/>
                    </a:bodyPr>
                    <a:lstStyle/>
                    <a:p>
                      <a:pPr lvl="0" indent="0" marL="0">
                        <a:buNone/>
                      </a:pPr>
                      <a:r>
                        <a:rPr>
                          <a:latin typeface="Courier"/>
                        </a:rPr>
                        <a:t>7 + 2</a:t>
                      </a:r>
                      <a:r>
                        <a:rPr/>
                        <a:t>, </a:t>
                      </a:r>
                      <a:r>
                        <a:rPr>
                          <a:latin typeface="Courier"/>
                        </a:rPr>
                        <a:t>7 - 2</a:t>
                      </a:r>
                      <a:r>
                        <a:rPr/>
                        <a:t>, </a:t>
                      </a:r>
                      <a:r>
                        <a:rPr>
                          <a:latin typeface="Courier"/>
                        </a:rPr>
                        <a:t>7 * 2</a:t>
                      </a:r>
                    </a:p>
                  </a:txBody>
                </a:tc>
                <a:tc>
                  <a:txBody>
                    <a:bodyPr>
                      <a:normAutofit/>
                    </a:bodyPr>
                    <a:lstStyle/>
                    <a:p>
                      <a:pPr lvl="0" indent="0" marL="0">
                        <a:buNone/>
                      </a:pPr>
                      <a:r>
                        <a:rPr>
                          <a:latin typeface="Courier"/>
                        </a:rPr>
                        <a:t>9</a:t>
                      </a:r>
                      <a:r>
                        <a:rPr/>
                        <a:t>, </a:t>
                      </a:r>
                      <a:r>
                        <a:rPr>
                          <a:latin typeface="Courier"/>
                        </a:rPr>
                        <a:t>5</a:t>
                      </a:r>
                      <a:r>
                        <a:rPr/>
                        <a:t>, </a:t>
                      </a:r>
                      <a:r>
                        <a:rPr>
                          <a:latin typeface="Courier"/>
                        </a:rPr>
                        <a:t>14</a:t>
                      </a:r>
                    </a:p>
                  </a:txBody>
                </a:tc>
                <a:tc>
                  <a:txBody>
                    <a:bodyPr>
                      <a:normAutofit/>
                    </a:bodyPr>
                    <a:lstStyle/>
                    <a:p>
                      <a:pPr lvl="0" indent="0" marL="0">
                        <a:buNone/>
                      </a:pPr>
                      <a:r>
                        <a:rPr>
                          <a:latin typeface="Courier"/>
                        </a:rPr>
                        <a:t>int</a:t>
                      </a:r>
                    </a:p>
                  </a:txBody>
                </a:tc>
              </a:tr>
              <a:tr h="0">
                <a:tc>
                  <a:txBody>
                    <a:bodyPr>
                      <a:normAutofit/>
                    </a:bodyPr>
                    <a:lstStyle/>
                    <a:p>
                      <a:pPr lvl="0" indent="0" marL="0">
                        <a:buNone/>
                      </a:pPr>
                      <a:r>
                        <a:rPr>
                          <a:latin typeface="Courier"/>
                        </a:rPr>
                        <a:t>7 / 2</a:t>
                      </a:r>
                    </a:p>
                  </a:txBody>
                </a:tc>
                <a:tc>
                  <a:txBody>
                    <a:bodyPr>
                      <a:normAutofit/>
                    </a:bodyPr>
                    <a:lstStyle/>
                    <a:p>
                      <a:pPr lvl="0" indent="0" marL="0">
                        <a:buNone/>
                      </a:pPr>
                      <a:r>
                        <a:rPr>
                          <a:latin typeface="Courier"/>
                        </a:rPr>
                        <a:t>3.5</a:t>
                      </a:r>
                    </a:p>
                  </a:txBody>
                </a:tc>
                <a:tc>
                  <a:txBody>
                    <a:bodyPr>
                      <a:normAutofit/>
                    </a:bodyPr>
                    <a:lstStyle/>
                    <a:p>
                      <a:pPr lvl="0" indent="0" marL="0">
                        <a:buNone/>
                      </a:pPr>
                      <a:r>
                        <a:rPr>
                          <a:latin typeface="Courier"/>
                        </a:rPr>
                        <a:t>float</a:t>
                      </a:r>
                      <a:r>
                        <a:rPr/>
                        <a:t>, toujours</a:t>
                      </a:r>
                    </a:p>
                  </a:txBody>
                </a:tc>
              </a:tr>
              <a:tr h="0">
                <a:tc>
                  <a:txBody>
                    <a:bodyPr>
                      <a:normAutofit/>
                    </a:bodyPr>
                    <a:lstStyle/>
                    <a:p>
                      <a:pPr lvl="0" indent="0" marL="0">
                        <a:buNone/>
                      </a:pPr>
                      <a:r>
                        <a:rPr>
                          <a:latin typeface="Courier"/>
                        </a:rPr>
                        <a:t>7 // 2</a:t>
                      </a:r>
                    </a:p>
                  </a:txBody>
                </a:tc>
                <a:tc>
                  <a:txBody>
                    <a:bodyPr>
                      <a:normAutofit/>
                    </a:bodyPr>
                    <a:lstStyle/>
                    <a:p>
                      <a:pPr lvl="0" indent="0" marL="0">
                        <a:buNone/>
                      </a:pPr>
                      <a:r>
                        <a:rPr>
                          <a:latin typeface="Courier"/>
                        </a:rPr>
                        <a:t>3</a:t>
                      </a:r>
                    </a:p>
                  </a:txBody>
                </a:tc>
                <a:tc>
                  <a:txBody>
                    <a:bodyPr>
                      <a:normAutofit/>
                    </a:bodyPr>
                    <a:lstStyle/>
                    <a:p>
                      <a:pPr lvl="0" indent="0" marL="0">
                        <a:buNone/>
                      </a:pPr>
                      <a:r>
                        <a:rPr>
                          <a:latin typeface="Courier"/>
                        </a:rPr>
                        <a:t>int</a:t>
                      </a:r>
                      <a:r>
                        <a:rPr/>
                        <a:t> (division d’étage)</a:t>
                      </a:r>
                    </a:p>
                  </a:txBody>
                </a:tc>
              </a:tr>
              <a:tr h="0">
                <a:tc>
                  <a:txBody>
                    <a:bodyPr>
                      <a:normAutofit/>
                    </a:bodyPr>
                    <a:lstStyle/>
                    <a:p>
                      <a:pPr lvl="0" indent="0" marL="0">
                        <a:buNone/>
                      </a:pPr>
                      <a:r>
                        <a:rPr>
                          <a:latin typeface="Courier"/>
                        </a:rPr>
                        <a:t>7 % 2</a:t>
                      </a:r>
                    </a:p>
                  </a:txBody>
                </a:tc>
                <a:tc>
                  <a:txBody>
                    <a:bodyPr>
                      <a:normAutofit/>
                    </a:bodyPr>
                    <a:lstStyle/>
                    <a:p>
                      <a:pPr lvl="0" indent="0" marL="0">
                        <a:buNone/>
                      </a:pPr>
                      <a:r>
                        <a:rPr>
                          <a:latin typeface="Courier"/>
                        </a:rPr>
                        <a:t>1</a:t>
                      </a:r>
                    </a:p>
                  </a:txBody>
                </a:tc>
                <a:tc>
                  <a:txBody>
                    <a:bodyPr>
                      <a:normAutofit/>
                    </a:bodyPr>
                    <a:lstStyle/>
                    <a:p>
                      <a:pPr lvl="0" indent="0" marL="0">
                        <a:buNone/>
                      </a:pPr>
                      <a:r>
                        <a:rPr>
                          <a:latin typeface="Courier"/>
                        </a:rPr>
                        <a:t>int</a:t>
                      </a:r>
                      <a:r>
                        <a:rPr/>
                        <a:t> (reste)</a:t>
                      </a:r>
                    </a:p>
                  </a:txBody>
                </a:tc>
              </a:tr>
              <a:tr h="0">
                <a:tc>
                  <a:txBody>
                    <a:bodyPr>
                      <a:normAutofit/>
                    </a:bodyPr>
                    <a:lstStyle/>
                    <a:p>
                      <a:pPr lvl="0" indent="0" marL="0">
                        <a:buNone/>
                      </a:pPr>
                      <a:r>
                        <a:rPr>
                          <a:latin typeface="Courier"/>
                        </a:rPr>
                        <a:t>7 ** 2</a:t>
                      </a:r>
                    </a:p>
                  </a:txBody>
                </a:tc>
                <a:tc>
                  <a:txBody>
                    <a:bodyPr>
                      <a:normAutofit/>
                    </a:bodyPr>
                    <a:lstStyle/>
                    <a:p>
                      <a:pPr lvl="0" indent="0" marL="0">
                        <a:buNone/>
                      </a:pPr>
                      <a:r>
                        <a:rPr>
                          <a:latin typeface="Courier"/>
                        </a:rPr>
                        <a:t>49</a:t>
                      </a:r>
                    </a:p>
                  </a:txBody>
                </a:tc>
                <a:tc>
                  <a:txBody>
                    <a:bodyPr>
                      <a:normAutofit/>
                    </a:bodyPr>
                    <a:lstStyle/>
                    <a:p>
                      <a:pPr lvl="0" indent="0" marL="0">
                        <a:buNone/>
                      </a:pPr>
                      <a:r>
                        <a:rPr>
                          <a:latin typeface="Courier"/>
                        </a:rPr>
                        <a:t>int</a:t>
                      </a:r>
                      <a:r>
                        <a:rPr/>
                        <a:t> (puissance)</a:t>
                      </a:r>
                    </a:p>
                  </a:txBody>
                </a:tc>
              </a:tr>
              <a:tr h="0">
                <a:tc>
                  <a:txBody>
                    <a:bodyPr>
                      <a:normAutofit/>
                    </a:bodyPr>
                    <a:lstStyle/>
                    <a:p>
                      <a:pPr lvl="0" indent="0" marL="0">
                        <a:buNone/>
                      </a:pPr>
                      <a:r>
                        <a:rPr>
                          <a:latin typeface="Courier"/>
                        </a:rPr>
                        <a:t>round(3.14159, 2)</a:t>
                      </a:r>
                    </a:p>
                  </a:txBody>
                </a:tc>
                <a:tc>
                  <a:txBody>
                    <a:bodyPr>
                      <a:normAutofit/>
                    </a:bodyPr>
                    <a:lstStyle/>
                    <a:p>
                      <a:pPr lvl="0" indent="0" marL="0">
                        <a:buNone/>
                      </a:pPr>
                      <a:r>
                        <a:rPr>
                          <a:latin typeface="Courier"/>
                        </a:rPr>
                        <a:t>3.14</a:t>
                      </a:r>
                    </a:p>
                  </a:txBody>
                </a:tc>
                <a:tc>
                  <a:txBody>
                    <a:bodyPr>
                      <a:normAutofit/>
                    </a:bodyPr>
                    <a:lstStyle/>
                    <a:p>
                      <a:pPr lvl="0" indent="0" marL="0">
                        <a:buNone/>
                      </a:pPr>
                      <a:r>
                        <a:rPr>
                          <a:latin typeface="Courier"/>
                        </a:rPr>
                        <a:t>float</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Booléens et comparaisons</a:t>
            </a:r>
          </a:p>
        </p:txBody>
      </p:sp>
      <p:sp>
        <p:nvSpPr>
          <p:cNvPr id="3" name="Content Placeholder 2"/>
          <p:cNvSpPr>
            <a:spLocks noGrp="1"/>
          </p:cNvSpPr>
          <p:nvPr>
            <p:ph idx="1"/>
          </p:nvPr>
        </p:nvSpPr>
        <p:spPr/>
        <p:txBody>
          <a:bodyPr>
            <a:normAutofit/>
          </a:bodyPr>
          <a:lstStyle/>
          <a:p>
            <a:pPr lvl="0" indent="0">
              <a:buNone/>
            </a:pPr>
            <a:r>
              <a:rPr>
                <a:latin typeface="Courier"/>
              </a:rPr>
              <a:t>temp </a:t>
            </a:r>
            <a:r>
              <a:rPr>
                <a:solidFill>
                  <a:srgbClr val="666666"/>
                </a:solidFill>
                <a:latin typeface="Courier"/>
              </a:rPr>
              <a:t>=</a:t>
            </a:r>
            <a:r>
              <a:rPr>
                <a:latin typeface="Courier"/>
              </a:rPr>
              <a:t> </a:t>
            </a:r>
            <a:r>
              <a:rPr>
                <a:solidFill>
                  <a:srgbClr val="40A070"/>
                </a:solidFill>
                <a:latin typeface="Courier"/>
              </a:rPr>
              <a:t>38.4</a:t>
            </a:r>
            <a:br/>
            <a:br/>
            <a:r>
              <a:rPr>
                <a:solidFill>
                  <a:srgbClr val="40A070"/>
                </a:solidFill>
                <a:latin typeface="Courier"/>
              </a:rPr>
              <a:t>36.5</a:t>
            </a:r>
            <a:r>
              <a:rPr>
                <a:latin typeface="Courier"/>
              </a:rPr>
              <a:t> </a:t>
            </a:r>
            <a:r>
              <a:rPr>
                <a:solidFill>
                  <a:srgbClr val="666666"/>
                </a:solidFill>
                <a:latin typeface="Courier"/>
              </a:rPr>
              <a:t>&lt;=</a:t>
            </a:r>
            <a:r>
              <a:rPr>
                <a:latin typeface="Courier"/>
              </a:rPr>
              <a:t> temp </a:t>
            </a:r>
            <a:r>
              <a:rPr>
                <a:solidFill>
                  <a:srgbClr val="666666"/>
                </a:solidFill>
                <a:latin typeface="Courier"/>
              </a:rPr>
              <a:t>&lt;=</a:t>
            </a:r>
            <a:r>
              <a:rPr>
                <a:latin typeface="Courier"/>
              </a:rPr>
              <a:t> </a:t>
            </a:r>
            <a:r>
              <a:rPr>
                <a:solidFill>
                  <a:srgbClr val="40A070"/>
                </a:solidFill>
                <a:latin typeface="Courier"/>
              </a:rPr>
              <a:t>37.5</a:t>
            </a:r>
            <a:r>
              <a:rPr>
                <a:latin typeface="Courier"/>
              </a:rPr>
              <a:t>   </a:t>
            </a:r>
            <a:r>
              <a:rPr i="1">
                <a:solidFill>
                  <a:srgbClr val="60A0B0"/>
                </a:solidFill>
                <a:latin typeface="Courier"/>
              </a:rPr>
              <a:t># False</a:t>
            </a:r>
            <a:br/>
            <a:r>
              <a:rPr>
                <a:latin typeface="Courier"/>
              </a:rPr>
              <a:t>fever </a:t>
            </a:r>
            <a:r>
              <a:rPr>
                <a:solidFill>
                  <a:srgbClr val="666666"/>
                </a:solidFill>
                <a:latin typeface="Courier"/>
              </a:rPr>
              <a:t>=</a:t>
            </a:r>
            <a:r>
              <a:rPr>
                <a:latin typeface="Courier"/>
              </a:rPr>
              <a:t> temp </a:t>
            </a:r>
            <a:r>
              <a:rPr>
                <a:solidFill>
                  <a:srgbClr val="666666"/>
                </a:solidFill>
                <a:latin typeface="Courier"/>
              </a:rPr>
              <a:t>&gt;=</a:t>
            </a:r>
            <a:r>
              <a:rPr>
                <a:latin typeface="Courier"/>
              </a:rPr>
              <a:t> </a:t>
            </a:r>
            <a:r>
              <a:rPr>
                <a:solidFill>
                  <a:srgbClr val="40A070"/>
                </a:solidFill>
                <a:latin typeface="Courier"/>
              </a:rPr>
              <a:t>38</a:t>
            </a:r>
            <a:r>
              <a:rPr>
                <a:latin typeface="Courier"/>
              </a:rPr>
              <a:t>     </a:t>
            </a:r>
            <a:r>
              <a:rPr i="1">
                <a:solidFill>
                  <a:srgbClr val="60A0B0"/>
                </a:solidFill>
                <a:latin typeface="Courier"/>
              </a:rPr>
              <a:t># True</a:t>
            </a:r>
            <a:br/>
            <a:r>
              <a:rPr>
                <a:latin typeface="Courier"/>
              </a:rPr>
              <a:t>fever </a:t>
            </a:r>
            <a:r>
              <a:rPr b="1">
                <a:solidFill>
                  <a:srgbClr val="007020"/>
                </a:solidFill>
                <a:latin typeface="Courier"/>
              </a:rPr>
              <a:t>and</a:t>
            </a:r>
            <a:r>
              <a:rPr>
                <a:latin typeface="Courier"/>
              </a:rPr>
              <a:t> </a:t>
            </a:r>
            <a:r>
              <a:rPr b="1">
                <a:solidFill>
                  <a:srgbClr val="007020"/>
                </a:solidFill>
                <a:latin typeface="Courier"/>
              </a:rPr>
              <a:t>not</a:t>
            </a:r>
            <a:r>
              <a:rPr>
                <a:latin typeface="Courier"/>
              </a:rPr>
              <a:t> </a:t>
            </a:r>
            <a:r>
              <a:rPr>
                <a:solidFill>
                  <a:srgbClr val="19177C"/>
                </a:solidFill>
                <a:latin typeface="Courier"/>
              </a:rPr>
              <a:t>False</a:t>
            </a:r>
            <a:r>
              <a:rPr>
                <a:latin typeface="Courier"/>
              </a:rPr>
              <a:t>    </a:t>
            </a:r>
            <a:r>
              <a:rPr i="1">
                <a:solidFill>
                  <a:srgbClr val="60A0B0"/>
                </a:solidFill>
                <a:latin typeface="Courier"/>
              </a:rPr>
              <a:t># True</a:t>
            </a:r>
            <a:br/>
            <a:br/>
            <a:r>
              <a:rPr>
                <a:solidFill>
                  <a:srgbClr val="008000"/>
                </a:solidFill>
                <a:latin typeface="Courier"/>
              </a:rPr>
              <a:t>type</a:t>
            </a:r>
            <a:r>
              <a:rPr>
                <a:latin typeface="Courier"/>
              </a:rPr>
              <a:t>(fever)            </a:t>
            </a:r>
            <a:r>
              <a:rPr i="1">
                <a:solidFill>
                  <a:srgbClr val="60A0B0"/>
                </a:solidFill>
                <a:latin typeface="Courier"/>
              </a:rPr>
              <a:t># bool</a:t>
            </a:r>
            <a:br/>
            <a:r>
              <a:rPr>
                <a:solidFill>
                  <a:srgbClr val="19177C"/>
                </a:solidFill>
                <a:latin typeface="Courier"/>
              </a:rPr>
              <a:t>True</a:t>
            </a:r>
            <a:r>
              <a:rPr>
                <a:latin typeface="Courier"/>
              </a:rPr>
              <a:t> </a:t>
            </a:r>
            <a:r>
              <a:rPr>
                <a:solidFill>
                  <a:srgbClr val="666666"/>
                </a:solidFill>
                <a:latin typeface="Courier"/>
              </a:rPr>
              <a:t>+</a:t>
            </a:r>
            <a:r>
              <a:rPr>
                <a:latin typeface="Courier"/>
              </a:rPr>
              <a:t> </a:t>
            </a:r>
            <a:r>
              <a:rPr>
                <a:solidFill>
                  <a:srgbClr val="19177C"/>
                </a:solidFill>
                <a:latin typeface="Courier"/>
              </a:rPr>
              <a:t>True</a:t>
            </a:r>
            <a:r>
              <a:rPr>
                <a:latin typeface="Courier"/>
              </a:rPr>
              <a:t>            </a:t>
            </a:r>
            <a:r>
              <a:rPr i="1">
                <a:solidFill>
                  <a:srgbClr val="60A0B0"/>
                </a:solidFill>
                <a:latin typeface="Courier"/>
              </a:rPr>
              <a:t># 2</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Chaque valeur est vraie ou fausse</a:t>
            </a:r>
          </a:p>
        </p:txBody>
      </p:sp>
      <p:pic>
        <p:nvPicPr>
          <p:cNvPr descr="img/truth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Chaînes : </a:t>
            </a:r>
            <a:r>
              <a:rPr>
                <a:latin typeface="Courier"/>
              </a:rPr>
              <a:t>str</a:t>
            </a:r>
          </a:p>
        </p:txBody>
      </p:sp>
      <p:pic>
        <p:nvPicPr>
          <p:cNvPr descr="img/string_index.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Travailler avec du texte</a:t>
            </a:r>
          </a:p>
        </p:txBody>
      </p:sp>
      <p:sp>
        <p:nvSpPr>
          <p:cNvPr id="3" name="Content Placeholder 2"/>
          <p:cNvSpPr>
            <a:spLocks noGrp="1"/>
          </p:cNvSpPr>
          <p:nvPr>
            <p:ph idx="1"/>
          </p:nvPr>
        </p:nvSpPr>
        <p:spPr/>
        <p:txBody>
          <a:bodyPr>
            <a:normAutofit/>
          </a:bodyPr>
          <a:lstStyle/>
          <a:p>
            <a:pPr lvl="0" indent="0">
              <a:buNone/>
            </a:pPr>
            <a:r>
              <a:rPr>
                <a:latin typeface="Courier"/>
              </a:rPr>
              <a:t>raw </a:t>
            </a:r>
            <a:r>
              <a:rPr>
                <a:solidFill>
                  <a:srgbClr val="666666"/>
                </a:solidFill>
                <a:latin typeface="Courier"/>
              </a:rPr>
              <a:t>=</a:t>
            </a:r>
            <a:r>
              <a:rPr>
                <a:latin typeface="Courier"/>
              </a:rPr>
              <a:t> </a:t>
            </a:r>
            <a:r>
              <a:rPr>
                <a:solidFill>
                  <a:srgbClr val="4070A0"/>
                </a:solidFill>
                <a:latin typeface="Courier"/>
              </a:rPr>
              <a:t>"  Diabetes Type 2 \n"</a:t>
            </a:r>
            <a:br/>
            <a:r>
              <a:rPr>
                <a:latin typeface="Courier"/>
              </a:rPr>
              <a:t>raw.strip()       </a:t>
            </a:r>
            <a:r>
              <a:rPr i="1">
                <a:solidFill>
                  <a:srgbClr val="60A0B0"/>
                </a:solidFill>
                <a:latin typeface="Courier"/>
              </a:rPr>
              <a:t># "Diabetes Type 2"</a:t>
            </a:r>
            <a:br/>
            <a:r>
              <a:rPr>
                <a:latin typeface="Courier"/>
              </a:rPr>
              <a:t>raw.strip().lower().replace(</a:t>
            </a:r>
            <a:r>
              <a:rPr>
                <a:solidFill>
                  <a:srgbClr val="4070A0"/>
                </a:solidFill>
                <a:latin typeface="Courier"/>
              </a:rPr>
              <a:t>" "</a:t>
            </a:r>
            <a:r>
              <a:rPr>
                <a:latin typeface="Courier"/>
              </a:rPr>
              <a:t>, </a:t>
            </a:r>
            <a:r>
              <a:rPr>
                <a:solidFill>
                  <a:srgbClr val="4070A0"/>
                </a:solidFill>
                <a:latin typeface="Courier"/>
              </a:rPr>
              <a:t>"_"</a:t>
            </a:r>
            <a:r>
              <a:rPr>
                <a:latin typeface="Courier"/>
              </a:rPr>
              <a:t>)</a:t>
            </a:r>
            <a:br/>
            <a:r>
              <a:rPr>
                <a:latin typeface="Courier"/>
              </a:rPr>
              <a:t>                  </a:t>
            </a:r>
            <a:r>
              <a:rPr i="1">
                <a:solidFill>
                  <a:srgbClr val="60A0B0"/>
                </a:solidFill>
                <a:latin typeface="Courier"/>
              </a:rPr>
              <a:t># "diabetes_type_2"</a:t>
            </a:r>
            <a:br/>
            <a:r>
              <a:rPr i="1">
                <a:solidFill>
                  <a:srgbClr val="60A0B0"/>
                </a:solidFill>
                <a:latin typeface="Courier"/>
              </a:rPr>
              <a:t>"Ada Lovelace"</a:t>
            </a:r>
            <a:r>
              <a:rPr>
                <a:latin typeface="Courier"/>
              </a:rPr>
              <a:t>.split()</a:t>
            </a:r>
            <a:br/>
            <a:r>
              <a:rPr>
                <a:latin typeface="Courier"/>
              </a:rPr>
              <a:t>                  </a:t>
            </a:r>
            <a:r>
              <a:rPr i="1">
                <a:solidFill>
                  <a:srgbClr val="60A0B0"/>
                </a:solidFill>
                <a:latin typeface="Courier"/>
              </a:rPr>
              <a:t># ["Ada", "Lovelace"]</a:t>
            </a:r>
            <a:br/>
            <a:r>
              <a:rPr>
                <a:latin typeface="Courier"/>
              </a:rPr>
              <a:t>bmi </a:t>
            </a:r>
            <a:r>
              <a:rPr>
                <a:solidFill>
                  <a:srgbClr val="666666"/>
                </a:solidFill>
                <a:latin typeface="Courier"/>
              </a:rPr>
              <a:t>=</a:t>
            </a:r>
            <a:r>
              <a:rPr>
                <a:latin typeface="Courier"/>
              </a:rPr>
              <a:t> </a:t>
            </a:r>
            <a:r>
              <a:rPr>
                <a:solidFill>
                  <a:srgbClr val="40A070"/>
                </a:solidFill>
                <a:latin typeface="Courier"/>
              </a:rPr>
              <a:t>22.857142</a:t>
            </a:r>
            <a:br/>
            <a:r>
              <a:rPr>
                <a:solidFill>
                  <a:srgbClr val="BB6688"/>
                </a:solidFill>
                <a:latin typeface="Courier"/>
              </a:rPr>
              <a:t>f"BMI: </a:t>
            </a:r>
            <a:r>
              <a:rPr>
                <a:solidFill>
                  <a:srgbClr val="4070A0"/>
                </a:solidFill>
                <a:latin typeface="Courier"/>
              </a:rPr>
              <a:t>{</a:t>
            </a:r>
            <a:r>
              <a:rPr>
                <a:latin typeface="Courier"/>
              </a:rPr>
              <a:t>bmi</a:t>
            </a:r>
            <a:r>
              <a:rPr>
                <a:solidFill>
                  <a:srgbClr val="4070A0"/>
                </a:solidFill>
                <a:latin typeface="Courier"/>
              </a:rPr>
              <a:t>:.2f}</a:t>
            </a:r>
            <a:r>
              <a:rPr>
                <a:solidFill>
                  <a:srgbClr val="BB6688"/>
                </a:solidFill>
                <a:latin typeface="Courier"/>
              </a:rPr>
              <a:t>"</a:t>
            </a:r>
            <a:r>
              <a:rPr>
                <a:latin typeface="Courier"/>
              </a:rPr>
              <a:t> </a:t>
            </a:r>
            <a:r>
              <a:rPr i="1">
                <a:solidFill>
                  <a:srgbClr val="60A0B0"/>
                </a:solidFill>
                <a:latin typeface="Courier"/>
              </a:rPr>
              <a:t># "BMI: 22.86"</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Conversions et </a:t>
            </a:r>
            <a:r>
              <a:rPr>
                <a:latin typeface="Courier"/>
              </a:rPr>
              <a:t>None</a:t>
            </a:r>
          </a:p>
        </p:txBody>
      </p:sp>
      <p:pic>
        <p:nvPicPr>
          <p:cNvPr descr="img/conversion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Conteneurs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Quatre conteneurs</a:t>
            </a:r>
          </a:p>
        </p:txBody>
      </p:sp>
      <p:pic>
        <p:nvPicPr>
          <p:cNvPr descr="img/container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Listes : </a:t>
            </a:r>
            <a:r>
              <a:rPr>
                <a:latin typeface="Courier"/>
              </a:rPr>
              <a:t>list</a:t>
            </a:r>
          </a:p>
        </p:txBody>
      </p:sp>
      <p:sp>
        <p:nvSpPr>
          <p:cNvPr id="3" name="Content Placeholder 2"/>
          <p:cNvSpPr>
            <a:spLocks noGrp="1"/>
          </p:cNvSpPr>
          <p:nvPr>
            <p:ph idx="1"/>
          </p:nvPr>
        </p:nvSpPr>
        <p:spPr/>
        <p:txBody>
          <a:bodyPr>
            <a:normAutofit/>
          </a:bodyPr>
          <a:lstStyle/>
          <a:p>
            <a:pPr lvl="0" indent="0">
              <a:buNone/>
            </a:pPr>
            <a:r>
              <a:rPr>
                <a:latin typeface="Courier"/>
              </a:rPr>
              <a:t>heart_rates </a:t>
            </a:r>
            <a:r>
              <a:rPr>
                <a:solidFill>
                  <a:srgbClr val="666666"/>
                </a:solidFill>
                <a:latin typeface="Courier"/>
              </a:rPr>
              <a:t>=</a:t>
            </a:r>
            <a:r>
              <a:rPr>
                <a:latin typeface="Courier"/>
              </a:rPr>
              <a:t> [</a:t>
            </a:r>
            <a:r>
              <a:rPr>
                <a:solidFill>
                  <a:srgbClr val="40A070"/>
                </a:solidFill>
                <a:latin typeface="Courier"/>
              </a:rPr>
              <a:t>72</a:t>
            </a:r>
            <a:r>
              <a:rPr>
                <a:latin typeface="Courier"/>
              </a:rPr>
              <a:t>, </a:t>
            </a:r>
            <a:r>
              <a:rPr>
                <a:solidFill>
                  <a:srgbClr val="40A070"/>
                </a:solidFill>
                <a:latin typeface="Courier"/>
              </a:rPr>
              <a:t>85</a:t>
            </a:r>
            <a:r>
              <a:rPr>
                <a:latin typeface="Courier"/>
              </a:rPr>
              <a:t>, </a:t>
            </a:r>
            <a:r>
              <a:rPr>
                <a:solidFill>
                  <a:srgbClr val="40A070"/>
                </a:solidFill>
                <a:latin typeface="Courier"/>
              </a:rPr>
              <a:t>64</a:t>
            </a:r>
            <a:r>
              <a:rPr>
                <a:latin typeface="Courier"/>
              </a:rPr>
              <a:t>, </a:t>
            </a:r>
            <a:r>
              <a:rPr>
                <a:solidFill>
                  <a:srgbClr val="40A070"/>
                </a:solidFill>
                <a:latin typeface="Courier"/>
              </a:rPr>
              <a:t>90</a:t>
            </a:r>
            <a:r>
              <a:rPr>
                <a:latin typeface="Courier"/>
              </a:rPr>
              <a:t>, </a:t>
            </a:r>
            <a:r>
              <a:rPr>
                <a:solidFill>
                  <a:srgbClr val="40A070"/>
                </a:solidFill>
                <a:latin typeface="Courier"/>
              </a:rPr>
              <a:t>78</a:t>
            </a:r>
            <a:r>
              <a:rPr>
                <a:latin typeface="Courier"/>
              </a:rPr>
              <a:t>]</a:t>
            </a:r>
            <a:br/>
            <a:r>
              <a:rPr>
                <a:latin typeface="Courier"/>
              </a:rPr>
              <a:t>heart_rates[</a:t>
            </a:r>
            <a:r>
              <a:rPr>
                <a:solidFill>
                  <a:srgbClr val="40A070"/>
                </a:solidFill>
                <a:latin typeface="Courier"/>
              </a:rPr>
              <a:t>0</a:t>
            </a:r>
            <a:r>
              <a:rPr>
                <a:latin typeface="Courier"/>
              </a:rPr>
              <a:t>]       </a:t>
            </a:r>
            <a:r>
              <a:rPr i="1">
                <a:solidFill>
                  <a:srgbClr val="60A0B0"/>
                </a:solidFill>
                <a:latin typeface="Courier"/>
              </a:rPr>
              <a:t># 72</a:t>
            </a:r>
            <a:br/>
            <a:r>
              <a:rPr>
                <a:latin typeface="Courier"/>
              </a:rPr>
              <a:t>heart_rates[</a:t>
            </a:r>
            <a:r>
              <a:rPr>
                <a:solidFill>
                  <a:srgbClr val="40A070"/>
                </a:solidFill>
                <a:latin typeface="Courier"/>
              </a:rPr>
              <a:t>1</a:t>
            </a:r>
            <a:r>
              <a:rPr>
                <a:latin typeface="Courier"/>
              </a:rPr>
              <a:t>:</a:t>
            </a:r>
            <a:r>
              <a:rPr>
                <a:solidFill>
                  <a:srgbClr val="40A070"/>
                </a:solidFill>
                <a:latin typeface="Courier"/>
              </a:rPr>
              <a:t>4</a:t>
            </a:r>
            <a:r>
              <a:rPr>
                <a:latin typeface="Courier"/>
              </a:rPr>
              <a:t>]     </a:t>
            </a:r>
            <a:r>
              <a:rPr i="1">
                <a:solidFill>
                  <a:srgbClr val="60A0B0"/>
                </a:solidFill>
                <a:latin typeface="Courier"/>
              </a:rPr>
              <a:t># [85, 64, 90]</a:t>
            </a:r>
            <a:br/>
            <a:br/>
            <a:r>
              <a:rPr>
                <a:latin typeface="Courier"/>
              </a:rPr>
              <a:t>heart_rates.append(</a:t>
            </a:r>
            <a:r>
              <a:rPr>
                <a:solidFill>
                  <a:srgbClr val="40A070"/>
                </a:solidFill>
                <a:latin typeface="Courier"/>
              </a:rPr>
              <a:t>101</a:t>
            </a:r>
            <a:r>
              <a:rPr>
                <a:latin typeface="Courier"/>
              </a:rPr>
              <a:t>)   </a:t>
            </a:r>
            <a:r>
              <a:rPr i="1">
                <a:solidFill>
                  <a:srgbClr val="60A0B0"/>
                </a:solidFill>
                <a:latin typeface="Courier"/>
              </a:rPr>
              <a:t># at the end</a:t>
            </a:r>
            <a:br/>
            <a:r>
              <a:rPr>
                <a:latin typeface="Courier"/>
              </a:rPr>
              <a:t>heart_rates[</a:t>
            </a:r>
            <a:r>
              <a:rPr>
                <a:solidFill>
                  <a:srgbClr val="40A070"/>
                </a:solidFill>
                <a:latin typeface="Courier"/>
              </a:rPr>
              <a:t>1</a:t>
            </a:r>
            <a:r>
              <a:rPr>
                <a:latin typeface="Courier"/>
              </a:rPr>
              <a:t>] </a:t>
            </a:r>
            <a:r>
              <a:rPr>
                <a:solidFill>
                  <a:srgbClr val="666666"/>
                </a:solidFill>
                <a:latin typeface="Courier"/>
              </a:rPr>
              <a:t>=</a:t>
            </a:r>
            <a:r>
              <a:rPr>
                <a:latin typeface="Courier"/>
              </a:rPr>
              <a:t> </a:t>
            </a:r>
            <a:r>
              <a:rPr>
                <a:solidFill>
                  <a:srgbClr val="40A070"/>
                </a:solidFill>
                <a:latin typeface="Courier"/>
              </a:rPr>
              <a:t>80</a:t>
            </a:r>
            <a:r>
              <a:rPr>
                <a:latin typeface="Courier"/>
              </a:rPr>
              <a:t>       </a:t>
            </a:r>
            <a:r>
              <a:rPr i="1">
                <a:solidFill>
                  <a:srgbClr val="60A0B0"/>
                </a:solidFill>
                <a:latin typeface="Courier"/>
              </a:rPr>
              <a:t># by position</a:t>
            </a:r>
            <a:br/>
            <a:r>
              <a:rPr>
                <a:latin typeface="Courier"/>
              </a:rPr>
              <a:t>heart_rates.remove(</a:t>
            </a:r>
            <a:r>
              <a:rPr>
                <a:solidFill>
                  <a:srgbClr val="40A070"/>
                </a:solidFill>
                <a:latin typeface="Courier"/>
              </a:rPr>
              <a:t>64</a:t>
            </a:r>
            <a:r>
              <a:rPr>
                <a:latin typeface="Courier"/>
              </a:rPr>
              <a:t>)    </a:t>
            </a:r>
            <a:r>
              <a:rPr i="1">
                <a:solidFill>
                  <a:srgbClr val="60A0B0"/>
                </a:solidFill>
                <a:latin typeface="Courier"/>
              </a:rPr>
              <a:t># by value</a:t>
            </a:r>
            <a:br/>
            <a:br/>
            <a:r>
              <a:rPr>
                <a:solidFill>
                  <a:srgbClr val="008000"/>
                </a:solidFill>
                <a:latin typeface="Courier"/>
              </a:rPr>
              <a:t>sum</a:t>
            </a:r>
            <a:r>
              <a:rPr>
                <a:latin typeface="Courier"/>
              </a:rPr>
              <a:t>(heart_rates) </a:t>
            </a:r>
            <a:r>
              <a:rPr>
                <a:solidFill>
                  <a:srgbClr val="666666"/>
                </a:solidFill>
                <a:latin typeface="Courier"/>
              </a:rPr>
              <a:t>/</a:t>
            </a:r>
            <a:r>
              <a:rPr>
                <a:latin typeface="Courier"/>
              </a:rPr>
              <a:t> </a:t>
            </a:r>
            <a:r>
              <a:rPr>
                <a:solidFill>
                  <a:srgbClr val="008000"/>
                </a:solidFill>
                <a:latin typeface="Courier"/>
              </a:rPr>
              <a:t>len</a:t>
            </a:r>
            <a:r>
              <a:rPr>
                <a:latin typeface="Courier"/>
              </a:rPr>
              <a:t>(heart_rates)</a:t>
            </a:r>
            <a:br/>
            <a:r>
              <a:rPr>
                <a:latin typeface="Courier"/>
              </a:rPr>
              <a:t>[hr </a:t>
            </a:r>
            <a:r>
              <a:rPr b="1">
                <a:solidFill>
                  <a:srgbClr val="007020"/>
                </a:solidFill>
                <a:latin typeface="Courier"/>
              </a:rPr>
              <a:t>for</a:t>
            </a:r>
            <a:r>
              <a:rPr>
                <a:latin typeface="Courier"/>
              </a:rPr>
              <a:t> hr </a:t>
            </a:r>
            <a:r>
              <a:rPr b="1">
                <a:solidFill>
                  <a:srgbClr val="007020"/>
                </a:solidFill>
                <a:latin typeface="Courier"/>
              </a:rPr>
              <a:t>in</a:t>
            </a:r>
            <a:r>
              <a:rPr>
                <a:latin typeface="Courier"/>
              </a:rPr>
              <a:t> heart_rates </a:t>
            </a:r>
            <a:r>
              <a:rPr b="1">
                <a:solidFill>
                  <a:srgbClr val="007020"/>
                </a:solidFill>
                <a:latin typeface="Courier"/>
              </a:rPr>
              <a:t>if</a:t>
            </a:r>
            <a:r>
              <a:rPr>
                <a:latin typeface="Courier"/>
              </a:rPr>
              <a:t> hr </a:t>
            </a:r>
            <a:r>
              <a:rPr>
                <a:solidFill>
                  <a:srgbClr val="666666"/>
                </a:solidFill>
                <a:latin typeface="Courier"/>
              </a:rPr>
              <a:t>&gt;</a:t>
            </a:r>
            <a:r>
              <a:rPr>
                <a:latin typeface="Courier"/>
              </a:rPr>
              <a:t> </a:t>
            </a:r>
            <a:r>
              <a:rPr>
                <a:solidFill>
                  <a:srgbClr val="40A070"/>
                </a:solidFill>
                <a:latin typeface="Courier"/>
              </a:rPr>
              <a:t>80</a:t>
            </a:r>
            <a:r>
              <a:rPr>
                <a:latin typeface="Courie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Deux noms, une liste</a:t>
            </a:r>
          </a:p>
        </p:txBody>
      </p:sp>
      <p:pic>
        <p:nvPicPr>
          <p:cNvPr descr="img/alias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Tuples : </a:t>
            </a:r>
            <a:r>
              <a:rPr>
                <a:latin typeface="Courier"/>
              </a:rPr>
              <a:t>tuple</a:t>
            </a:r>
          </a:p>
        </p:txBody>
      </p:sp>
      <p:sp>
        <p:nvSpPr>
          <p:cNvPr id="3" name="Content Placeholder 2"/>
          <p:cNvSpPr>
            <a:spLocks noGrp="1"/>
          </p:cNvSpPr>
          <p:nvPr>
            <p:ph idx="1"/>
          </p:nvPr>
        </p:nvSpPr>
        <p:spPr/>
        <p:txBody>
          <a:bodyPr>
            <a:normAutofit/>
          </a:bodyPr>
          <a:lstStyle/>
          <a:p>
            <a:pPr lvl="0" indent="0">
              <a:buNone/>
            </a:pPr>
            <a:r>
              <a:rPr>
                <a:latin typeface="Courier"/>
              </a:rPr>
              <a:t>blood_pressure </a:t>
            </a:r>
            <a:r>
              <a:rPr>
                <a:solidFill>
                  <a:srgbClr val="666666"/>
                </a:solidFill>
                <a:latin typeface="Courier"/>
              </a:rPr>
              <a:t>=</a:t>
            </a:r>
            <a:r>
              <a:rPr>
                <a:latin typeface="Courier"/>
              </a:rPr>
              <a:t> (</a:t>
            </a:r>
            <a:r>
              <a:rPr>
                <a:solidFill>
                  <a:srgbClr val="40A070"/>
                </a:solidFill>
                <a:latin typeface="Courier"/>
              </a:rPr>
              <a:t>120</a:t>
            </a:r>
            <a:r>
              <a:rPr>
                <a:latin typeface="Courier"/>
              </a:rPr>
              <a:t>, </a:t>
            </a:r>
            <a:r>
              <a:rPr>
                <a:solidFill>
                  <a:srgbClr val="40A070"/>
                </a:solidFill>
                <a:latin typeface="Courier"/>
              </a:rPr>
              <a:t>80</a:t>
            </a:r>
            <a:r>
              <a:rPr>
                <a:latin typeface="Courier"/>
              </a:rPr>
              <a:t>)</a:t>
            </a:r>
            <a:br/>
            <a:r>
              <a:rPr>
                <a:latin typeface="Courier"/>
              </a:rPr>
              <a:t>systolic, diastolic </a:t>
            </a:r>
            <a:r>
              <a:rPr>
                <a:solidFill>
                  <a:srgbClr val="666666"/>
                </a:solidFill>
                <a:latin typeface="Courier"/>
              </a:rPr>
              <a:t>=</a:t>
            </a:r>
            <a:r>
              <a:rPr>
                <a:latin typeface="Courier"/>
              </a:rPr>
              <a:t> blood_pressure</a:t>
            </a:r>
            <a:br/>
            <a:br/>
            <a:r>
              <a:rPr>
                <a:latin typeface="Courier"/>
              </a:rPr>
              <a:t>blood_pressure[</a:t>
            </a:r>
            <a:r>
              <a:rPr>
                <a:solidFill>
                  <a:srgbClr val="40A070"/>
                </a:solidFill>
                <a:latin typeface="Courier"/>
              </a:rPr>
              <a:t>0</a:t>
            </a:r>
            <a:r>
              <a:rPr>
                <a:latin typeface="Courier"/>
              </a:rPr>
              <a:t>] </a:t>
            </a:r>
            <a:r>
              <a:rPr>
                <a:solidFill>
                  <a:srgbClr val="666666"/>
                </a:solidFill>
                <a:latin typeface="Courier"/>
              </a:rPr>
              <a:t>=</a:t>
            </a:r>
            <a:r>
              <a:rPr>
                <a:latin typeface="Courier"/>
              </a:rPr>
              <a:t> </a:t>
            </a:r>
            <a:r>
              <a:rPr>
                <a:solidFill>
                  <a:srgbClr val="40A070"/>
                </a:solidFill>
                <a:latin typeface="Courier"/>
              </a:rPr>
              <a:t>130</a:t>
            </a:r>
            <a:r>
              <a:rPr>
                <a:latin typeface="Courier"/>
              </a:rPr>
              <a:t>   </a:t>
            </a:r>
            <a:r>
              <a:rPr i="1">
                <a:solidFill>
                  <a:srgbClr val="60A0B0"/>
                </a:solidFill>
                <a:latin typeface="Courier"/>
              </a:rPr>
              <a:t># TypeError</a:t>
            </a:r>
            <a:br/>
            <a:br/>
            <a:r>
              <a:rPr>
                <a:latin typeface="Courier"/>
              </a:rPr>
              <a:t>x, y </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40A070"/>
                </a:solidFill>
                <a:latin typeface="Courier"/>
              </a:rPr>
              <a:t>2</a:t>
            </a:r>
            <a:br/>
            <a:r>
              <a:rPr>
                <a:latin typeface="Courier"/>
              </a:rPr>
              <a:t>x, y </a:t>
            </a:r>
            <a:r>
              <a:rPr>
                <a:solidFill>
                  <a:srgbClr val="666666"/>
                </a:solidFill>
                <a:latin typeface="Courier"/>
              </a:rPr>
              <a:t>=</a:t>
            </a:r>
            <a:r>
              <a:rPr>
                <a:latin typeface="Courier"/>
              </a:rPr>
              <a:t> y, x               </a:t>
            </a:r>
            <a:r>
              <a:rPr i="1">
                <a:solidFill>
                  <a:srgbClr val="60A0B0"/>
                </a:solidFill>
                <a:latin typeface="Courier"/>
              </a:rPr>
              <a:t># swap</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Dictionnaires : </a:t>
            </a:r>
            <a:r>
              <a:rPr>
                <a:latin typeface="Courier"/>
              </a:rPr>
              <a:t>dict</a:t>
            </a:r>
          </a:p>
        </p:txBody>
      </p:sp>
      <p:pic>
        <p:nvPicPr>
          <p:cNvPr descr="img/dict_recor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Ensembles : </a:t>
            </a:r>
            <a:r>
              <a:rPr>
                <a:latin typeface="Courier"/>
              </a:rPr>
              <a:t>set</a:t>
            </a:r>
          </a:p>
        </p:txBody>
      </p:sp>
      <p:pic>
        <p:nvPicPr>
          <p:cNvPr descr="img/se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Résumé</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normAutofit/>
                    </a:bodyPr>
                    <a:lstStyle/>
                    <a:p>
                      <a:pPr lvl="0" indent="0" marL="0">
                        <a:buNone/>
                      </a:pPr>
                      <a:r>
                        <a:rPr/>
                        <a:t>Tapez</a:t>
                      </a:r>
                    </a:p>
                  </a:txBody>
                  <a:tcPr/>
                </a:tc>
                <a:tc>
                  <a:txBody>
                    <a:bodyPr>
                      <a:normAutofit/>
                    </a:bodyPr>
                    <a:lstStyle/>
                    <a:p>
                      <a:pPr lvl="0" indent="0" marL="0">
                        <a:buNone/>
                      </a:pPr>
                      <a:r>
                        <a:rPr/>
                        <a:t>Exemple</a:t>
                      </a:r>
                    </a:p>
                  </a:txBody>
                  <a:tcPr/>
                </a:tc>
                <a:tc>
                  <a:txBody>
                    <a:bodyPr>
                      <a:normAutofit/>
                    </a:bodyPr>
                    <a:lstStyle/>
                    <a:p>
                      <a:pPr lvl="0" indent="0" marL="0">
                        <a:buNone/>
                      </a:pPr>
                      <a:r>
                        <a:rPr/>
                        <a:t>Modifiable</a:t>
                      </a:r>
                    </a:p>
                  </a:txBody>
                  <a:tcPr/>
                </a:tc>
                <a:tc>
                  <a:txBody>
                    <a:bodyPr>
                      <a:normAutofit/>
                    </a:bodyPr>
                    <a:lstStyle/>
                    <a:p>
                      <a:pPr lvl="0" indent="0" marL="0">
                        <a:buNone/>
                      </a:pPr>
                      <a:r>
                        <a:rPr/>
                        <a:t>Commandé</a:t>
                      </a:r>
                    </a:p>
                  </a:txBody>
                  <a:tcPr/>
                </a:tc>
                <a:tc>
                  <a:txBody>
                    <a:bodyPr>
                      <a:normAutofit/>
                    </a:bodyPr>
                    <a:lstStyle/>
                    <a:p>
                      <a:pPr lvl="0" indent="0" marL="0">
                        <a:buNone/>
                      </a:pPr>
                      <a:r>
                        <a:rPr/>
                        <a:t>Accès</a:t>
                      </a:r>
                    </a:p>
                  </a:txBody>
                  <a:tcPr/>
                </a:tc>
              </a:tr>
              <a:tr h="0">
                <a:tc>
                  <a:txBody>
                    <a:bodyPr>
                      <a:normAutofit/>
                    </a:bodyPr>
                    <a:lstStyle/>
                    <a:p>
                      <a:pPr lvl="0" indent="0" marL="0">
                        <a:buNone/>
                      </a:pPr>
                      <a:r>
                        <a:rPr>
                          <a:latin typeface="Courier"/>
                        </a:rPr>
                        <a:t>int</a:t>
                      </a:r>
                      <a:r>
                        <a:rPr/>
                        <a:t>, </a:t>
                      </a:r>
                      <a:r>
                        <a:rPr>
                          <a:latin typeface="Courier"/>
                        </a:rPr>
                        <a:t>float</a:t>
                      </a:r>
                    </a:p>
                  </a:txBody>
                </a:tc>
                <a:tc>
                  <a:txBody>
                    <a:bodyPr>
                      <a:normAutofit/>
                    </a:bodyPr>
                    <a:lstStyle/>
                    <a:p>
                      <a:pPr lvl="0" indent="0" marL="0">
                        <a:buNone/>
                      </a:pPr>
                      <a:r>
                        <a:rPr>
                          <a:latin typeface="Courier"/>
                        </a:rPr>
                        <a:t>54</a:t>
                      </a:r>
                      <a:r>
                        <a:rPr/>
                        <a:t>, </a:t>
                      </a:r>
                      <a:r>
                        <a:rPr>
                          <a:latin typeface="Courier"/>
                        </a:rPr>
                        <a:t>38.4</a:t>
                      </a:r>
                    </a:p>
                  </a:txBody>
                </a:tc>
                <a:tc>
                  <a:txBody>
                    <a:bodyPr>
                      <a:normAutofit/>
                    </a:bodyPr>
                    <a:lstStyle/>
                    <a:p>
                      <a:pPr lvl="0" indent="0" marL="0">
                        <a:buNone/>
                      </a:pPr>
                      <a:r>
                        <a:rPr/>
                        <a:t>non</a:t>
                      </a:r>
                    </a:p>
                  </a:txBody>
                </a:tc>
                <a:tc>
                  <a:txBody>
                    <a:bodyPr>
                      <a:normAutofit/>
                    </a:bodyPr>
                    <a:lstStyle/>
                    <a:p>
                      <a:endParaRPr/>
                    </a:p>
                  </a:txBody>
                </a:tc>
                <a:tc>
                  <a:txBody>
                    <a:bodyPr>
                      <a:normAutofit/>
                    </a:bodyPr>
                    <a:lstStyle/>
                    <a:p>
                      <a:endParaRPr/>
                    </a:p>
                  </a:txBody>
                </a:tc>
              </a:tr>
              <a:tr h="0">
                <a:tc>
                  <a:txBody>
                    <a:bodyPr>
                      <a:normAutofit/>
                    </a:bodyPr>
                    <a:lstStyle/>
                    <a:p>
                      <a:pPr lvl="0" indent="0" marL="0">
                        <a:buNone/>
                      </a:pPr>
                      <a:r>
                        <a:rPr>
                          <a:latin typeface="Courier"/>
                        </a:rPr>
                        <a:t>bool</a:t>
                      </a:r>
                    </a:p>
                  </a:txBody>
                </a:tc>
                <a:tc>
                  <a:txBody>
                    <a:bodyPr>
                      <a:normAutofit/>
                    </a:bodyPr>
                    <a:lstStyle/>
                    <a:p>
                      <a:pPr lvl="0" indent="0" marL="0">
                        <a:buNone/>
                      </a:pPr>
                      <a:r>
                        <a:rPr>
                          <a:latin typeface="Courier"/>
                        </a:rPr>
                        <a:t>True</a:t>
                      </a:r>
                    </a:p>
                  </a:txBody>
                </a:tc>
                <a:tc>
                  <a:txBody>
                    <a:bodyPr>
                      <a:normAutofit/>
                    </a:bodyPr>
                    <a:lstStyle/>
                    <a:p>
                      <a:pPr lvl="0" indent="0" marL="0">
                        <a:buNone/>
                      </a:pPr>
                      <a:r>
                        <a:rPr/>
                        <a:t>non</a:t>
                      </a:r>
                    </a:p>
                  </a:txBody>
                </a:tc>
                <a:tc>
                  <a:txBody>
                    <a:bodyPr>
                      <a:normAutofit/>
                    </a:bodyPr>
                    <a:lstStyle/>
                    <a:p>
                      <a:endParaRPr/>
                    </a:p>
                  </a:txBody>
                </a:tc>
                <a:tc>
                  <a:txBody>
                    <a:bodyPr>
                      <a:normAutofit/>
                    </a:bodyPr>
                    <a:lstStyle/>
                    <a:p>
                      <a:endParaRPr/>
                    </a:p>
                  </a:txBody>
                </a:tc>
              </a:tr>
              <a:tr h="0">
                <a:tc>
                  <a:txBody>
                    <a:bodyPr>
                      <a:normAutofit/>
                    </a:bodyPr>
                    <a:lstStyle/>
                    <a:p>
                      <a:pPr lvl="0" indent="0" marL="0">
                        <a:buNone/>
                      </a:pPr>
                      <a:r>
                        <a:rPr>
                          <a:latin typeface="Courier"/>
                        </a:rPr>
                        <a:t>str</a:t>
                      </a:r>
                    </a:p>
                  </a:txBody>
                </a:tc>
                <a:tc>
                  <a:txBody>
                    <a:bodyPr>
                      <a:normAutofit/>
                    </a:bodyPr>
                    <a:lstStyle/>
                    <a:p>
                      <a:pPr lvl="0" indent="0" marL="0">
                        <a:buNone/>
                      </a:pPr>
                      <a:r>
                        <a:rPr>
                          <a:latin typeface="Courier"/>
                        </a:rPr>
                        <a:t>"P001"</a:t>
                      </a:r>
                    </a:p>
                  </a:txBody>
                </a:tc>
                <a:tc>
                  <a:txBody>
                    <a:bodyPr>
                      <a:normAutofit/>
                    </a:bodyPr>
                    <a:lstStyle/>
                    <a:p>
                      <a:pPr lvl="0" indent="0" marL="0">
                        <a:buNone/>
                      </a:pPr>
                      <a:r>
                        <a:rPr/>
                        <a:t>non</a:t>
                      </a:r>
                    </a:p>
                  </a:txBody>
                </a:tc>
                <a:tc>
                  <a:txBody>
                    <a:bodyPr>
                      <a:normAutofit/>
                    </a:bodyPr>
                    <a:lstStyle/>
                    <a:p>
                      <a:pPr lvl="0" indent="0" marL="0">
                        <a:buNone/>
                      </a:pPr>
                      <a:r>
                        <a:rPr/>
                        <a:t>oui</a:t>
                      </a:r>
                    </a:p>
                  </a:txBody>
                </a:tc>
                <a:tc>
                  <a:txBody>
                    <a:bodyPr>
                      <a:normAutofit/>
                    </a:bodyPr>
                    <a:lstStyle/>
                    <a:p>
                      <a:pPr lvl="0" indent="0" marL="0">
                        <a:buNone/>
                      </a:pPr>
                      <a:r>
                        <a:rPr>
                          <a:latin typeface="Courier"/>
                        </a:rPr>
                        <a:t>s[0]</a:t>
                      </a:r>
                    </a:p>
                  </a:txBody>
                </a:tc>
              </a:tr>
              <a:tr h="0">
                <a:tc>
                  <a:txBody>
                    <a:bodyPr>
                      <a:normAutofit/>
                    </a:bodyPr>
                    <a:lstStyle/>
                    <a:p>
                      <a:pPr lvl="0" indent="0" marL="0">
                        <a:buNone/>
                      </a:pPr>
                      <a:r>
                        <a:rPr>
                          <a:latin typeface="Courier"/>
                        </a:rPr>
                        <a:t>None</a:t>
                      </a:r>
                    </a:p>
                  </a:txBody>
                </a:tc>
                <a:tc>
                  <a:txBody>
                    <a:bodyPr>
                      <a:normAutofit/>
                    </a:bodyPr>
                    <a:lstStyle/>
                    <a:p>
                      <a:pPr lvl="0" indent="0" marL="0">
                        <a:buNone/>
                      </a:pPr>
                      <a:r>
                        <a:rPr>
                          <a:latin typeface="Courier"/>
                        </a:rPr>
                        <a:t>None</a:t>
                      </a:r>
                    </a:p>
                  </a:txBody>
                </a:tc>
                <a:tc>
                  <a:txBody>
                    <a:bodyPr>
                      <a:normAutofit/>
                    </a:bodyPr>
                    <a:lstStyle/>
                    <a:p>
                      <a:pPr lvl="0" indent="0" marL="0">
                        <a:buNone/>
                      </a:pPr>
                      <a:r>
                        <a:rPr/>
                        <a:t>non</a:t>
                      </a:r>
                    </a:p>
                  </a:txBody>
                </a:tc>
                <a:tc>
                  <a:txBody>
                    <a:bodyPr>
                      <a:normAutofit/>
                    </a:bodyPr>
                    <a:lstStyle/>
                    <a:p>
                      <a:endParaRPr/>
                    </a:p>
                  </a:txBody>
                </a:tc>
                <a:tc>
                  <a:txBody>
                    <a:bodyPr>
                      <a:normAutofit/>
                    </a:bodyPr>
                    <a:lstStyle/>
                    <a:p>
                      <a:endParaRPr/>
                    </a:p>
                  </a:txBody>
                </a:tc>
              </a:tr>
              <a:tr h="0">
                <a:tc>
                  <a:txBody>
                    <a:bodyPr>
                      <a:normAutofit/>
                    </a:bodyPr>
                    <a:lstStyle/>
                    <a:p>
                      <a:pPr lvl="0" indent="0" marL="0">
                        <a:buNone/>
                      </a:pPr>
                      <a:r>
                        <a:rPr>
                          <a:latin typeface="Courier"/>
                        </a:rPr>
                        <a:t>list</a:t>
                      </a:r>
                    </a:p>
                  </a:txBody>
                </a:tc>
                <a:tc>
                  <a:txBody>
                    <a:bodyPr>
                      <a:normAutofit/>
                    </a:bodyPr>
                    <a:lstStyle/>
                    <a:p>
                      <a:pPr lvl="0" indent="0" marL="0">
                        <a:buNone/>
                      </a:pPr>
                      <a:r>
                        <a:rPr>
                          <a:latin typeface="Courier"/>
                        </a:rPr>
                        <a:t>[72, 85]</a:t>
                      </a:r>
                    </a:p>
                  </a:txBody>
                </a:tc>
                <a:tc>
                  <a:txBody>
                    <a:bodyPr>
                      <a:normAutofit/>
                    </a:bodyPr>
                    <a:lstStyle/>
                    <a:p>
                      <a:pPr lvl="0" indent="0" marL="0">
                        <a:buNone/>
                      </a:pPr>
                      <a:r>
                        <a:rPr/>
                        <a:t>oui</a:t>
                      </a:r>
                    </a:p>
                  </a:txBody>
                </a:tc>
                <a:tc>
                  <a:txBody>
                    <a:bodyPr>
                      <a:normAutofit/>
                    </a:bodyPr>
                    <a:lstStyle/>
                    <a:p>
                      <a:pPr lvl="0" indent="0" marL="0">
                        <a:buNone/>
                      </a:pPr>
                      <a:r>
                        <a:rPr/>
                        <a:t>oui</a:t>
                      </a:r>
                    </a:p>
                  </a:txBody>
                </a:tc>
                <a:tc>
                  <a:txBody>
                    <a:bodyPr>
                      <a:normAutofit/>
                    </a:bodyPr>
                    <a:lstStyle/>
                    <a:p>
                      <a:pPr lvl="0" indent="0" marL="0">
                        <a:buNone/>
                      </a:pPr>
                      <a:r>
                        <a:rPr>
                          <a:latin typeface="Courier"/>
                        </a:rPr>
                        <a:t>l[0]</a:t>
                      </a:r>
                    </a:p>
                  </a:txBody>
                </a:tc>
              </a:tr>
              <a:tr h="0">
                <a:tc>
                  <a:txBody>
                    <a:bodyPr>
                      <a:normAutofit/>
                    </a:bodyPr>
                    <a:lstStyle/>
                    <a:p>
                      <a:pPr lvl="0" indent="0" marL="0">
                        <a:buNone/>
                      </a:pPr>
                      <a:r>
                        <a:rPr>
                          <a:latin typeface="Courier"/>
                        </a:rPr>
                        <a:t>tuple</a:t>
                      </a:r>
                    </a:p>
                  </a:txBody>
                </a:tc>
                <a:tc>
                  <a:txBody>
                    <a:bodyPr>
                      <a:normAutofit/>
                    </a:bodyPr>
                    <a:lstStyle/>
                    <a:p>
                      <a:pPr lvl="0" indent="0" marL="0">
                        <a:buNone/>
                      </a:pPr>
                      <a:r>
                        <a:rPr>
                          <a:latin typeface="Courier"/>
                        </a:rPr>
                        <a:t>(120, 80)</a:t>
                      </a:r>
                    </a:p>
                  </a:txBody>
                </a:tc>
                <a:tc>
                  <a:txBody>
                    <a:bodyPr>
                      <a:normAutofit/>
                    </a:bodyPr>
                    <a:lstStyle/>
                    <a:p>
                      <a:pPr lvl="0" indent="0" marL="0">
                        <a:buNone/>
                      </a:pPr>
                      <a:r>
                        <a:rPr/>
                        <a:t>non</a:t>
                      </a:r>
                    </a:p>
                  </a:txBody>
                </a:tc>
                <a:tc>
                  <a:txBody>
                    <a:bodyPr>
                      <a:normAutofit/>
                    </a:bodyPr>
                    <a:lstStyle/>
                    <a:p>
                      <a:pPr lvl="0" indent="0" marL="0">
                        <a:buNone/>
                      </a:pPr>
                      <a:r>
                        <a:rPr/>
                        <a:t>oui</a:t>
                      </a:r>
                    </a:p>
                  </a:txBody>
                </a:tc>
                <a:tc>
                  <a:txBody>
                    <a:bodyPr>
                      <a:normAutofit/>
                    </a:bodyPr>
                    <a:lstStyle/>
                    <a:p>
                      <a:pPr lvl="0" indent="0" marL="0">
                        <a:buNone/>
                      </a:pPr>
                      <a:r>
                        <a:rPr>
                          <a:latin typeface="Courier"/>
                        </a:rPr>
                        <a:t>t[0]</a:t>
                      </a:r>
                    </a:p>
                  </a:txBody>
                </a:tc>
              </a:tr>
              <a:tr h="0">
                <a:tc>
                  <a:txBody>
                    <a:bodyPr>
                      <a:normAutofit/>
                    </a:bodyPr>
                    <a:lstStyle/>
                    <a:p>
                      <a:pPr lvl="0" indent="0" marL="0">
                        <a:buNone/>
                      </a:pPr>
                      <a:r>
                        <a:rPr>
                          <a:latin typeface="Courier"/>
                        </a:rPr>
                        <a:t>dict</a:t>
                      </a:r>
                    </a:p>
                  </a:txBody>
                </a:tc>
                <a:tc>
                  <a:txBody>
                    <a:bodyPr>
                      <a:normAutofit/>
                    </a:bodyPr>
                    <a:lstStyle/>
                    <a:p>
                      <a:pPr lvl="0" indent="0" marL="0">
                        <a:buNone/>
                      </a:pPr>
                      <a:r>
                        <a:rPr>
                          <a:latin typeface="Courier"/>
                        </a:rPr>
                        <a:t>{"age": 54}</a:t>
                      </a:r>
                    </a:p>
                  </a:txBody>
                </a:tc>
                <a:tc>
                  <a:txBody>
                    <a:bodyPr>
                      <a:normAutofit/>
                    </a:bodyPr>
                    <a:lstStyle/>
                    <a:p>
                      <a:pPr lvl="0" indent="0" marL="0">
                        <a:buNone/>
                      </a:pPr>
                      <a:r>
                        <a:rPr/>
                        <a:t>oui</a:t>
                      </a:r>
                    </a:p>
                  </a:txBody>
                </a:tc>
                <a:tc>
                  <a:txBody>
                    <a:bodyPr>
                      <a:normAutofit/>
                    </a:bodyPr>
                    <a:lstStyle/>
                    <a:p>
                      <a:pPr lvl="0" indent="0" marL="0">
                        <a:buNone/>
                      </a:pPr>
                      <a:r>
                        <a:rPr/>
                        <a:t>par insertion</a:t>
                      </a:r>
                    </a:p>
                  </a:txBody>
                </a:tc>
                <a:tc>
                  <a:txBody>
                    <a:bodyPr>
                      <a:normAutofit/>
                    </a:bodyPr>
                    <a:lstStyle/>
                    <a:p>
                      <a:pPr lvl="0" indent="0" marL="0">
                        <a:buNone/>
                      </a:pPr>
                      <a:r>
                        <a:rPr>
                          <a:latin typeface="Courier"/>
                        </a:rPr>
                        <a:t>d["age"]</a:t>
                      </a:r>
                    </a:p>
                  </a:txBody>
                </a:tc>
              </a:tr>
              <a:tr h="0">
                <a:tc>
                  <a:txBody>
                    <a:bodyPr>
                      <a:normAutofit/>
                    </a:bodyPr>
                    <a:lstStyle/>
                    <a:p>
                      <a:pPr lvl="0" indent="0" marL="0">
                        <a:buNone/>
                      </a:pPr>
                      <a:r>
                        <a:rPr>
                          <a:latin typeface="Courier"/>
                        </a:rPr>
                        <a:t>set</a:t>
                      </a:r>
                    </a:p>
                  </a:txBody>
                </a:tc>
                <a:tc>
                  <a:txBody>
                    <a:bodyPr>
                      <a:normAutofit/>
                    </a:bodyPr>
                    <a:lstStyle/>
                    <a:p>
                      <a:pPr lvl="0" indent="0" marL="0">
                        <a:buNone/>
                      </a:pPr>
                      <a:r>
                        <a:rPr>
                          <a:latin typeface="Courier"/>
                        </a:rPr>
                        <a:t>{"aspirin"}</a:t>
                      </a:r>
                    </a:p>
                  </a:txBody>
                </a:tc>
                <a:tc>
                  <a:txBody>
                    <a:bodyPr>
                      <a:normAutofit/>
                    </a:bodyPr>
                    <a:lstStyle/>
                    <a:p>
                      <a:pPr lvl="0" indent="0" marL="0">
                        <a:buNone/>
                      </a:pPr>
                      <a:r>
                        <a:rPr/>
                        <a:t>oui</a:t>
                      </a:r>
                    </a:p>
                  </a:txBody>
                </a:tc>
                <a:tc>
                  <a:txBody>
                    <a:bodyPr>
                      <a:normAutofit/>
                    </a:bodyPr>
                    <a:lstStyle/>
                    <a:p>
                      <a:pPr lvl="0" indent="0" marL="0">
                        <a:buNone/>
                      </a:pPr>
                      <a:r>
                        <a:rPr/>
                        <a:t>non</a:t>
                      </a:r>
                    </a:p>
                  </a:txBody>
                </a:tc>
                <a:tc>
                  <a:txBody>
                    <a:bodyPr>
                      <a:normAutofit/>
                    </a:bodyPr>
                    <a:lstStyle/>
                    <a:p>
                      <a:pPr lvl="0" indent="0" marL="0">
                        <a:buNone/>
                      </a:pPr>
                      <a:r>
                        <a:rPr>
                          <a:latin typeface="Courier"/>
                        </a:rPr>
                        <a:t>x in s</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4. L’assembler</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Une salle est une liste de dictées</a:t>
            </a:r>
          </a:p>
        </p:txBody>
      </p:sp>
      <p:pic>
        <p:nvPicPr>
          <p:cNvPr descr="img/neste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5. Tableaux NumPy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Les listes sont lentes pour les chiffres</a:t>
            </a:r>
          </a:p>
        </p:txBody>
      </p:sp>
      <p:pic>
        <p:nvPicPr>
          <p:cNvPr descr="img/list_vs_arra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 </a:t>
            </a:r>
            <a:r>
              <a:rPr>
                <a:latin typeface="Courier"/>
              </a:rPr>
              <a:t>ndarray</a:t>
            </a:r>
            <a:r>
              <a:rPr/>
              <a:t> : forme et type</a:t>
            </a:r>
          </a:p>
        </p:txBody>
      </p:sp>
      <p:pic>
        <p:nvPicPr>
          <p:cNvPr descr="img/ndarra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Types de données NumPy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normAutofit/>
                    </a:bodyPr>
                    <a:lstStyle/>
                    <a:p>
                      <a:pPr lvl="0" indent="0" marL="0">
                        <a:buNone/>
                      </a:pPr>
                      <a:r>
                        <a:rPr/>
                        <a:t>type</a:t>
                      </a:r>
                    </a:p>
                  </a:txBody>
                  <a:tcPr/>
                </a:tc>
                <a:tc>
                  <a:txBody>
                    <a:bodyPr>
                      <a:normAutofit/>
                    </a:bodyPr>
                    <a:lstStyle/>
                    <a:p>
                      <a:pPr lvl="0" indent="0" marL="0">
                        <a:buNone/>
                      </a:pPr>
                      <a:r>
                        <a:rPr/>
                        <a:t>octets</a:t>
                      </a:r>
                    </a:p>
                  </a:txBody>
                  <a:tcPr/>
                </a:tc>
                <a:tc>
                  <a:txBody>
                    <a:bodyPr>
                      <a:normAutofit/>
                    </a:bodyPr>
                    <a:lstStyle/>
                    <a:p>
                      <a:pPr lvl="0" indent="0" marL="0">
                        <a:buNone/>
                      </a:pPr>
                      <a:r>
                        <a:rPr/>
                        <a:t>détient</a:t>
                      </a:r>
                    </a:p>
                  </a:txBody>
                  <a:tcPr/>
                </a:tc>
                <a:tc>
                  <a:txBody>
                    <a:bodyPr>
                      <a:normAutofit/>
                    </a:bodyPr>
                    <a:lstStyle/>
                    <a:p>
                      <a:pPr lvl="0" indent="0" marL="0">
                        <a:buNone/>
                      </a:pPr>
                      <a:r>
                        <a:rPr/>
                        <a:t>utilisation typique</a:t>
                      </a:r>
                    </a:p>
                  </a:txBody>
                  <a:tcPr/>
                </a:tc>
              </a:tr>
              <a:tr h="0">
                <a:tc>
                  <a:txBody>
                    <a:bodyPr>
                      <a:normAutofit/>
                    </a:bodyPr>
                    <a:lstStyle/>
                    <a:p>
                      <a:pPr lvl="0" indent="0" marL="0">
                        <a:buNone/>
                      </a:pPr>
                      <a:r>
                        <a:rPr>
                          <a:latin typeface="Courier"/>
                        </a:rPr>
                        <a:t>bool</a:t>
                      </a:r>
                    </a:p>
                  </a:txBody>
                </a:tc>
                <a:tc>
                  <a:txBody>
                    <a:bodyPr>
                      <a:normAutofit/>
                    </a:bodyPr>
                    <a:lstStyle/>
                    <a:p>
                      <a:pPr lvl="0" indent="0" marL="0">
                        <a:buNone/>
                      </a:pPr>
                      <a:r>
                        <a:rPr/>
                        <a:t>1</a:t>
                      </a:r>
                    </a:p>
                  </a:txBody>
                </a:tc>
                <a:tc>
                  <a:txBody>
                    <a:bodyPr>
                      <a:normAutofit/>
                    </a:bodyPr>
                    <a:lstStyle/>
                    <a:p>
                      <a:pPr lvl="0" indent="0" marL="0">
                        <a:buNone/>
                      </a:pPr>
                      <a:r>
                        <a:rPr>
                          <a:latin typeface="Courier"/>
                        </a:rPr>
                        <a:t>True</a:t>
                      </a:r>
                      <a:r>
                        <a:rPr/>
                        <a:t> / </a:t>
                      </a:r>
                      <a:r>
                        <a:rPr>
                          <a:latin typeface="Courier"/>
                        </a:rPr>
                        <a:t>False</a:t>
                      </a:r>
                    </a:p>
                  </a:txBody>
                </a:tc>
                <a:tc>
                  <a:txBody>
                    <a:bodyPr>
                      <a:normAutofit/>
                    </a:bodyPr>
                    <a:lstStyle/>
                    <a:p>
                      <a:pPr lvl="0" indent="0" marL="0">
                        <a:buNone/>
                      </a:pPr>
                      <a:r>
                        <a:rPr/>
                        <a:t>masques</a:t>
                      </a:r>
                    </a:p>
                  </a:txBody>
                </a:tc>
              </a:tr>
              <a:tr h="0">
                <a:tc>
                  <a:txBody>
                    <a:bodyPr>
                      <a:normAutofit/>
                    </a:bodyPr>
                    <a:lstStyle/>
                    <a:p>
                      <a:pPr lvl="0" indent="0" marL="0">
                        <a:buNone/>
                      </a:pPr>
                      <a:r>
                        <a:rPr>
                          <a:latin typeface="Courier"/>
                        </a:rPr>
                        <a:t>uint8</a:t>
                      </a:r>
                    </a:p>
                  </a:txBody>
                </a:tc>
                <a:tc>
                  <a:txBody>
                    <a:bodyPr>
                      <a:normAutofit/>
                    </a:bodyPr>
                    <a:lstStyle/>
                    <a:p>
                      <a:pPr lvl="0" indent="0" marL="0">
                        <a:buNone/>
                      </a:pPr>
                      <a:r>
                        <a:rPr/>
                        <a:t>1</a:t>
                      </a:r>
                    </a:p>
                  </a:txBody>
                </a:tc>
                <a:tc>
                  <a:txBody>
                    <a:bodyPr>
                      <a:normAutofit/>
                    </a:bodyPr>
                    <a:lstStyle/>
                    <a:p>
                      <a:pPr lvl="0" indent="0" marL="0">
                        <a:buNone/>
                      </a:pPr>
                      <a:r>
                        <a:rPr/>
                        <a:t>0 à 255</a:t>
                      </a:r>
                    </a:p>
                  </a:txBody>
                </a:tc>
                <a:tc>
                  <a:txBody>
                    <a:bodyPr>
                      <a:normAutofit/>
                    </a:bodyPr>
                    <a:lstStyle/>
                    <a:p>
                      <a:pPr lvl="0" indent="0" marL="0">
                        <a:buNone/>
                      </a:pPr>
                      <a:r>
                        <a:rPr/>
                        <a:t>pixels de l’image</a:t>
                      </a:r>
                    </a:p>
                  </a:txBody>
                </a:tc>
              </a:tr>
              <a:tr h="0">
                <a:tc>
                  <a:txBody>
                    <a:bodyPr>
                      <a:normAutofit/>
                    </a:bodyPr>
                    <a:lstStyle/>
                    <a:p>
                      <a:pPr lvl="0" indent="0" marL="0">
                        <a:buNone/>
                      </a:pPr>
                      <a:r>
                        <a:rPr>
                          <a:latin typeface="Courier"/>
                        </a:rPr>
                        <a:t>int16</a:t>
                      </a:r>
                    </a:p>
                  </a:txBody>
                </a:tc>
                <a:tc>
                  <a:txBody>
                    <a:bodyPr>
                      <a:normAutofit/>
                    </a:bodyPr>
                    <a:lstStyle/>
                    <a:p>
                      <a:pPr lvl="0" indent="0" marL="0">
                        <a:buNone/>
                      </a:pPr>
                      <a:r>
                        <a:rPr/>
                        <a:t>2</a:t>
                      </a:r>
                    </a:p>
                  </a:txBody>
                </a:tc>
                <a:tc>
                  <a:txBody>
                    <a:bodyPr>
                      <a:normAutofit/>
                    </a:bodyPr>
                    <a:lstStyle/>
                    <a:p>
                      <a:pPr lvl="0" indent="0" marL="0">
                        <a:buNone/>
                      </a:pPr>
                      <a:r>
                        <a:rPr/>
                        <a:t>-32 768 au 32 767</a:t>
                      </a:r>
                    </a:p>
                  </a:txBody>
                </a:tc>
                <a:tc>
                  <a:txBody>
                    <a:bodyPr>
                      <a:normAutofit/>
                    </a:bodyPr>
                    <a:lstStyle/>
                    <a:p>
                      <a:pPr lvl="0" indent="0" marL="0">
                        <a:buNone/>
                      </a:pPr>
                      <a:r>
                        <a:rPr/>
                        <a:t>Tomodensitogrammes (unités Hounsfield)</a:t>
                      </a:r>
                    </a:p>
                  </a:txBody>
                </a:tc>
              </a:tr>
              <a:tr h="0">
                <a:tc>
                  <a:txBody>
                    <a:bodyPr>
                      <a:normAutofit/>
                    </a:bodyPr>
                    <a:lstStyle/>
                    <a:p>
                      <a:pPr lvl="0" indent="0" marL="0">
                        <a:buNone/>
                      </a:pPr>
                      <a:r>
                        <a:rPr>
                          <a:latin typeface="Courier"/>
                        </a:rPr>
                        <a:t>int64</a:t>
                      </a:r>
                    </a:p>
                  </a:txBody>
                </a:tc>
                <a:tc>
                  <a:txBody>
                    <a:bodyPr>
                      <a:normAutofit/>
                    </a:bodyPr>
                    <a:lstStyle/>
                    <a:p>
                      <a:pPr lvl="0" indent="0" marL="0">
                        <a:buNone/>
                      </a:pPr>
                      <a:r>
                        <a:rPr/>
                        <a:t>8</a:t>
                      </a:r>
                    </a:p>
                  </a:txBody>
                </a:tc>
                <a:tc>
                  <a:txBody>
                    <a:bodyPr>
                      <a:normAutofit/>
                    </a:bodyPr>
                    <a:lstStyle/>
                    <a:p>
                      <a:pPr lvl="0" indent="0" marL="0">
                        <a:buNone/>
                      </a:pPr>
                      <a:r>
                        <a:rPr/>
                        <a:t>environ ±9,2e18</a:t>
                      </a:r>
                    </a:p>
                  </a:txBody>
                </a:tc>
                <a:tc>
                  <a:txBody>
                    <a:bodyPr>
                      <a:normAutofit/>
                    </a:bodyPr>
                    <a:lstStyle/>
                    <a:p>
                      <a:pPr lvl="0" indent="0" marL="0">
                        <a:buNone/>
                      </a:pPr>
                      <a:r>
                        <a:rPr/>
                        <a:t>comptes, identifiants (l’entier par défaut)</a:t>
                      </a:r>
                    </a:p>
                  </a:txBody>
                </a:tc>
              </a:tr>
              <a:tr h="0">
                <a:tc>
                  <a:txBody>
                    <a:bodyPr>
                      <a:normAutofit/>
                    </a:bodyPr>
                    <a:lstStyle/>
                    <a:p>
                      <a:pPr lvl="0" indent="0" marL="0">
                        <a:buNone/>
                      </a:pPr>
                      <a:r>
                        <a:rPr>
                          <a:latin typeface="Courier"/>
                        </a:rPr>
                        <a:t>float16</a:t>
                      </a:r>
                    </a:p>
                  </a:txBody>
                </a:tc>
                <a:tc>
                  <a:txBody>
                    <a:bodyPr>
                      <a:normAutofit/>
                    </a:bodyPr>
                    <a:lstStyle/>
                    <a:p>
                      <a:pPr lvl="0" indent="0" marL="0">
                        <a:buNone/>
                      </a:pPr>
                      <a:r>
                        <a:rPr/>
                        <a:t>2</a:t>
                      </a:r>
                    </a:p>
                  </a:txBody>
                </a:tc>
                <a:tc>
                  <a:txBody>
                    <a:bodyPr>
                      <a:normAutofit/>
                    </a:bodyPr>
                    <a:lstStyle/>
                    <a:p>
                      <a:pPr lvl="0" indent="0" marL="0">
                        <a:buNone/>
                      </a:pPr>
                      <a:r>
                        <a:rPr/>
                        <a:t>~3 chiffres, jusqu’à 65 504</a:t>
                      </a:r>
                    </a:p>
                  </a:txBody>
                </a:tc>
                <a:tc>
                  <a:txBody>
                    <a:bodyPr>
                      <a:normAutofit/>
                    </a:bodyPr>
                    <a:lstStyle/>
                    <a:p>
                      <a:pPr lvl="0" indent="0" marL="0">
                        <a:buNone/>
                      </a:pPr>
                      <a:r>
                        <a:rPr/>
                        <a:t>apprentissage profond</a:t>
                      </a:r>
                    </a:p>
                  </a:txBody>
                </a:tc>
              </a:tr>
              <a:tr h="0">
                <a:tc>
                  <a:txBody>
                    <a:bodyPr>
                      <a:normAutofit/>
                    </a:bodyPr>
                    <a:lstStyle/>
                    <a:p>
                      <a:pPr lvl="0" indent="0" marL="0">
                        <a:buNone/>
                      </a:pPr>
                      <a:r>
                        <a:rPr>
                          <a:latin typeface="Courier"/>
                        </a:rPr>
                        <a:t>float32</a:t>
                      </a:r>
                    </a:p>
                  </a:txBody>
                </a:tc>
                <a:tc>
                  <a:txBody>
                    <a:bodyPr>
                      <a:normAutofit/>
                    </a:bodyPr>
                    <a:lstStyle/>
                    <a:p>
                      <a:pPr lvl="0" indent="0" marL="0">
                        <a:buNone/>
                      </a:pPr>
                      <a:r>
                        <a:rPr/>
                        <a:t>4</a:t>
                      </a:r>
                    </a:p>
                  </a:txBody>
                </a:tc>
                <a:tc>
                  <a:txBody>
                    <a:bodyPr>
                      <a:normAutofit/>
                    </a:bodyPr>
                    <a:lstStyle/>
                    <a:p>
                      <a:pPr lvl="0" indent="0" marL="0">
                        <a:buNone/>
                      </a:pPr>
                      <a:r>
                        <a:rPr/>
                        <a:t>~7 chiffres</a:t>
                      </a:r>
                    </a:p>
                  </a:txBody>
                </a:tc>
                <a:tc>
                  <a:txBody>
                    <a:bodyPr>
                      <a:normAutofit/>
                    </a:bodyPr>
                    <a:lstStyle/>
                    <a:p>
                      <a:pPr lvl="0" indent="0" marL="0">
                        <a:buNone/>
                      </a:pPr>
                      <a:r>
                        <a:rPr/>
                        <a:t>images, apprentissage profond, GPU</a:t>
                      </a:r>
                    </a:p>
                  </a:txBody>
                </a:tc>
              </a:tr>
              <a:tr h="0">
                <a:tc>
                  <a:txBody>
                    <a:bodyPr>
                      <a:normAutofit/>
                    </a:bodyPr>
                    <a:lstStyle/>
                    <a:p>
                      <a:pPr lvl="0" indent="0" marL="0">
                        <a:buNone/>
                      </a:pPr>
                      <a:r>
                        <a:rPr>
                          <a:latin typeface="Courier"/>
                        </a:rPr>
                        <a:t>float64</a:t>
                      </a:r>
                    </a:p>
                  </a:txBody>
                </a:tc>
                <a:tc>
                  <a:txBody>
                    <a:bodyPr>
                      <a:normAutofit/>
                    </a:bodyPr>
                    <a:lstStyle/>
                    <a:p>
                      <a:pPr lvl="0" indent="0" marL="0">
                        <a:buNone/>
                      </a:pPr>
                      <a:r>
                        <a:rPr/>
                        <a:t>8</a:t>
                      </a:r>
                    </a:p>
                  </a:txBody>
                </a:tc>
                <a:tc>
                  <a:txBody>
                    <a:bodyPr>
                      <a:normAutofit/>
                    </a:bodyPr>
                    <a:lstStyle/>
                    <a:p>
                      <a:pPr lvl="0" indent="0" marL="0">
                        <a:buNone/>
                      </a:pPr>
                      <a:r>
                        <a:rPr/>
                        <a:t>~16 chiffres</a:t>
                      </a:r>
                    </a:p>
                  </a:txBody>
                </a:tc>
                <a:tc>
                  <a:txBody>
                    <a:bodyPr>
                      <a:normAutofit/>
                    </a:bodyPr>
                    <a:lstStyle/>
                    <a:p>
                      <a:pPr lvl="0" indent="0" marL="0">
                        <a:buNone/>
                      </a:pPr>
                      <a:r>
                        <a:rPr/>
                        <a:t>statistiques (le flottant par défaut)</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À l’intérieur d’un float</a:t>
            </a:r>
          </a:p>
        </p:txBody>
      </p:sp>
      <p:pic>
        <p:nvPicPr>
          <p:cNvPr descr="img/float_bi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Les mêmes valeurs, quatre précisions</a:t>
            </a:r>
          </a:p>
        </p:txBody>
      </p:sp>
      <p:pic>
        <p:nvPicPr>
          <p:cNvPr descr="img/float_precis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Plus petit est plus léger et plus rapide</a:t>
            </a:r>
          </a:p>
        </p:txBody>
      </p:sp>
      <p:pic>
        <p:nvPicPr>
          <p:cNvPr descr="img/dtype_memo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Choisir et convertir</a:t>
            </a:r>
          </a:p>
        </p:txBody>
      </p:sp>
      <p:sp>
        <p:nvSpPr>
          <p:cNvPr id="3" name="Content Placeholder 2"/>
          <p:cNvSpPr>
            <a:spLocks noGrp="1"/>
          </p:cNvSpPr>
          <p:nvPr>
            <p:ph idx="1"/>
          </p:nvPr>
        </p:nvSpPr>
        <p:spPr/>
        <p:txBody>
          <a:bodyPr>
            <a:normAutofit/>
          </a:bodyPr>
          <a:lstStyle/>
          <a:p>
            <a:pPr lvl="0" indent="0">
              <a:buNone/>
            </a:pPr>
            <a:r>
              <a:rPr>
                <a:latin typeface="Courier"/>
              </a:rPr>
              <a:t>x </a:t>
            </a:r>
            <a:r>
              <a:rPr>
                <a:solidFill>
                  <a:srgbClr val="666666"/>
                </a:solidFill>
                <a:latin typeface="Courier"/>
              </a:rPr>
              <a:t>=</a:t>
            </a:r>
            <a:r>
              <a:rPr>
                <a:latin typeface="Courier"/>
              </a:rPr>
              <a:t> np.arange(</a:t>
            </a:r>
            <a:r>
              <a:rPr>
                <a:solidFill>
                  <a:srgbClr val="40A070"/>
                </a:solidFill>
                <a:latin typeface="Courier"/>
              </a:rPr>
              <a:t>4</a:t>
            </a:r>
            <a:r>
              <a:rPr>
                <a:latin typeface="Courier"/>
              </a:rPr>
              <a:t>, dtype</a:t>
            </a:r>
            <a:r>
              <a:rPr>
                <a:solidFill>
                  <a:srgbClr val="666666"/>
                </a:solidFill>
                <a:latin typeface="Courier"/>
              </a:rPr>
              <a:t>=</a:t>
            </a:r>
            <a:r>
              <a:rPr>
                <a:latin typeface="Courier"/>
              </a:rPr>
              <a:t>np.float32)</a:t>
            </a:r>
            <a:br/>
            <a:r>
              <a:rPr>
                <a:latin typeface="Courier"/>
              </a:rPr>
              <a:t>x.dtype, x.nbytes        </a:t>
            </a:r>
            <a:r>
              <a:rPr i="1">
                <a:solidFill>
                  <a:srgbClr val="60A0B0"/>
                </a:solidFill>
                <a:latin typeface="Courier"/>
              </a:rPr>
              <a:t># float32, 16</a:t>
            </a:r>
            <a:br/>
            <a:r>
              <a:rPr>
                <a:latin typeface="Courier"/>
              </a:rPr>
              <a:t>x.astype(np.float16)     </a:t>
            </a:r>
            <a:r>
              <a:rPr i="1">
                <a:solidFill>
                  <a:srgbClr val="60A0B0"/>
                </a:solidFill>
                <a:latin typeface="Courier"/>
              </a:rPr>
              <a:t># convert: a copy</a:t>
            </a:r>
            <a:br/>
            <a:br/>
            <a:r>
              <a:rPr>
                <a:latin typeface="Courier"/>
              </a:rPr>
              <a:t>np.array([</a:t>
            </a:r>
            <a:r>
              <a:rPr>
                <a:solidFill>
                  <a:srgbClr val="40A070"/>
                </a:solidFill>
                <a:latin typeface="Courier"/>
              </a:rPr>
              <a:t>250</a:t>
            </a:r>
            <a:r>
              <a:rPr>
                <a:latin typeface="Courier"/>
              </a:rPr>
              <a:t>], dtype</a:t>
            </a:r>
            <a:r>
              <a:rPr>
                <a:solidFill>
                  <a:srgbClr val="666666"/>
                </a:solidFill>
                <a:latin typeface="Courier"/>
              </a:rPr>
              <a:t>=</a:t>
            </a:r>
            <a:r>
              <a:rPr>
                <a:latin typeface="Courier"/>
              </a:rPr>
              <a:t>np.uint8) </a:t>
            </a:r>
            <a:r>
              <a:rPr>
                <a:solidFill>
                  <a:srgbClr val="666666"/>
                </a:solidFill>
                <a:latin typeface="Courier"/>
              </a:rPr>
              <a:t>+</a:t>
            </a:r>
            <a:r>
              <a:rPr>
                <a:latin typeface="Courier"/>
              </a:rPr>
              <a:t> </a:t>
            </a:r>
            <a:r>
              <a:rPr>
                <a:solidFill>
                  <a:srgbClr val="40A070"/>
                </a:solidFill>
                <a:latin typeface="Courier"/>
              </a:rPr>
              <a:t>10</a:t>
            </a:r>
            <a:br/>
            <a:r>
              <a:rPr>
                <a:latin typeface="Courier"/>
              </a:rPr>
              <a:t>                         </a:t>
            </a:r>
            <a:r>
              <a:rPr i="1">
                <a:solidFill>
                  <a:srgbClr val="60A0B0"/>
                </a:solidFill>
                <a:latin typeface="Courier"/>
              </a:rPr>
              <a:t># [4], not 260</a:t>
            </a:r>
            <a:br/>
            <a:r>
              <a:rPr>
                <a:latin typeface="Courier"/>
              </a:rPr>
              <a:t>np.float16(</a:t>
            </a:r>
            <a:r>
              <a:rPr>
                <a:solidFill>
                  <a:srgbClr val="40A070"/>
                </a:solidFill>
                <a:latin typeface="Courier"/>
              </a:rPr>
              <a:t>70000</a:t>
            </a:r>
            <a:r>
              <a:rPr>
                <a:latin typeface="Courier"/>
              </a:rPr>
              <a:t>)        </a:t>
            </a:r>
            <a:r>
              <a:rPr i="1">
                <a:solidFill>
                  <a:srgbClr val="60A0B0"/>
                </a:solidFill>
                <a:latin typeface="Courier"/>
              </a:rPr>
              <a:t># inf: overflow</a:t>
            </a:r>
            <a:br/>
            <a:br/>
            <a:r>
              <a:rPr>
                <a:latin typeface="Courier"/>
              </a:rPr>
              <a:t>h </a:t>
            </a:r>
            <a:r>
              <a:rPr>
                <a:solidFill>
                  <a:srgbClr val="666666"/>
                </a:solidFill>
                <a:latin typeface="Courier"/>
              </a:rPr>
              <a:t>=</a:t>
            </a:r>
            <a:r>
              <a:rPr>
                <a:latin typeface="Courier"/>
              </a:rPr>
              <a:t> np.full(</a:t>
            </a:r>
            <a:r>
              <a:rPr>
                <a:solidFill>
                  <a:srgbClr val="40A070"/>
                </a:solidFill>
                <a:latin typeface="Courier"/>
              </a:rPr>
              <a:t>10000</a:t>
            </a:r>
            <a:r>
              <a:rPr>
                <a:latin typeface="Courier"/>
              </a:rPr>
              <a:t>, </a:t>
            </a:r>
            <a:r>
              <a:rPr>
                <a:solidFill>
                  <a:srgbClr val="40A070"/>
                </a:solidFill>
                <a:latin typeface="Courier"/>
              </a:rPr>
              <a:t>0.1</a:t>
            </a:r>
            <a:r>
              <a:rPr>
                <a:latin typeface="Courier"/>
              </a:rPr>
              <a:t>, dtype</a:t>
            </a:r>
            <a:r>
              <a:rPr>
                <a:solidFill>
                  <a:srgbClr val="666666"/>
                </a:solidFill>
                <a:latin typeface="Courier"/>
              </a:rPr>
              <a:t>=</a:t>
            </a:r>
            <a:r>
              <a:rPr>
                <a:latin typeface="Courier"/>
              </a:rPr>
              <a:t>np.float16)</a:t>
            </a:r>
            <a:br/>
            <a:r>
              <a:rPr>
                <a:latin typeface="Courier"/>
              </a:rPr>
              <a:t>h.cumsum()[</a:t>
            </a:r>
            <a:r>
              <a:rPr>
                <a:solidFill>
                  <a:srgbClr val="666666"/>
                </a:solidFill>
                <a:latin typeface="Courier"/>
              </a:rPr>
              <a:t>-</a:t>
            </a:r>
            <a:r>
              <a:rPr>
                <a:solidFill>
                  <a:srgbClr val="40A070"/>
                </a:solidFill>
                <a:latin typeface="Courier"/>
              </a:rPr>
              <a:t>1</a:t>
            </a:r>
            <a:r>
              <a:rPr>
                <a:latin typeface="Courier"/>
              </a:rPr>
              <a:t>]           </a:t>
            </a:r>
            <a:r>
              <a:rPr i="1">
                <a:solidFill>
                  <a:srgbClr val="60A0B0"/>
                </a:solidFill>
                <a:latin typeface="Courier"/>
              </a:rPr>
              <a:t># 256.0, not 1000</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Création de tableaux</a:t>
            </a:r>
          </a:p>
        </p:txBody>
      </p:sp>
      <p:sp>
        <p:nvSpPr>
          <p:cNvPr id="3" name="Content Placeholder 2"/>
          <p:cNvSpPr>
            <a:spLocks noGrp="1"/>
          </p:cNvSpPr>
          <p:nvPr>
            <p:ph idx="1"/>
          </p:nvPr>
        </p:nvSpPr>
        <p:spPr/>
        <p:txBody>
          <a:bodyPr>
            <a:normAutofit/>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br/>
            <a:r>
              <a:rPr>
                <a:latin typeface="Courier"/>
              </a:rPr>
              <a:t>np.array([</a:t>
            </a:r>
            <a:r>
              <a:rPr>
                <a:solidFill>
                  <a:srgbClr val="40A070"/>
                </a:solidFill>
                <a:latin typeface="Courier"/>
              </a:rPr>
              <a:t>72</a:t>
            </a:r>
            <a:r>
              <a:rPr>
                <a:latin typeface="Courier"/>
              </a:rPr>
              <a:t>, </a:t>
            </a:r>
            <a:r>
              <a:rPr>
                <a:solidFill>
                  <a:srgbClr val="40A070"/>
                </a:solidFill>
                <a:latin typeface="Courier"/>
              </a:rPr>
              <a:t>85</a:t>
            </a:r>
            <a:r>
              <a:rPr>
                <a:latin typeface="Courier"/>
              </a:rPr>
              <a:t>, </a:t>
            </a:r>
            <a:r>
              <a:rPr>
                <a:solidFill>
                  <a:srgbClr val="40A070"/>
                </a:solidFill>
                <a:latin typeface="Courier"/>
              </a:rPr>
              <a:t>64</a:t>
            </a:r>
            <a:r>
              <a:rPr>
                <a:latin typeface="Courier"/>
              </a:rPr>
              <a:t>])</a:t>
            </a:r>
            <a:br/>
            <a:r>
              <a:rPr>
                <a:latin typeface="Courier"/>
              </a:rPr>
              <a:t>np.arange(</a:t>
            </a:r>
            <a:r>
              <a:rPr>
                <a:solidFill>
                  <a:srgbClr val="40A070"/>
                </a:solidFill>
                <a:latin typeface="Courier"/>
              </a:rPr>
              <a:t>12</a:t>
            </a:r>
            <a:r>
              <a:rPr>
                <a:latin typeface="Courier"/>
              </a:rPr>
              <a:t>).reshape(</a:t>
            </a:r>
            <a:r>
              <a:rPr>
                <a:solidFill>
                  <a:srgbClr val="40A070"/>
                </a:solidFill>
                <a:latin typeface="Courier"/>
              </a:rPr>
              <a:t>3</a:t>
            </a:r>
            <a:r>
              <a:rPr>
                <a:latin typeface="Courier"/>
              </a:rPr>
              <a:t>, </a:t>
            </a:r>
            <a:r>
              <a:rPr>
                <a:solidFill>
                  <a:srgbClr val="40A070"/>
                </a:solidFill>
                <a:latin typeface="Courier"/>
              </a:rPr>
              <a:t>4</a:t>
            </a:r>
            <a:r>
              <a:rPr>
                <a:latin typeface="Courier"/>
              </a:rPr>
              <a:t>)</a:t>
            </a:r>
            <a:br/>
            <a:r>
              <a:rPr>
                <a:latin typeface="Courier"/>
              </a:rPr>
              <a:t>np.linspace(</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40A070"/>
                </a:solidFill>
                <a:latin typeface="Courier"/>
              </a:rPr>
              <a:t>5</a:t>
            </a:r>
            <a:r>
              <a:rPr>
                <a:latin typeface="Courier"/>
              </a:rPr>
              <a:t>)     </a:t>
            </a:r>
            <a:r>
              <a:rPr i="1">
                <a:solidFill>
                  <a:srgbClr val="60A0B0"/>
                </a:solidFill>
                <a:latin typeface="Courier"/>
              </a:rPr>
              <a:t># 5 points</a:t>
            </a:r>
            <a:br/>
            <a:r>
              <a:rPr>
                <a:latin typeface="Courier"/>
              </a:rPr>
              <a:t>np.zeros((</a:t>
            </a:r>
            <a:r>
              <a:rPr>
                <a:solidFill>
                  <a:srgbClr val="40A070"/>
                </a:solidFill>
                <a:latin typeface="Courier"/>
              </a:rPr>
              <a:t>3</a:t>
            </a:r>
            <a:r>
              <a:rPr>
                <a:latin typeface="Courier"/>
              </a:rPr>
              <a:t>, </a:t>
            </a:r>
            <a:r>
              <a:rPr>
                <a:solidFill>
                  <a:srgbClr val="40A070"/>
                </a:solidFill>
                <a:latin typeface="Courier"/>
              </a:rPr>
              <a:t>4</a:t>
            </a:r>
            <a:r>
              <a:rPr>
                <a:latin typeface="Courier"/>
              </a:rPr>
              <a:t>))</a:t>
            </a:r>
            <a:br/>
            <a:r>
              <a:rPr>
                <a:latin typeface="Courier"/>
              </a:rPr>
              <a:t>np.eye(</a:t>
            </a:r>
            <a:r>
              <a:rPr>
                <a:solidFill>
                  <a:srgbClr val="40A070"/>
                </a:solidFill>
                <a:latin typeface="Courier"/>
              </a:rPr>
              <a:t>4</a:t>
            </a:r>
            <a:r>
              <a:rPr>
                <a:latin typeface="Courier"/>
              </a:rPr>
              <a:t>)                </a:t>
            </a:r>
            <a:r>
              <a:rPr i="1">
                <a:solidFill>
                  <a:srgbClr val="60A0B0"/>
                </a:solidFill>
                <a:latin typeface="Courier"/>
              </a:rPr>
              <a:t># identity</a:t>
            </a:r>
            <a:br/>
            <a:br/>
            <a:r>
              <a:rPr>
                <a:latin typeface="Courier"/>
              </a:rPr>
              <a:t>rng </a:t>
            </a:r>
            <a:r>
              <a:rPr>
                <a:solidFill>
                  <a:srgbClr val="666666"/>
                </a:solidFill>
                <a:latin typeface="Courier"/>
              </a:rPr>
              <a:t>=</a:t>
            </a:r>
            <a:r>
              <a:rPr>
                <a:latin typeface="Courier"/>
              </a:rPr>
              <a:t> np.random.default_rng(</a:t>
            </a:r>
            <a:r>
              <a:rPr>
                <a:solidFill>
                  <a:srgbClr val="40A070"/>
                </a:solidFill>
                <a:latin typeface="Courier"/>
              </a:rPr>
              <a:t>0</a:t>
            </a:r>
            <a:r>
              <a:rPr>
                <a:latin typeface="Courier"/>
              </a:rPr>
              <a:t>)</a:t>
            </a:r>
            <a:br/>
            <a:r>
              <a:rPr>
                <a:latin typeface="Courier"/>
              </a:rPr>
              <a:t>rng.normal(</a:t>
            </a:r>
            <a:r>
              <a:rPr>
                <a:solidFill>
                  <a:srgbClr val="40A070"/>
                </a:solidFill>
                <a:latin typeface="Courier"/>
              </a:rPr>
              <a:t>1.70</a:t>
            </a:r>
            <a:r>
              <a:rPr>
                <a:latin typeface="Courier"/>
              </a:rPr>
              <a:t>, </a:t>
            </a:r>
            <a:r>
              <a:rPr>
                <a:solidFill>
                  <a:srgbClr val="40A070"/>
                </a:solidFill>
                <a:latin typeface="Courier"/>
              </a:rPr>
              <a:t>0.09</a:t>
            </a:r>
            <a:r>
              <a:rPr>
                <a:latin typeface="Courier"/>
              </a:rPr>
              <a:t>, </a:t>
            </a:r>
            <a:r>
              <a:rPr>
                <a:solidFill>
                  <a:srgbClr val="40A070"/>
                </a:solidFill>
                <a:latin typeface="Courier"/>
              </a:rPr>
              <a:t>200</a:t>
            </a:r>
            <a:r>
              <a:rPr>
                <a:latin typeface="Courier"/>
              </a:rPr>
              <a: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Indexation en deux dimensions</a:t>
            </a:r>
          </a:p>
        </p:txBody>
      </p:sp>
      <p:pic>
        <p:nvPicPr>
          <p:cNvPr descr="img/array_index.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Les opérations sont élémentaires</a:t>
            </a:r>
          </a:p>
        </p:txBody>
      </p:sp>
      <p:sp>
        <p:nvSpPr>
          <p:cNvPr id="3" name="Content Placeholder 2"/>
          <p:cNvSpPr>
            <a:spLocks noGrp="1"/>
          </p:cNvSpPr>
          <p:nvPr>
            <p:ph idx="1"/>
          </p:nvPr>
        </p:nvSpPr>
        <p:spPr/>
        <p:txBody>
          <a:bodyPr>
            <a:normAutofit/>
          </a:bodyPr>
          <a:lstStyle/>
          <a:p>
            <a:pPr lvl="0" indent="0">
              <a:buNone/>
            </a:pPr>
            <a:r>
              <a:rPr>
                <a:latin typeface="Courier"/>
              </a:rPr>
              <a:t>x </a:t>
            </a:r>
            <a:r>
              <a:rPr>
                <a:solidFill>
                  <a:srgbClr val="666666"/>
                </a:solidFill>
                <a:latin typeface="Courier"/>
              </a:rPr>
              <a:t>=</a:t>
            </a:r>
            <a:r>
              <a:rPr>
                <a:latin typeface="Courier"/>
              </a:rPr>
              <a:t> np.arange(</a:t>
            </a:r>
            <a:r>
              <a:rPr>
                <a:solidFill>
                  <a:srgbClr val="40A070"/>
                </a:solidFill>
                <a:latin typeface="Courier"/>
              </a:rPr>
              <a:t>5</a:t>
            </a:r>
            <a:r>
              <a:rPr>
                <a:latin typeface="Courier"/>
              </a:rPr>
              <a:t>)   </a:t>
            </a:r>
            <a:r>
              <a:rPr i="1">
                <a:solidFill>
                  <a:srgbClr val="60A0B0"/>
                </a:solidFill>
                <a:latin typeface="Courier"/>
              </a:rPr>
              <a:t># [0 1 2 3 4]</a:t>
            </a:r>
            <a:br/>
            <a:br/>
            <a:r>
              <a:rPr>
                <a:latin typeface="Courier"/>
              </a:rPr>
              <a:t>x </a:t>
            </a:r>
            <a:r>
              <a:rPr>
                <a:solidFill>
                  <a:srgbClr val="666666"/>
                </a:solidFill>
                <a:latin typeface="Courier"/>
              </a:rPr>
              <a:t>**</a:t>
            </a:r>
            <a:r>
              <a:rPr>
                <a:latin typeface="Courier"/>
              </a:rPr>
              <a:t> </a:t>
            </a:r>
            <a:r>
              <a:rPr>
                <a:solidFill>
                  <a:srgbClr val="40A070"/>
                </a:solidFill>
                <a:latin typeface="Courier"/>
              </a:rPr>
              <a:t>2</a:t>
            </a:r>
            <a:r>
              <a:rPr>
                <a:latin typeface="Courier"/>
              </a:rPr>
              <a:t>             </a:t>
            </a:r>
            <a:r>
              <a:rPr i="1">
                <a:solidFill>
                  <a:srgbClr val="60A0B0"/>
                </a:solidFill>
                <a:latin typeface="Courier"/>
              </a:rPr>
              <a:t># [0 1 4 9 16]</a:t>
            </a:r>
            <a:br/>
            <a:r>
              <a:rPr>
                <a:latin typeface="Courier"/>
              </a:rPr>
              <a:t>x </a:t>
            </a:r>
            <a:r>
              <a:rPr>
                <a:solidFill>
                  <a:srgbClr val="666666"/>
                </a:solidFill>
                <a:latin typeface="Courier"/>
              </a:rPr>
              <a:t>+</a:t>
            </a:r>
            <a:r>
              <a:rPr>
                <a:latin typeface="Courier"/>
              </a:rPr>
              <a:t> </a:t>
            </a:r>
            <a:r>
              <a:rPr>
                <a:solidFill>
                  <a:srgbClr val="40A070"/>
                </a:solidFill>
                <a:latin typeface="Courier"/>
              </a:rPr>
              <a:t>10</a:t>
            </a:r>
            <a:r>
              <a:rPr>
                <a:latin typeface="Courier"/>
              </a:rPr>
              <a:t>             </a:t>
            </a:r>
            <a:r>
              <a:rPr i="1">
                <a:solidFill>
                  <a:srgbClr val="60A0B0"/>
                </a:solidFill>
                <a:latin typeface="Courier"/>
              </a:rPr>
              <a:t># [10 11 12 13 14]</a:t>
            </a:r>
            <a:br/>
            <a:r>
              <a:rPr>
                <a:latin typeface="Courier"/>
              </a:rPr>
              <a:t>np.sqrt(x)         </a:t>
            </a:r>
            <a:r>
              <a:rPr i="1">
                <a:solidFill>
                  <a:srgbClr val="60A0B0"/>
                </a:solidFill>
                <a:latin typeface="Courier"/>
              </a:rPr>
              <a:t># no loop</a:t>
            </a:r>
            <a:br/>
            <a:br/>
            <a:r>
              <a:rPr>
                <a:latin typeface="Courier"/>
              </a:rPr>
              <a:t>t </a:t>
            </a:r>
            <a:r>
              <a:rPr>
                <a:solidFill>
                  <a:srgbClr val="666666"/>
                </a:solidFill>
                <a:latin typeface="Courier"/>
              </a:rPr>
              <a:t>*</a:t>
            </a:r>
            <a:r>
              <a:rPr>
                <a:latin typeface="Courier"/>
              </a:rPr>
              <a:t> t              </a:t>
            </a:r>
            <a:r>
              <a:rPr i="1">
                <a:solidFill>
                  <a:srgbClr val="60A0B0"/>
                </a:solidFill>
                <a:latin typeface="Courier"/>
              </a:rPr>
              <a:t># element-wise</a:t>
            </a:r>
            <a:br/>
            <a:r>
              <a:rPr>
                <a:latin typeface="Courier"/>
              </a:rPr>
              <a:t>t </a:t>
            </a:r>
            <a:r>
              <a:rPr>
                <a:solidFill>
                  <a:srgbClr val="666666"/>
                </a:solidFill>
                <a:latin typeface="Courier"/>
              </a:rPr>
              <a:t>@</a:t>
            </a:r>
            <a:r>
              <a:rPr>
                <a:latin typeface="Courier"/>
              </a:rPr>
              <a:t> t.T            </a:t>
            </a:r>
            <a:r>
              <a:rPr i="1">
                <a:solidFill>
                  <a:srgbClr val="60A0B0"/>
                </a:solidFill>
                <a:latin typeface="Courier"/>
              </a:rPr>
              <a:t># matrix product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Diffusion</a:t>
            </a:r>
          </a:p>
        </p:txBody>
      </p:sp>
      <p:pic>
        <p:nvPicPr>
          <p:cNvPr descr="img/broadcast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Agrégation le long d’un axe</a:t>
            </a:r>
          </a:p>
        </p:txBody>
      </p:sp>
      <p:pic>
        <p:nvPicPr>
          <p:cNvPr descr="img/ax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Masques booléens</a:t>
            </a:r>
          </a:p>
        </p:txBody>
      </p:sp>
      <p:pic>
        <p:nvPicPr>
          <p:cNvPr descr="img/mask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Une cohorte en quelques lignes</a:t>
            </a:r>
          </a:p>
        </p:txBody>
      </p:sp>
      <p:sp>
        <p:nvSpPr>
          <p:cNvPr id="3" name="Content Placeholder 2"/>
          <p:cNvSpPr>
            <a:spLocks noGrp="1"/>
          </p:cNvSpPr>
          <p:nvPr>
            <p:ph idx="1"/>
          </p:nvPr>
        </p:nvSpPr>
        <p:spPr/>
        <p:txBody>
          <a:bodyPr>
            <a:normAutofit/>
          </a:bodyPr>
          <a:lstStyle/>
          <a:p>
            <a:pPr lvl="0" indent="0">
              <a:buNone/>
            </a:pPr>
            <a:r>
              <a:rPr>
                <a:latin typeface="Courier"/>
              </a:rPr>
              <a:t>bmi </a:t>
            </a:r>
            <a:r>
              <a:rPr>
                <a:solidFill>
                  <a:srgbClr val="666666"/>
                </a:solidFill>
                <a:latin typeface="Courier"/>
              </a:rPr>
              <a:t>=</a:t>
            </a:r>
            <a:r>
              <a:rPr>
                <a:latin typeface="Courier"/>
              </a:rPr>
              <a:t> weight </a:t>
            </a:r>
            <a:r>
              <a:rPr>
                <a:solidFill>
                  <a:srgbClr val="666666"/>
                </a:solidFill>
                <a:latin typeface="Courier"/>
              </a:rPr>
              <a:t>/</a:t>
            </a:r>
            <a:r>
              <a:rPr>
                <a:latin typeface="Courier"/>
              </a:rPr>
              <a:t> height </a:t>
            </a:r>
            <a:r>
              <a:rPr>
                <a:solidFill>
                  <a:srgbClr val="666666"/>
                </a:solidFill>
                <a:latin typeface="Courier"/>
              </a:rPr>
              <a:t>**</a:t>
            </a:r>
            <a:r>
              <a:rPr>
                <a:latin typeface="Courier"/>
              </a:rPr>
              <a:t> </a:t>
            </a:r>
            <a:r>
              <a:rPr>
                <a:solidFill>
                  <a:srgbClr val="40A070"/>
                </a:solidFill>
                <a:latin typeface="Courier"/>
              </a:rPr>
              <a:t>2</a:t>
            </a:r>
            <a:r>
              <a:rPr>
                <a:latin typeface="Courier"/>
              </a:rPr>
              <a:t>   </a:t>
            </a:r>
            <a:r>
              <a:rPr i="1">
                <a:solidFill>
                  <a:srgbClr val="60A0B0"/>
                </a:solidFill>
                <a:latin typeface="Courier"/>
              </a:rPr>
              <a:t># 200 at once</a:t>
            </a:r>
            <a:br/>
            <a:r>
              <a:rPr>
                <a:latin typeface="Courier"/>
              </a:rPr>
              <a:t>bmi.mean(), bmi.</a:t>
            </a:r>
            <a:r>
              <a:rPr>
                <a:solidFill>
                  <a:srgbClr val="008000"/>
                </a:solidFill>
                <a:latin typeface="Courier"/>
              </a:rPr>
              <a:t>min</a:t>
            </a:r>
            <a:r>
              <a:rPr>
                <a:latin typeface="Courier"/>
              </a:rPr>
              <a:t>(), bmi.</a:t>
            </a:r>
            <a:r>
              <a:rPr>
                <a:solidFill>
                  <a:srgbClr val="008000"/>
                </a:solidFill>
                <a:latin typeface="Courier"/>
              </a:rPr>
              <a:t>max</a:t>
            </a:r>
            <a:r>
              <a:rPr>
                <a:latin typeface="Courier"/>
              </a:rPr>
              <a:t>()</a:t>
            </a:r>
            <a:br/>
            <a:br/>
            <a:r>
              <a:rPr>
                <a:latin typeface="Courier"/>
              </a:rPr>
              <a:t>(bmi </a:t>
            </a:r>
            <a:r>
              <a:rPr>
                <a:solidFill>
                  <a:srgbClr val="666666"/>
                </a:solidFill>
                <a:latin typeface="Courier"/>
              </a:rPr>
              <a:t>&gt;=</a:t>
            </a:r>
            <a:r>
              <a:rPr>
                <a:latin typeface="Courier"/>
              </a:rPr>
              <a:t> </a:t>
            </a:r>
            <a:r>
              <a:rPr>
                <a:solidFill>
                  <a:srgbClr val="40A070"/>
                </a:solidFill>
                <a:latin typeface="Courier"/>
              </a:rPr>
              <a:t>30</a:t>
            </a:r>
            <a:r>
              <a:rPr>
                <a:latin typeface="Courier"/>
              </a:rPr>
              <a:t>).mean()     </a:t>
            </a:r>
            <a:r>
              <a:rPr i="1">
                <a:solidFill>
                  <a:srgbClr val="60A0B0"/>
                </a:solidFill>
                <a:latin typeface="Courier"/>
              </a:rPr>
              <a:t># 0.215</a:t>
            </a:r>
            <a:br/>
            <a:br/>
            <a:r>
              <a:rPr>
                <a:latin typeface="Courier"/>
              </a:rPr>
              <a:t>cat </a:t>
            </a:r>
            <a:r>
              <a:rPr>
                <a:solidFill>
                  <a:srgbClr val="666666"/>
                </a:solidFill>
                <a:latin typeface="Courier"/>
              </a:rPr>
              <a:t>=</a:t>
            </a:r>
            <a:r>
              <a:rPr>
                <a:latin typeface="Courier"/>
              </a:rPr>
              <a:t> np.digitize(bmi, [</a:t>
            </a:r>
            <a:r>
              <a:rPr>
                <a:solidFill>
                  <a:srgbClr val="40A070"/>
                </a:solidFill>
                <a:latin typeface="Courier"/>
              </a:rPr>
              <a:t>18.5</a:t>
            </a:r>
            <a:r>
              <a:rPr>
                <a:latin typeface="Courier"/>
              </a:rPr>
              <a:t>, </a:t>
            </a:r>
            <a:r>
              <a:rPr>
                <a:solidFill>
                  <a:srgbClr val="40A070"/>
                </a:solidFill>
                <a:latin typeface="Courier"/>
              </a:rPr>
              <a:t>25</a:t>
            </a:r>
            <a:r>
              <a:rPr>
                <a:latin typeface="Courier"/>
              </a:rPr>
              <a:t>, </a:t>
            </a:r>
            <a:r>
              <a:rPr>
                <a:solidFill>
                  <a:srgbClr val="40A070"/>
                </a:solidFill>
                <a:latin typeface="Courier"/>
              </a:rPr>
              <a:t>30</a:t>
            </a:r>
            <a:r>
              <a:rPr>
                <a:latin typeface="Courier"/>
              </a:rPr>
              <a:t>])</a:t>
            </a:r>
            <a:br/>
            <a:r>
              <a:rPr>
                <a:latin typeface="Courier"/>
              </a:rPr>
              <a:t>np.bincount(cat)       </a:t>
            </a:r>
            <a:r>
              <a:rPr i="1">
                <a:solidFill>
                  <a:srgbClr val="60A0B0"/>
                </a:solidFill>
                <a:latin typeface="Courier"/>
              </a:rPr>
              <a:t># [23 72 62 43]</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IMC de la cohorte</a:t>
            </a:r>
          </a:p>
        </p:txBody>
      </p:sp>
      <p:pic>
        <p:nvPicPr>
          <p:cNvPr descr="img/bmi_hist.png" id="0" name="Picture 1"/>
          <p:cNvPicPr>
            <a:picLocks noGrp="1" noChangeAspect="1"/>
          </p:cNvPicPr>
          <p:nvPr/>
        </p:nvPicPr>
        <p:blipFill>
          <a:blip r:embed="rId2"/>
          <a:stretch>
            <a:fillRect/>
          </a:stretch>
        </p:blipFill>
        <p:spPr bwMode="auto">
          <a:xfrm>
            <a:off x="457200" y="1193800"/>
            <a:ext cx="82296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 Types Python</dc:title>
  <dc:creator>Paul Dubois</dc:creator>
  <cp:keywords/>
  <dcterms:created xsi:type="dcterms:W3CDTF">2026-10-15T21:23:51Z</dcterms:created>
  <dcterms:modified xsi:type="dcterms:W3CDTF">2026-10-15T21:23:51Z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Semaine 1, cours</vt:lpwstr>
  </property>
  <property fmtid="{D5CDD505-2E9C-101B-9397-08002B2CF9AE}" pid="3" name="subtitle">
    <vt:lpwstr>Santé numérique, Mastère Spécialisé · 2026</vt:lpwstr>
  </property>
</Properties>
</file>