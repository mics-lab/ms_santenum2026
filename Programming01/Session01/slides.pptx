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notesMaster" Target="notesMasters/notesMaster1.xml" /><Relationship Id="rId43" Type="http://schemas.openxmlformats.org/officeDocument/2006/relationships/viewProps" Target="viewProps.xml" /><Relationship Id="rId42" Type="http://schemas.openxmlformats.org/officeDocument/2006/relationships/presProps" Target="presProps.xml" /><Relationship Id="rId1" Type="http://schemas.openxmlformats.org/officeDocument/2006/relationships/slideMaster" Target="slideMasters/slideMaster1.xml" /><Relationship Id="rId45" Type="http://schemas.openxmlformats.org/officeDocument/2006/relationships/tableStyles" Target="tableStyles.xml" /><Relationship Id="rId44"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single most useful picture of the session. </a:t>
            </a:r>
            <a:r>
              <a:rPr>
                <a:latin typeface="Courier"/>
              </a:rPr>
              <a:t>age = 54</a:t>
            </a:r>
            <a:r>
              <a:rPr/>
              <a:t> does not put 54 “in a box called age”: it creates the value 54 somewhere in memory, and sticks the label </a:t>
            </a:r>
            <a:r>
              <a:rPr>
                <a:latin typeface="Courier"/>
              </a:rPr>
              <a:t>age</a:t>
            </a:r>
            <a:r>
              <a:rPr/>
              <a:t> on it. The type belongs to the value, not to the name. That is why there is no declaration in Python (no </a:t>
            </a:r>
            <a:r>
              <a:rPr>
                <a:latin typeface="Courier"/>
              </a:rPr>
              <a:t>int age;</a:t>
            </a:r>
            <a:r>
              <a:rPr/>
              <a:t> as in C, seen in Session 0): you never say what a name will hold. </a:t>
            </a:r>
            <a:r>
              <a:rPr>
                <a:latin typeface="Courier"/>
              </a:rPr>
              <a:t>type(x)</a:t>
            </a:r>
            <a:r>
              <a:rPr/>
              <a:t> asks the value what it is. Make them type it live; it is the first debugging tool they will reach for.</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whole map of the session, and of the notebook: five single values on the left, four containers on the right. Anchor each one to a health example, they will remember the example before the name: an age is an </a:t>
            </a:r>
            <a:r>
              <a:rPr>
                <a:latin typeface="Courier"/>
              </a:rPr>
              <a:t>int</a:t>
            </a:r>
            <a:r>
              <a:rPr/>
              <a:t>, a temperature a </a:t>
            </a:r>
            <a:r>
              <a:rPr>
                <a:latin typeface="Courier"/>
              </a:rPr>
              <a:t>float</a:t>
            </a:r>
            <a:r>
              <a:rPr/>
              <a:t>, “has a fever” a </a:t>
            </a:r>
            <a:r>
              <a:rPr>
                <a:latin typeface="Courier"/>
              </a:rPr>
              <a:t>bool</a:t>
            </a:r>
            <a:r>
              <a:rPr/>
              <a:t>, a patient id a </a:t>
            </a:r>
            <a:r>
              <a:rPr>
                <a:latin typeface="Courier"/>
              </a:rPr>
              <a:t>str</a:t>
            </a:r>
            <a:r>
              <a:rPr/>
              <a:t>, a measurement nobody took is </a:t>
            </a:r>
            <a:r>
              <a:rPr>
                <a:latin typeface="Courier"/>
              </a:rPr>
              <a:t>None</a:t>
            </a:r>
            <a:r>
              <a:rPr/>
              <a:t>. A series of heart rates is a </a:t>
            </a:r>
            <a:r>
              <a:rPr>
                <a:latin typeface="Courier"/>
              </a:rPr>
              <a:t>list</a:t>
            </a:r>
            <a:r>
              <a:rPr/>
              <a:t>, a blood pressure a </a:t>
            </a:r>
            <a:r>
              <a:rPr>
                <a:latin typeface="Courier"/>
              </a:rPr>
              <a:t>tuple</a:t>
            </a:r>
            <a:r>
              <a:rPr/>
              <a:t>, a patient record a </a:t>
            </a:r>
            <a:r>
              <a:rPr>
                <a:latin typeface="Courier"/>
              </a:rPr>
              <a:t>dict</a:t>
            </a:r>
            <a:r>
              <a:rPr/>
              <a:t>, the distinct medications on a ward a </a:t>
            </a:r>
            <a:r>
              <a:rPr>
                <a:latin typeface="Courier"/>
              </a:rPr>
              <a:t>set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Dynamic typing: the label moved to a new value, of a new type. Python allowed the reassignment, but it still refuses to mix types that make no sense together. Read the error message out loud with them. Python errors name the types involved, and learning to read that line is half of debugging.</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latin typeface="Courier"/>
              </a:rPr>
              <a:t>int</a:t>
            </a:r>
            <a:r>
              <a:rPr/>
              <a:t> is exact and has no maximum: </a:t>
            </a:r>
            <a:r>
              <a:rPr>
                <a:latin typeface="Courier"/>
              </a:rPr>
              <a:t>2 ** 100</a:t>
            </a:r>
            <a:r>
              <a:rPr/>
              <a:t> just works, Python grows the integer as needed. </a:t>
            </a:r>
            <a:r>
              <a:rPr>
                <a:latin typeface="Courier"/>
              </a:rPr>
              <a:t>float</a:t>
            </a:r>
            <a:r>
              <a:rPr/>
              <a:t> is a 64 bit approximation: about 16 significant digits, and a maximum near 1.8e308 (</a:t>
            </a:r>
            <a:r>
              <a:rPr>
                <a:latin typeface="Courier"/>
              </a:rPr>
              <a:t>2.0 ** 1024</a:t>
            </a:r>
            <a:r>
              <a:rPr/>
              <a:t> overflows). </a:t>
            </a:r>
            <a:r>
              <a:rPr>
                <a:latin typeface="Courier"/>
              </a:rPr>
              <a:t>0.1 + 0.2 != 0.3</a:t>
            </a:r>
            <a:r>
              <a:rPr/>
              <a:t> surprises everyone once. It is not a Python bug: 0.1 has no exact binary form, exactly as 1/3 has no exact decimal form. Every language does this. The rule to take away: compare floats with </a:t>
            </a:r>
            <a:r>
              <a:rPr>
                <a:latin typeface="Courier"/>
              </a:rPr>
              <a:t>math.isclose</a:t>
            </a:r>
            <a:r>
              <a:rPr/>
              <a:t>, never with </a:t>
            </a:r>
            <a:r>
              <a:rPr>
                <a:latin typeface="Courier"/>
              </a:rPr>
              <a:t>==</a:t>
            </a:r>
            <a:r>
              <a:rPr/>
              <a:t>. A lab value filter written with </a:t>
            </a:r>
            <a:r>
              <a:rPr>
                <a:latin typeface="Courier"/>
              </a:rPr>
              <a:t>==</a:t>
            </a:r>
            <a:r>
              <a:rPr/>
              <a:t> on floats will silently drop rows.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one to underline: </a:t>
            </a:r>
            <a:r>
              <a:rPr>
                <a:latin typeface="Courier"/>
              </a:rPr>
              <a:t>/</a:t>
            </a:r>
            <a:r>
              <a:rPr/>
              <a:t> always returns a float, even for </a:t>
            </a:r>
            <a:r>
              <a:rPr>
                <a:latin typeface="Courier"/>
              </a:rPr>
              <a:t>6 / 2</a:t>
            </a:r>
            <a:r>
              <a:rPr/>
              <a:t> (gives </a:t>
            </a:r>
            <a:r>
              <a:rPr>
                <a:latin typeface="Courier"/>
              </a:rPr>
              <a:t>3.0</a:t>
            </a:r>
            <a:r>
              <a:rPr/>
              <a:t>). </a:t>
            </a:r>
            <a:r>
              <a:rPr>
                <a:latin typeface="Courier"/>
              </a:rPr>
              <a:t>//</a:t>
            </a:r>
            <a:r>
              <a:rPr/>
              <a:t> and </a:t>
            </a:r>
            <a:r>
              <a:rPr>
                <a:latin typeface="Courier"/>
              </a:rPr>
              <a:t>%</a:t>
            </a:r>
            <a:r>
              <a:rPr/>
              <a:t> go together: “how many full groups, and what is left over”. Example: </a:t>
            </a:r>
            <a:r>
              <a:rPr>
                <a:latin typeface="Courier"/>
              </a:rPr>
              <a:t>minutes // 60</a:t>
            </a:r>
            <a:r>
              <a:rPr/>
              <a:t> and </a:t>
            </a:r>
            <a:r>
              <a:rPr>
                <a:latin typeface="Courier"/>
              </a:rPr>
              <a:t>minutes % 60</a:t>
            </a:r>
            <a:r>
              <a:rPr/>
              <a:t> turn a stay duration into hours and minutes. </a:t>
            </a:r>
            <a:r>
              <a:rPr>
                <a:latin typeface="Courier"/>
              </a:rPr>
              <a:t>int(3.9)</a:t>
            </a:r>
            <a:r>
              <a:rPr/>
              <a:t> is 3: </a:t>
            </a:r>
            <a:r>
              <a:rPr>
                <a:latin typeface="Courier"/>
              </a:rPr>
              <a:t>int</a:t>
            </a:r>
            <a:r>
              <a:rPr/>
              <a:t> truncates, it does not round. Use </a:t>
            </a:r>
            <a:r>
              <a:rPr>
                <a:latin typeface="Courier"/>
              </a:rPr>
              <a:t>round</a:t>
            </a:r>
            <a:r>
              <a:rPr/>
              <a:t> when you mean round.</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Comparisons produce booleans, and booleans are what </a:t>
            </a:r>
            <a:r>
              <a:rPr>
                <a:latin typeface="Courier"/>
              </a:rPr>
              <a:t>if</a:t>
            </a:r>
            <a:r>
              <a:rPr/>
              <a:t> and filters consume. The chained comparison is a Python nicety that reads like maths; most languages need </a:t>
            </a:r>
            <a:r>
              <a:rPr>
                <a:latin typeface="Courier"/>
              </a:rPr>
              <a:t>temp &gt;= 36.5 and temp &lt;= 37.5</a:t>
            </a:r>
            <a:r>
              <a:rPr/>
              <a:t>. </a:t>
            </a:r>
            <a:r>
              <a:rPr>
                <a:latin typeface="Courier"/>
              </a:rPr>
              <a:t>True + True == 2</a:t>
            </a:r>
            <a:r>
              <a:rPr/>
              <a:t> is a curiosity now, but it is useful later: </a:t>
            </a:r>
            <a:r>
              <a:rPr>
                <a:latin typeface="Courier"/>
              </a:rPr>
              <a:t>sum(fevers)</a:t>
            </a:r>
            <a:r>
              <a:rPr/>
              <a:t> counts the patients with a fever, and </a:t>
            </a:r>
            <a:r>
              <a:rPr>
                <a:latin typeface="Courier"/>
              </a:rPr>
              <a:t>mean</a:t>
            </a:r>
            <a:r>
              <a:rPr/>
              <a:t> of a boolean column is a proportion. Note </a:t>
            </a:r>
            <a:r>
              <a:rPr>
                <a:latin typeface="Courier"/>
              </a:rPr>
              <a:t>=</a:t>
            </a:r>
            <a:r>
              <a:rPr/>
              <a:t> (assign) versus </a:t>
            </a:r>
            <a:r>
              <a:rPr>
                <a:latin typeface="Courier"/>
              </a:rPr>
              <a:t>==</a:t>
            </a:r>
            <a:r>
              <a:rPr/>
              <a:t> (compare): the most common typo of the week.</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Any value can stand in an </a:t>
            </a:r>
            <a:r>
              <a:rPr>
                <a:latin typeface="Courier"/>
              </a:rPr>
              <a:t>if</a:t>
            </a:r>
            <a:r>
              <a:rPr/>
              <a:t>. Zero and empty are false, everything else is true. This gives short, idiomatic code (</a:t>
            </a:r>
            <a:r>
              <a:rPr>
                <a:latin typeface="Courier"/>
              </a:rPr>
              <a:t>if heart_rates:</a:t>
            </a:r>
            <a:r>
              <a:rPr/>
              <a:t> instead of </a:t>
            </a:r>
            <a:r>
              <a:rPr>
                <a:latin typeface="Courier"/>
              </a:rPr>
              <a:t>if len(heart_rates) &gt; 0:</a:t>
            </a:r>
            <a:r>
              <a:rPr/>
              <a:t>), and one classic trap: the string </a:t>
            </a:r>
            <a:r>
              <a:rPr>
                <a:latin typeface="Courier"/>
              </a:rPr>
              <a:t>"0"</a:t>
            </a:r>
            <a:r>
              <a:rPr/>
              <a:t> read from a CSV is truthy, because it is a non-empty string. Convert before you test.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string is a sequence of characters, and sequences share one indexing grammar that they will reuse for lists, tuples, numpy arrays and pandas: indices start at 0, negative indices count from the end, and a slice </a:t>
            </a:r>
            <a:r>
              <a:rPr>
                <a:latin typeface="Courier"/>
              </a:rPr>
              <a:t>[start:stop]</a:t>
            </a:r>
            <a:r>
              <a:rPr/>
              <a:t> excludes </a:t>
            </a:r>
            <a:r>
              <a:rPr>
                <a:latin typeface="Courier"/>
              </a:rPr>
              <a:t>stop</a:t>
            </a:r>
            <a:r>
              <a:rPr/>
              <a:t>. </a:t>
            </a:r>
            <a:r>
              <a:rPr>
                <a:latin typeface="Courier"/>
              </a:rPr>
              <a:t>name[:3]</a:t>
            </a:r>
            <a:r>
              <a:rPr/>
              <a:t> is “the first three”, </a:t>
            </a:r>
            <a:r>
              <a:rPr>
                <a:latin typeface="Courier"/>
              </a:rPr>
              <a:t>name[-1]</a:t>
            </a:r>
            <a:r>
              <a:rPr/>
              <a:t> “the last one”: say these as sentences. Strings are immutable: you never change a string, you build a new one. That is why every string method returns a result instead of modifying the string in place.</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data cleaning in miniature. Free text from a hospital system comes with stray spaces, mixed case and line breaks; </a:t>
            </a:r>
            <a:r>
              <a:rPr>
                <a:latin typeface="Courier"/>
              </a:rPr>
              <a:t>strip</a:t>
            </a:r>
            <a:r>
              <a:rPr/>
              <a:t>, </a:t>
            </a:r>
            <a:r>
              <a:rPr>
                <a:latin typeface="Courier"/>
              </a:rPr>
              <a:t>lower</a:t>
            </a:r>
            <a:r>
              <a:rPr/>
              <a:t> and </a:t>
            </a:r>
            <a:r>
              <a:rPr>
                <a:latin typeface="Courier"/>
              </a:rPr>
              <a:t>replace</a:t>
            </a:r>
            <a:r>
              <a:rPr/>
              <a:t> normalise it so that “Diabetes Type 2” and “diabetes type 2” count as the same diagnosis. Methods chain because each returns a new string. f-strings are the way to build text from values: </a:t>
            </a:r>
            <a:r>
              <a:rPr>
                <a:latin typeface="Courier"/>
              </a:rPr>
              <a:t>{bmi:.2f}</a:t>
            </a:r>
            <a:r>
              <a:rPr/>
              <a:t> means “two decimals”. They replace </a:t>
            </a:r>
            <a:r>
              <a:rPr>
                <a:latin typeface="Courier"/>
              </a:rPr>
              <a:t>"BMI: " + str(bmi)</a:t>
            </a:r>
            <a:r>
              <a:rPr/>
              <a:t>, which is longer and does not format.</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read from a file or typed by a user arrives as text. </a:t>
            </a:r>
            <a:r>
              <a:rPr>
                <a:latin typeface="Courier"/>
              </a:rPr>
              <a:t>"54"</a:t>
            </a:r>
            <a:r>
              <a:rPr/>
              <a:t> is not 54 until you convert it, and </a:t>
            </a:r>
            <a:r>
              <a:rPr>
                <a:latin typeface="Courier"/>
              </a:rPr>
              <a:t>"54" + 1</a:t>
            </a:r>
            <a:r>
              <a:rPr/>
              <a:t> fails. Conversions fail loudly when the text is not what you expected: </a:t>
            </a:r>
            <a:r>
              <a:rPr>
                <a:latin typeface="Courier"/>
              </a:rPr>
              <a:t>int("3.5")</a:t>
            </a:r>
            <a:r>
              <a:rPr/>
              <a:t> is a </a:t>
            </a:r>
            <a:r>
              <a:rPr>
                <a:latin typeface="Courier"/>
              </a:rPr>
              <a:t>ValueError</a:t>
            </a:r>
            <a:r>
              <a:rPr/>
              <a:t>, not a silent 3. That is a feature: a bad row stops the script instead of corrupting the result. </a:t>
            </a:r>
            <a:r>
              <a:rPr>
                <a:latin typeface="Courier"/>
              </a:rPr>
              <a:t>None</a:t>
            </a:r>
            <a:r>
              <a:rPr/>
              <a:t> is Python’s “no value”: the glucose that was not measured. It is not 0 (a glucose of 0 would be a dead patient). Test it with </a:t>
            </a:r>
            <a:r>
              <a:rPr>
                <a:latin typeface="Courier"/>
              </a:rPr>
              <a:t>is None</a:t>
            </a:r>
            <a:r>
              <a:rPr/>
              <a:t>, not </a:t>
            </a:r>
            <a:r>
              <a:rPr>
                <a:latin typeface="Courier"/>
              </a:rPr>
              <a:t>== None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questions decide which container to use. (1) Do I find items by position, or by name? Position: list or tuple. Name: dict. (2) Will it change? A list grows as measurements arrive; a tuple is a fixed record, like (systolic, diastolic). (3) Do duplicates matter? A set keeps each value once, which is exactly “the distinct medications”. Literal syntax: square brackets for lists, parentheses for tuples, braces for dicts and sets (braces with </a:t>
            </a:r>
            <a:r>
              <a:rPr>
                <a:latin typeface="Courier"/>
              </a:rPr>
              <a:t>key: value</a:t>
            </a:r>
            <a:r>
              <a:rPr/>
              <a:t> pairs make a dict). Careful: </a:t>
            </a:r>
            <a:r>
              <a:rPr>
                <a:latin typeface="Courier"/>
              </a:rPr>
              <a:t>{}</a:t>
            </a:r>
            <a:r>
              <a:rPr/>
              <a:t> is an empty dict; an empty set is </a:t>
            </a:r>
            <a:r>
              <a:rPr>
                <a:latin typeface="Courier"/>
              </a:rPr>
              <a:t>set()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indexing and slicing as strings: they already know it. The difference is that a list can change in place. </a:t>
            </a:r>
            <a:r>
              <a:rPr>
                <a:latin typeface="Courier"/>
              </a:rPr>
              <a:t>min</a:t>
            </a:r>
            <a:r>
              <a:rPr/>
              <a:t>, </a:t>
            </a:r>
            <a:r>
              <a:rPr>
                <a:latin typeface="Courier"/>
              </a:rPr>
              <a:t>max</a:t>
            </a:r>
            <a:r>
              <a:rPr/>
              <a:t>, </a:t>
            </a:r>
            <a:r>
              <a:rPr>
                <a:latin typeface="Courier"/>
              </a:rPr>
              <a:t>sum</a:t>
            </a:r>
            <a:r>
              <a:rPr/>
              <a:t> and </a:t>
            </a:r>
            <a:r>
              <a:rPr>
                <a:latin typeface="Courier"/>
              </a:rPr>
              <a:t>len</a:t>
            </a:r>
            <a:r>
              <a:rPr/>
              <a:t> work on any list of numbers. The last line is a list comprehension: “the hr, for each hr in heart_rates, if hr &gt; 80”. Read it in that order. It is the Python way to filter and transform, and it is the shape of what pandas will do on a whole column. </a:t>
            </a:r>
            <a:r>
              <a:rPr>
                <a:latin typeface="Courier"/>
              </a:rPr>
              <a:t>sorted(x)</a:t>
            </a:r>
            <a:r>
              <a:rPr/>
              <a:t> returns a new sorted list; </a:t>
            </a:r>
            <a:r>
              <a:rPr>
                <a:latin typeface="Courier"/>
              </a:rPr>
              <a:t>x.sort()</a:t>
            </a:r>
            <a:r>
              <a:rPr/>
              <a:t> sorts in place and returns </a:t>
            </a:r>
            <a:r>
              <a:rPr>
                <a:latin typeface="Courier"/>
              </a:rPr>
              <a:t>None</a:t>
            </a:r>
            <a:r>
              <a:rPr/>
              <a:t>. Assigning the result of </a:t>
            </a:r>
            <a:r>
              <a:rPr>
                <a:latin typeface="Courier"/>
              </a:rPr>
              <a:t>.sort()</a:t>
            </a:r>
            <a:r>
              <a:rPr/>
              <a:t> is a classic bug.</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Back to the first picture: </a:t>
            </a:r>
            <a:r>
              <a:rPr>
                <a:latin typeface="Courier"/>
              </a:rPr>
              <a:t>b = a</a:t>
            </a:r>
            <a:r>
              <a:rPr/>
              <a:t> sticks a second label on the same list. It does not copy. Appending through </a:t>
            </a:r>
            <a:r>
              <a:rPr>
                <a:latin typeface="Courier"/>
              </a:rPr>
              <a:t>b</a:t>
            </a:r>
            <a:r>
              <a:rPr/>
              <a:t> is visible through </a:t>
            </a:r>
            <a:r>
              <a:rPr>
                <a:latin typeface="Courier"/>
              </a:rPr>
              <a:t>a</a:t>
            </a:r>
            <a:r>
              <a:rPr/>
              <a:t>, because there is only one list. This matters as soon as they pass a list to a function, or take a “copy” of a table to clean it. </a:t>
            </a:r>
            <a:r>
              <a:rPr>
                <a:latin typeface="Courier"/>
              </a:rPr>
              <a:t>.copy()</a:t>
            </a:r>
            <a:r>
              <a:rPr/>
              <a:t> (or </a:t>
            </a:r>
            <a:r>
              <a:rPr>
                <a:latin typeface="Courier"/>
              </a:rPr>
              <a:t>list(a)</a:t>
            </a:r>
            <a:r>
              <a:rPr/>
              <a:t>, or </a:t>
            </a:r>
            <a:r>
              <a:rPr>
                <a:latin typeface="Courier"/>
              </a:rPr>
              <a:t>a[:]</a:t>
            </a:r>
            <a:r>
              <a:rPr/>
              <a:t>) makes an independent list. Strings, numbers and tuples are immutable, so sharing them is harmless: nothing can change them in place. The trap only exists for mutable values: lists, dicts, sets.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tuple is a fixed group of values that belong together: a blood pressure, a (row, col) coordinate, a (min, max) range. Fixed is the point: nobody can change one half of a blood pressure by accident. Unpacking gives each part a name, and it is everywhere: </a:t>
            </a:r>
            <a:r>
              <a:rPr>
                <a:latin typeface="Courier"/>
              </a:rPr>
              <a:t>for key, value in d.items()</a:t>
            </a:r>
            <a:r>
              <a:rPr/>
              <a:t>, functions returning several values, the swap idiom. Being immutable, a tuple can be a dict key; a list cannot.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dict maps keys to values: a record where each field has a name. </a:t>
            </a:r>
            <a:r>
              <a:rPr>
                <a:latin typeface="Courier"/>
              </a:rPr>
              <a:t>patient["age"]</a:t>
            </a:r>
            <a:r>
              <a:rPr/>
              <a:t> is clearer than </a:t>
            </a:r>
            <a:r>
              <a:rPr>
                <a:latin typeface="Courier"/>
              </a:rPr>
              <a:t>patient[1]</a:t>
            </a:r>
            <a:r>
              <a:rPr/>
              <a:t>, and stays correct when a field is added. Missing keys raise a </a:t>
            </a:r>
            <a:r>
              <a:rPr>
                <a:latin typeface="Courier"/>
              </a:rPr>
              <a:t>KeyError</a:t>
            </a:r>
            <a:r>
              <a:rPr/>
              <a:t>. Two ways to cope: test first with </a:t>
            </a:r>
            <a:r>
              <a:rPr>
                <a:latin typeface="Courier"/>
              </a:rPr>
              <a:t>in</a:t>
            </a:r>
            <a:r>
              <a:rPr/>
              <a:t>, or use </a:t>
            </a:r>
            <a:r>
              <a:rPr>
                <a:latin typeface="Courier"/>
              </a:rPr>
              <a:t>.get</a:t>
            </a:r>
            <a:r>
              <a:rPr/>
              <a:t> with a default. Prefer </a:t>
            </a:r>
            <a:r>
              <a:rPr>
                <a:latin typeface="Courier"/>
              </a:rPr>
              <a:t>.get</a:t>
            </a:r>
            <a:r>
              <a:rPr/>
              <a:t> when a missing field is normal (smoking status often is). Lookup by key is instantaneous whatever the size of the dict; that is why dicts are also used to count things: </a:t>
            </a:r>
            <a:r>
              <a:rPr>
                <a:latin typeface="Courier"/>
              </a:rPr>
              <a:t>counts[d] = counts.get(d, 0) + 1</a:t>
            </a:r>
            <a:r>
              <a:rPr/>
              <a:t>. Loop with </a:t>
            </a:r>
            <a:r>
              <a:rPr>
                <a:latin typeface="Courier"/>
              </a:rPr>
              <a:t>for key, value in patient.items():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set keeps each value once and has no order. Converting a list to a set is the fastest way to deduplicate: </a:t>
            </a:r>
            <a:r>
              <a:rPr>
                <a:latin typeface="Courier"/>
              </a:rPr>
              <a:t>len(set(medications))</a:t>
            </a:r>
            <a:r>
              <a:rPr/>
              <a:t> is the number of distinct drugs. The operators answer the clinical questions directly: which drugs do two patients share (</a:t>
            </a:r>
            <a:r>
              <a:rPr>
                <a:latin typeface="Courier"/>
              </a:rPr>
              <a:t>&amp;</a:t>
            </a:r>
            <a:r>
              <a:rPr/>
              <a:t>, interaction checks), which drugs appear at all (</a:t>
            </a:r>
            <a:r>
              <a:rPr>
                <a:latin typeface="Courier"/>
              </a:rPr>
              <a:t>|</a:t>
            </a:r>
            <a:r>
              <a:rPr/>
              <a:t>), which are specific to one (</a:t>
            </a:r>
            <a:r>
              <a:rPr>
                <a:latin typeface="Courier"/>
              </a:rPr>
              <a:t>-</a:t>
            </a:r>
            <a:r>
              <a:rPr/>
              <a:t>). </a:t>
            </a:r>
            <a:r>
              <a:rPr>
                <a:latin typeface="Courier"/>
              </a:rPr>
              <a:t>x in some_set</a:t>
            </a:r>
            <a:r>
              <a:rPr/>
              <a:t> is instantaneous, like for dict keys.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Real data is nested: a list of patients, each a dict, some fields themselves lists. This is exactly the shape of a JSON export, and of what a pandas DataFrame flattens later. Read the access path one bracket at a time, saying the type at each step: </a:t>
            </a:r>
            <a:r>
              <a:rPr>
                <a:latin typeface="Courier"/>
              </a:rPr>
              <a:t>patients</a:t>
            </a:r>
            <a:r>
              <a:rPr/>
              <a:t> is a list, </a:t>
            </a:r>
            <a:r>
              <a:rPr>
                <a:latin typeface="Courier"/>
              </a:rPr>
              <a:t>[2]</a:t>
            </a:r>
            <a:r>
              <a:rPr/>
              <a:t> gives a dict, </a:t>
            </a:r>
            <a:r>
              <a:rPr>
                <a:latin typeface="Courier"/>
              </a:rPr>
              <a:t>["diagnoses"]</a:t>
            </a:r>
            <a:r>
              <a:rPr/>
              <a:t> gives a list, </a:t>
            </a:r>
            <a:r>
              <a:rPr>
                <a:latin typeface="Courier"/>
              </a:rPr>
              <a:t>[0]</a:t>
            </a:r>
            <a:r>
              <a:rPr/>
              <a:t> gives a str. When an access fails, print the </a:t>
            </a:r>
            <a:r>
              <a:rPr>
                <a:latin typeface="Courier"/>
              </a:rPr>
              <a:t>type</a:t>
            </a:r>
            <a:r>
              <a:rPr/>
              <a:t> of the intermediate value: it is almost always “I thought this was a dict but it is a list”.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list of a million heart rates is a million separate Python objects, each with its own type, scattered in memory; the list only holds arrows to them. Every </a:t>
            </a:r>
            <a:r>
              <a:rPr>
                <a:latin typeface="Courier"/>
              </a:rPr>
              <a:t>+</a:t>
            </a:r>
            <a:r>
              <a:rPr/>
              <a:t> in a loop asks Python “what type is this?” again. A NumPy array is one contiguous block of numbers, all of the same type (the dtype). The loop is then run by compiled C code, which never asks: that is the “Fast” panel of Session 0, made concrete. The price: an array holds one type only, and has a fixed size. For numbers, that is the price you always want to pay. Measure it yourself in the notebook with </a:t>
            </a:r>
            <a:r>
              <a:rPr>
                <a:latin typeface="Courier"/>
              </a:rPr>
              <a:t>%timeit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attributes describe every array, and they are the first thing to print when something goes wrong. </a:t>
            </a:r>
            <a:r>
              <a:rPr>
                <a:latin typeface="Courier"/>
              </a:rPr>
              <a:t>.shape</a:t>
            </a:r>
            <a:r>
              <a:rPr/>
              <a:t> is a tuple, the size along each axis; </a:t>
            </a:r>
            <a:r>
              <a:rPr>
                <a:latin typeface="Courier"/>
              </a:rPr>
              <a:t>.ndim</a:t>
            </a:r>
            <a:r>
              <a:rPr/>
              <a:t> is its length. </a:t>
            </a:r>
            <a:r>
              <a:rPr>
                <a:latin typeface="Courier"/>
              </a:rPr>
              <a:t>.dtype</a:t>
            </a:r>
            <a:r>
              <a:rPr/>
              <a:t> is the single type of every cell. Axis 0 is the rows (going down), axis 1 the columns (going across). A table of 200 patients by 3 measurements has shape </a:t>
            </a:r>
            <a:r>
              <a:rPr>
                <a:latin typeface="Courier"/>
              </a:rPr>
              <a:t>(200, 3)</a:t>
            </a:r>
            <a:r>
              <a:rPr/>
              <a:t>. One float in the list and every cell becomes a float: the array picks a dtype that fits every value. A string in the list would make an array of strings, and arithmetic stops working, a classic symptom of a dirty CSV column.</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Python has one </a:t>
            </a:r>
            <a:r>
              <a:rPr>
                <a:latin typeface="Courier"/>
              </a:rPr>
              <a:t>int</a:t>
            </a:r>
            <a:r>
              <a:rPr/>
              <a:t> and one </a:t>
            </a:r>
            <a:r>
              <a:rPr>
                <a:latin typeface="Courier"/>
              </a:rPr>
              <a:t>float</a:t>
            </a:r>
            <a:r>
              <a:rPr/>
              <a:t>. NumPy has a family of each, with a fixed size in bytes, because every cell of an array must have the same size for the block of memory to work. The number in the name is the number of bits: </a:t>
            </a:r>
            <a:r>
              <a:rPr>
                <a:latin typeface="Courier"/>
              </a:rPr>
              <a:t>int16</a:t>
            </a:r>
            <a:r>
              <a:rPr/>
              <a:t> is 16 bits, 2 bytes. </a:t>
            </a:r>
            <a:r>
              <a:rPr>
                <a:latin typeface="Courier"/>
              </a:rPr>
              <a:t>u</a:t>
            </a:r>
            <a:r>
              <a:rPr/>
              <a:t> means unsigned (no negative values). You rarely pick: </a:t>
            </a:r>
            <a:r>
              <a:rPr>
                <a:latin typeface="Courier"/>
              </a:rPr>
              <a:t>np.array</a:t>
            </a:r>
            <a:r>
              <a:rPr/>
              <a:t> chooses </a:t>
            </a:r>
            <a:r>
              <a:rPr>
                <a:latin typeface="Courier"/>
              </a:rPr>
              <a:t>int64</a:t>
            </a:r>
            <a:r>
              <a:rPr/>
              <a:t> or </a:t>
            </a:r>
            <a:r>
              <a:rPr>
                <a:latin typeface="Courier"/>
              </a:rPr>
              <a:t>float64</a:t>
            </a:r>
            <a:r>
              <a:rPr/>
              <a:t>. But the files you read pick for you: a DICOM CT is usually </a:t>
            </a:r>
            <a:r>
              <a:rPr>
                <a:latin typeface="Courier"/>
              </a:rPr>
              <a:t>int16</a:t>
            </a:r>
            <a:r>
              <a:rPr/>
              <a:t>, a PNG </a:t>
            </a:r>
            <a:r>
              <a:rPr>
                <a:latin typeface="Courier"/>
              </a:rPr>
              <a:t>uint8</a:t>
            </a:r>
            <a:r>
              <a:rPr/>
              <a:t>, a NIfTI often </a:t>
            </a:r>
            <a:r>
              <a:rPr>
                <a:latin typeface="Courier"/>
              </a:rPr>
              <a:t>float32</a:t>
            </a:r>
            <a:r>
              <a:rPr/>
              <a:t>, and a deep learning model </a:t>
            </a:r>
            <a:r>
              <a:rPr>
                <a:latin typeface="Courier"/>
              </a:rPr>
              <a:t>float32</a:t>
            </a:r>
            <a:r>
              <a:rPr/>
              <a:t> or less. Always print </a:t>
            </a:r>
            <a:r>
              <a:rPr>
                <a:latin typeface="Courier"/>
              </a:rPr>
              <a:t>.dtype</a:t>
            </a:r>
            <a:r>
              <a:rPr/>
              <a:t> after loading data.</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float is scientific notation in binary: a sign, an exponent (where the point goes: the range) and a mantissa (the significant digits: the precision). Halving the size costs both. </a:t>
            </a:r>
            <a:r>
              <a:rPr>
                <a:latin typeface="Courier"/>
              </a:rPr>
              <a:t>float32</a:t>
            </a:r>
            <a:r>
              <a:rPr/>
              <a:t> keeps 7 digits, plenty for any measurement made in a hospital. </a:t>
            </a:r>
            <a:r>
              <a:rPr>
                <a:latin typeface="Courier"/>
              </a:rPr>
              <a:t>float16</a:t>
            </a:r>
            <a:r>
              <a:rPr/>
              <a:t> keeps 3 digits and cannot go above 65 504. </a:t>
            </a:r>
            <a:r>
              <a:rPr>
                <a:latin typeface="Courier"/>
              </a:rPr>
              <a:t>float8</a:t>
            </a:r>
            <a:r>
              <a:rPr/>
              <a:t> keeps about one digit; it exists for deep learning on recent GPUs (two variants: e4m3 for precision, e5m2 for range). NumPy itself stops at </a:t>
            </a:r>
            <a:r>
              <a:rPr>
                <a:latin typeface="Courier"/>
              </a:rPr>
              <a:t>float16</a:t>
            </a:r>
            <a:r>
              <a:rPr/>
              <a:t>: </a:t>
            </a:r>
            <a:r>
              <a:rPr>
                <a:latin typeface="Courier"/>
              </a:rPr>
              <a:t>float8</a:t>
            </a:r>
            <a:r>
              <a:rPr/>
              <a:t> comes from the </a:t>
            </a:r>
            <a:r>
              <a:rPr>
                <a:latin typeface="Courier"/>
              </a:rPr>
              <a:t>ml_dtypes</a:t>
            </a:r>
            <a:r>
              <a:rPr/>
              <a:t> package or from </a:t>
            </a:r>
            <a:r>
              <a:rPr>
                <a:latin typeface="Courier"/>
              </a:rPr>
              <a:t>torch.float8_e4m3fn</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 number on this slide was computed by numpy, not typed by hand. </a:t>
            </a:r>
            <a:r>
              <a:rPr>
                <a:latin typeface="Courier"/>
              </a:rPr>
              <a:t>float64</a:t>
            </a:r>
            <a:r>
              <a:rPr/>
              <a:t> and </a:t>
            </a:r>
            <a:r>
              <a:rPr>
                <a:latin typeface="Courier"/>
              </a:rPr>
              <a:t>float32</a:t>
            </a:r>
            <a:r>
              <a:rPr/>
              <a:t> agree to well beyond what a thermometer measures. </a:t>
            </a:r>
            <a:r>
              <a:rPr>
                <a:latin typeface="Courier"/>
              </a:rPr>
              <a:t>float16</a:t>
            </a:r>
            <a:r>
              <a:rPr/>
              <a:t> starts to show: 38.40625 instead of 38.4, harmless for a temperature, but the error grows with the value (1000.4 becomes 1000.5: the gap between two float16 neighbours near 1000 is 0.5). </a:t>
            </a:r>
            <a:r>
              <a:rPr>
                <a:latin typeface="Courier"/>
              </a:rPr>
              <a:t>float8</a:t>
            </a:r>
            <a:r>
              <a:rPr/>
              <a:t> turns a 38.4 °C fever into 40 °C, and a platelet count of 1000 into “not a number”. It is a format for neural network weights, which tolerate noise, not for clinical data.</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Memory is bytes per value times number of values. One CT volume is 79 million voxels: 629 MB in </a:t>
            </a:r>
            <a:r>
              <a:rPr>
                <a:latin typeface="Courier"/>
              </a:rPr>
              <a:t>float64</a:t>
            </a:r>
            <a:r>
              <a:rPr/>
              <a:t>, 315 MB in </a:t>
            </a:r>
            <a:r>
              <a:rPr>
                <a:latin typeface="Courier"/>
              </a:rPr>
              <a:t>float32</a:t>
            </a:r>
            <a:r>
              <a:rPr/>
              <a:t>. A batch of scans for training does not fit on a GPU in </a:t>
            </a:r>
            <a:r>
              <a:rPr>
                <a:latin typeface="Courier"/>
              </a:rPr>
              <a:t>float64</a:t>
            </a:r>
            <a:r>
              <a:rPr/>
              <a:t>. Fewer bytes also means faster: more values per memory transfer, and GPUs have dedicated hardware for 16 and 8 bit arithmetic. This is why deep learning trains in </a:t>
            </a:r>
            <a:r>
              <a:rPr>
                <a:latin typeface="Courier"/>
              </a:rPr>
              <a:t>float32</a:t>
            </a:r>
            <a:r>
              <a:rPr/>
              <a:t> or “mixed precision” (</a:t>
            </a:r>
            <a:r>
              <a:rPr>
                <a:latin typeface="Courier"/>
              </a:rPr>
              <a:t>float16</a:t>
            </a:r>
            <a:r>
              <a:rPr/>
              <a:t>/</a:t>
            </a:r>
            <a:r>
              <a:rPr>
                <a:latin typeface="Courier"/>
              </a:rPr>
              <a:t>bfloat16</a:t>
            </a:r>
            <a:r>
              <a:rPr/>
              <a:t> for the bulk, </a:t>
            </a:r>
            <a:r>
              <a:rPr>
                <a:latin typeface="Courier"/>
              </a:rPr>
              <a:t>float32</a:t>
            </a:r>
            <a:r>
              <a:rPr/>
              <a:t> where it matters), and runs large models in 8 bits or less. The rule for this course: </a:t>
            </a:r>
            <a:r>
              <a:rPr>
                <a:latin typeface="Courier"/>
              </a:rPr>
              <a:t>float64</a:t>
            </a:r>
            <a:r>
              <a:rPr/>
              <a:t> for statistics and tables, </a:t>
            </a:r>
            <a:r>
              <a:rPr>
                <a:latin typeface="Courier"/>
              </a:rPr>
              <a:t>float32</a:t>
            </a:r>
            <a:r>
              <a:rPr/>
              <a:t> for images and neural networks, smaller only when a library does it for you.</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latin typeface="Courier"/>
              </a:rPr>
              <a:t>dtype=</a:t>
            </a:r>
            <a:r>
              <a:rPr/>
              <a:t> at creation, </a:t>
            </a:r>
            <a:r>
              <a:rPr>
                <a:latin typeface="Courier"/>
              </a:rPr>
              <a:t>.astype()</a:t>
            </a:r>
            <a:r>
              <a:rPr/>
              <a:t> to convert (it returns a new array), </a:t>
            </a:r>
            <a:r>
              <a:rPr>
                <a:latin typeface="Courier"/>
              </a:rPr>
              <a:t>.nbytes</a:t>
            </a:r>
            <a:r>
              <a:rPr/>
              <a:t> for the memory. Three silent failures, none of which raises an error: (1) integers wrap around: 250 + 10 in </a:t>
            </a:r>
            <a:r>
              <a:rPr>
                <a:latin typeface="Courier"/>
              </a:rPr>
              <a:t>uint8</a:t>
            </a:r>
            <a:r>
              <a:rPr/>
              <a:t> is 4. Typical when adjusting the brightness of an image; convert to a larger type first. (2) </a:t>
            </a:r>
            <a:r>
              <a:rPr>
                <a:latin typeface="Courier"/>
              </a:rPr>
              <a:t>float16</a:t>
            </a:r>
            <a:r>
              <a:rPr/>
              <a:t> overflows to </a:t>
            </a:r>
            <a:r>
              <a:rPr>
                <a:latin typeface="Courier"/>
              </a:rPr>
              <a:t>inf</a:t>
            </a:r>
            <a:r>
              <a:rPr/>
              <a:t> above 65 504. (3) adding many small numbers in low precision stalls: at 256 the next 0.1 is below half the gap between float16 neighbours (0.25), so the sum stops growing. Accumulate in </a:t>
            </a:r>
            <a:r>
              <a:rPr>
                <a:latin typeface="Courier"/>
              </a:rPr>
              <a:t>float32</a:t>
            </a:r>
            <a:r>
              <a:rPr/>
              <a:t> or </a:t>
            </a:r>
            <a:r>
              <a:rPr>
                <a:latin typeface="Courier"/>
              </a:rPr>
              <a:t>float64</a:t>
            </a:r>
            <a:r>
              <a:rPr/>
              <a:t> (numpy’s </a:t>
            </a:r>
            <a:r>
              <a:rPr>
                <a:latin typeface="Courier"/>
              </a:rPr>
              <a:t>.sum()</a:t>
            </a:r>
            <a:r>
              <a:rPr/>
              <a:t> already protects you better than a running total, but not completely).</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latin typeface="Courier"/>
              </a:rPr>
              <a:t>np</a:t>
            </a:r>
            <a:r>
              <a:rPr/>
              <a:t> is the universal alias; every tutorial, answer and library uses it. </a:t>
            </a:r>
            <a:r>
              <a:rPr>
                <a:latin typeface="Courier"/>
              </a:rPr>
              <a:t>arange</a:t>
            </a:r>
            <a:r>
              <a:rPr/>
              <a:t> works like </a:t>
            </a:r>
            <a:r>
              <a:rPr>
                <a:latin typeface="Courier"/>
              </a:rPr>
              <a:t>range</a:t>
            </a:r>
            <a:r>
              <a:rPr/>
              <a:t> (end excluded); </a:t>
            </a:r>
            <a:r>
              <a:rPr>
                <a:latin typeface="Courier"/>
              </a:rPr>
              <a:t>linspace</a:t>
            </a:r>
            <a:r>
              <a:rPr/>
              <a:t> takes a number of points and includes the end. </a:t>
            </a:r>
            <a:r>
              <a:rPr>
                <a:latin typeface="Courier"/>
              </a:rPr>
              <a:t>reshape</a:t>
            </a:r>
            <a:r>
              <a:rPr/>
              <a:t> rearranges without copying, as long as the sizes match: 12 values cannot become 5 x 2. Random numbers: always use a seeded generator, so the same script gives the same result tomorrow and on your colleague’s machine. That is reproducibility at the smallest scale.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grammar as lists and strings, with one index per axis, separated by a comma: </a:t>
            </a:r>
            <a:r>
              <a:rPr>
                <a:latin typeface="Courier"/>
              </a:rPr>
              <a:t>y[row, col]</a:t>
            </a:r>
            <a:r>
              <a:rPr/>
              <a:t>. A </a:t>
            </a:r>
            <a:r>
              <a:rPr>
                <a:latin typeface="Courier"/>
              </a:rPr>
              <a:t>:</a:t>
            </a:r>
            <a:r>
              <a:rPr/>
              <a:t> alone means “everything along this axis”. </a:t>
            </a:r>
            <a:r>
              <a:rPr>
                <a:latin typeface="Courier"/>
              </a:rPr>
              <a:t>y[1]</a:t>
            </a:r>
            <a:r>
              <a:rPr/>
              <a:t> is a whole row; </a:t>
            </a:r>
            <a:r>
              <a:rPr>
                <a:latin typeface="Courier"/>
              </a:rPr>
              <a:t>y[:, 2]</a:t>
            </a:r>
            <a:r>
              <a:rPr/>
              <a:t> a whole column (the thing lists of lists cannot do). Slices of an array are views, not copies: writing into </a:t>
            </a:r>
            <a:r>
              <a:rPr>
                <a:latin typeface="Courier"/>
              </a:rPr>
              <a:t>y[:2, :2]</a:t>
            </a:r>
            <a:r>
              <a:rPr/>
              <a:t> changes </a:t>
            </a:r>
            <a:r>
              <a:rPr>
                <a:latin typeface="Courier"/>
              </a:rPr>
              <a:t>y</a:t>
            </a:r>
            <a:r>
              <a:rPr/>
              <a:t>. This is the aliasing of the previous section again; use </a:t>
            </a:r>
            <a:r>
              <a:rPr>
                <a:latin typeface="Courier"/>
              </a:rPr>
              <a:t>.copy()</a:t>
            </a:r>
            <a:r>
              <a:rPr/>
              <a:t> when you want independence. Assignment works on whole slices: </a:t>
            </a:r>
            <a:r>
              <a:rPr>
                <a:latin typeface="Courier"/>
              </a:rPr>
              <a:t>t[:, 1] = 0</a:t>
            </a:r>
            <a:r>
              <a:rPr/>
              <a:t> sets a column at once.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 arithmetic operator and every </a:t>
            </a:r>
            <a:r>
              <a:rPr>
                <a:latin typeface="Courier"/>
              </a:rPr>
              <a:t>np.</a:t>
            </a:r>
            <a:r>
              <a:rPr/>
              <a:t> maths function applies to each element: this is vectorization, and it is the whole style of numpy, pandas and torch. If you write a </a:t>
            </a:r>
            <a:r>
              <a:rPr>
                <a:latin typeface="Courier"/>
              </a:rPr>
              <a:t>for</a:t>
            </a:r>
            <a:r>
              <a:rPr/>
              <a:t> loop over the elements of an array, there is almost always a one-liner instead. Careful with </a:t>
            </a:r>
            <a:r>
              <a:rPr>
                <a:latin typeface="Courier"/>
              </a:rPr>
              <a:t>*</a:t>
            </a:r>
            <a:r>
              <a:rPr/>
              <a:t>: on arrays it multiplies element by element. The matrix product is </a:t>
            </a:r>
            <a:r>
              <a:rPr>
                <a:latin typeface="Courier"/>
              </a:rPr>
              <a:t>@</a:t>
            </a:r>
            <a:r>
              <a:rPr/>
              <a:t>. Compare with lists: </a:t>
            </a:r>
            <a:r>
              <a:rPr>
                <a:latin typeface="Courier"/>
              </a:rPr>
              <a:t>[1, 2] * 2</a:t>
            </a:r>
            <a:r>
              <a:rPr/>
              <a:t> is </a:t>
            </a:r>
            <a:r>
              <a:rPr>
                <a:latin typeface="Courier"/>
              </a:rPr>
              <a:t>[1, 2, 1, 2]</a:t>
            </a:r>
            <a:r>
              <a:rPr/>
              <a:t>, and </a:t>
            </a:r>
            <a:r>
              <a:rPr>
                <a:latin typeface="Courier"/>
              </a:rPr>
              <a:t>[1, 2] + [3]</a:t>
            </a:r>
            <a:r>
              <a:rPr/>
              <a:t> concatenates. Same symbol, different type, different meaning.</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When the shapes differ, numpy stretches the smaller array along the missing axis, as if it were repeated (it is not actually copied). </a:t>
            </a:r>
            <a:r>
              <a:rPr>
                <a:latin typeface="Courier"/>
              </a:rPr>
              <a:t>x + 10</a:t>
            </a:r>
            <a:r>
              <a:rPr/>
              <a:t> was already broadcasting: a scalar stretched to every cell. The rule: compare shapes from the right; each pair of sizes must be equal, or one of them must be 1. </a:t>
            </a:r>
            <a:r>
              <a:rPr>
                <a:latin typeface="Courier"/>
              </a:rPr>
              <a:t>(3, 4)</a:t>
            </a:r>
            <a:r>
              <a:rPr/>
              <a:t> and </a:t>
            </a:r>
            <a:r>
              <a:rPr>
                <a:latin typeface="Courier"/>
              </a:rPr>
              <a:t>(4,)</a:t>
            </a:r>
            <a:r>
              <a:rPr/>
              <a:t> match. </a:t>
            </a:r>
            <a:r>
              <a:rPr>
                <a:latin typeface="Courier"/>
              </a:rPr>
              <a:t>(3, 4)</a:t>
            </a:r>
            <a:r>
              <a:rPr/>
              <a:t> and </a:t>
            </a:r>
            <a:r>
              <a:rPr>
                <a:latin typeface="Courier"/>
              </a:rPr>
              <a:t>(3,)</a:t>
            </a:r>
            <a:r>
              <a:rPr/>
              <a:t> do not: to add one value per row, make it a column, shape </a:t>
            </a:r>
            <a:r>
              <a:rPr>
                <a:latin typeface="Courier"/>
              </a:rPr>
              <a:t>(3, 1)</a:t>
            </a:r>
            <a:r>
              <a:rPr/>
              <a:t>, with </a:t>
            </a:r>
            <a:r>
              <a:rPr>
                <a:latin typeface="Courier"/>
              </a:rPr>
              <a:t>.reshape(3, 1)</a:t>
            </a:r>
            <a:r>
              <a:rPr/>
              <a:t> or </a:t>
            </a:r>
            <a:r>
              <a:rPr>
                <a:latin typeface="Courier"/>
              </a:rPr>
              <a:t>v[:, None]</a:t>
            </a:r>
            <a:r>
              <a:rPr/>
              <a:t>. Typical use: subtracting the mean of each column from a table, in one line.</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latin typeface="Courier"/>
              </a:rPr>
              <a:t>sum</a:t>
            </a:r>
            <a:r>
              <a:rPr/>
              <a:t>, </a:t>
            </a:r>
            <a:r>
              <a:rPr>
                <a:latin typeface="Courier"/>
              </a:rPr>
              <a:t>mean</a:t>
            </a:r>
            <a:r>
              <a:rPr/>
              <a:t>, </a:t>
            </a:r>
            <a:r>
              <a:rPr>
                <a:latin typeface="Courier"/>
              </a:rPr>
              <a:t>std</a:t>
            </a:r>
            <a:r>
              <a:rPr/>
              <a:t>, </a:t>
            </a:r>
            <a:r>
              <a:rPr>
                <a:latin typeface="Courier"/>
              </a:rPr>
              <a:t>min</a:t>
            </a:r>
            <a:r>
              <a:rPr/>
              <a:t>, </a:t>
            </a:r>
            <a:r>
              <a:rPr>
                <a:latin typeface="Courier"/>
              </a:rPr>
              <a:t>max</a:t>
            </a:r>
            <a:r>
              <a:rPr/>
              <a:t>, </a:t>
            </a:r>
            <a:r>
              <a:rPr>
                <a:latin typeface="Courier"/>
              </a:rPr>
              <a:t>argmax</a:t>
            </a:r>
            <a:r>
              <a:rPr/>
              <a:t> all take an </a:t>
            </a:r>
            <a:r>
              <a:rPr>
                <a:latin typeface="Courier"/>
              </a:rPr>
              <a:t>axis</a:t>
            </a:r>
            <a:r>
              <a:rPr/>
              <a:t>. Without it they reduce the whole array to one number. The sentence that ends the confusion: the axis you name is the one that disappears. </a:t>
            </a:r>
            <a:r>
              <a:rPr>
                <a:latin typeface="Courier"/>
              </a:rPr>
              <a:t>axis=0</a:t>
            </a:r>
            <a:r>
              <a:rPr/>
              <a:t> collapses the rows, so you get one value per column: on a patients x measurements table, the mean of each measurement. </a:t>
            </a:r>
            <a:r>
              <a:rPr>
                <a:latin typeface="Courier"/>
              </a:rPr>
              <a:t>axis=1</a:t>
            </a:r>
            <a:r>
              <a:rPr/>
              <a:t> gives one value per patient. Check the shape of the result every time: </a:t>
            </a:r>
            <a:r>
              <a:rPr>
                <a:latin typeface="Courier"/>
              </a:rPr>
              <a:t>(4,)</a:t>
            </a:r>
            <a:r>
              <a:rPr/>
              <a:t> versus </a:t>
            </a:r>
            <a:r>
              <a:rPr>
                <a:latin typeface="Courier"/>
              </a:rPr>
              <a:t>(3,)</a:t>
            </a:r>
            <a:r>
              <a:rPr/>
              <a:t> tells you which one you did. Standardising a table combines the two slides: </a:t>
            </a:r>
            <a:r>
              <a:rPr>
                <a:latin typeface="Courier"/>
              </a:rPr>
              <a:t>(m - m.mean(axis=0)) / m.std(axis=0)</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comparison on an array gives an array of booleans of the same shape: the mask. Indexing with a mask keeps the positions where it is True; the result is always 1D. This is how you filter without a loop, and exactly how pandas filters rows later (</a:t>
            </a:r>
            <a:r>
              <a:rPr>
                <a:latin typeface="Courier"/>
              </a:rPr>
              <a:t>df[df["bmi"] &gt;= 30]</a:t>
            </a:r>
            <a:r>
              <a:rPr/>
              <a:t>). Combine conditions with </a:t>
            </a:r>
            <a:r>
              <a:rPr>
                <a:latin typeface="Courier"/>
              </a:rPr>
              <a:t>&amp;</a:t>
            </a:r>
            <a:r>
              <a:rPr/>
              <a:t> and </a:t>
            </a:r>
            <a:r>
              <a:rPr>
                <a:latin typeface="Courier"/>
              </a:rPr>
              <a:t>|</a:t>
            </a:r>
            <a:r>
              <a:rPr/>
              <a:t>, not </a:t>
            </a:r>
            <a:r>
              <a:rPr>
                <a:latin typeface="Courier"/>
              </a:rPr>
              <a:t>and</a:t>
            </a:r>
            <a:r>
              <a:rPr/>
              <a:t> / </a:t>
            </a:r>
            <a:r>
              <a:rPr>
                <a:latin typeface="Courier"/>
              </a:rPr>
              <a:t>or</a:t>
            </a:r>
            <a:r>
              <a:rPr/>
              <a:t>, and parenthesise each condition: </a:t>
            </a:r>
            <a:r>
              <a:rPr>
                <a:latin typeface="Courier"/>
              </a:rPr>
              <a:t>(bmi &gt;= 18.5) &amp; (bmi &lt; 25)</a:t>
            </a:r>
            <a:r>
              <a:rPr/>
              <a:t>. Forgetting the parentheses is the error of the week. </a:t>
            </a:r>
            <a:r>
              <a:rPr>
                <a:latin typeface="Courier"/>
              </a:rPr>
              <a:t>np.where(cond, a, b)</a:t>
            </a:r>
            <a:r>
              <a:rPr/>
              <a:t> picks from </a:t>
            </a:r>
            <a:r>
              <a:rPr>
                <a:latin typeface="Courier"/>
              </a:rPr>
              <a:t>a</a:t>
            </a:r>
            <a:r>
              <a:rPr/>
              <a:t> where True and from </a:t>
            </a:r>
            <a:r>
              <a:rPr>
                <a:latin typeface="Courier"/>
              </a:rPr>
              <a:t>b</a:t>
            </a:r>
            <a:r>
              <a:rPr/>
              <a:t> elsewhere, e.g. to clip negative values to 0.</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mini use case of the notebook: 200 simulated patients (seed 42), heights and weights drawn from normal distributions. One line computes 200 BMIs, with broadcasting between two arrays of the same shape. A mean of a mask is a fraction (21.5 % obese here). </a:t>
            </a:r>
            <a:r>
              <a:rPr>
                <a:latin typeface="Courier"/>
              </a:rPr>
              <a:t>digitize</a:t>
            </a:r>
            <a:r>
              <a:rPr/>
              <a:t> turns a value into a category from the cut points, </a:t>
            </a:r>
            <a:r>
              <a:rPr>
                <a:latin typeface="Courier"/>
              </a:rPr>
              <a:t>bincount</a:t>
            </a:r>
            <a:r>
              <a:rPr/>
              <a:t> counts each category. Compare with the list of dicts from section 4: same questions, no loop, and it would take the same time on 200 000 patients. That is why every data library is built on arrays.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 Id="rId3"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 Id="rId3" Type="http://schemas.openxmlformats.org/officeDocument/2006/relationships/image" Target="../media/image5.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image" Target="../media/image6.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image" Target="../media/image8.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image" Target="../media/image9.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3" Type="http://schemas.openxmlformats.org/officeDocument/2006/relationships/image" Target="../media/image10.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 Id="rId3" Type="http://schemas.openxmlformats.org/officeDocument/2006/relationships/image" Target="../media/image11.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12.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image" Target="../media/image13.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image" Target="../media/image14.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image" Target="../media/image15.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image" Target="../media/image16.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image" Target="../media/image17.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3" Type="http://schemas.openxmlformats.org/officeDocument/2006/relationships/image" Target="../media/image1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 Id="rId3" Type="http://schemas.openxmlformats.org/officeDocument/2006/relationships/image" Target="../media/image19.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image" Target="../media/image20.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1.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p>
            <a:pPr lvl="0" indent="0" marL="0">
              <a:buNone/>
            </a:pPr>
            <a:r>
              <a:rPr/>
              <a:t>Session 1</a:t>
            </a:r>
            <a:br/>
            <a:r>
              <a:rPr/>
              <a:t>Python Types</a:t>
            </a:r>
          </a:p>
        </p:txBody>
      </p:sp>
      <p:sp>
        <p:nvSpPr>
          <p:cNvPr id="3" name="Subtitle 2"/>
          <p:cNvSpPr>
            <a:spLocks noGrp="1"/>
          </p:cNvSpPr>
          <p:nvPr>
            <p:ph idx="1" type="subTitle"/>
          </p:nvPr>
        </p:nvSpPr>
        <p:spPr>
          <a:xfrm>
            <a:off x="1371600" y="2914650"/>
            <a:ext cx="6400800" cy="1314450"/>
          </a:xfrm>
        </p:spPr>
        <p:txBody>
          <a:bodyPr>
            <a:normAutofit/>
          </a:bodyPr>
          <a:lstStyle/>
          <a:p>
            <a:pPr lvl="0" indent="0" marL="0">
              <a:buNone/>
            </a:pPr>
            <a:r>
              <a:rPr/>
              <a:t>Digital Health, Mastère Spécialisé · 2026</a:t>
            </a:r>
            <a:br/>
            <a:br/>
            <a:r>
              <a:rPr/>
              <a:t>Paul Dubois</a:t>
            </a:r>
          </a:p>
        </p:txBody>
      </p:sp>
      <p:sp>
        <p:nvSpPr>
          <p:cNvPr id="4" name="Date Placeholder 3"/>
          <p:cNvSpPr>
            <a:spLocks noGrp="1"/>
          </p:cNvSpPr>
          <p:nvPr>
            <p:ph idx="10" sz="half" type="dt"/>
          </p:nvPr>
        </p:nvSpPr>
        <p:spPr/>
        <p:txBody>
          <a:bodyPr>
            <a:normAutofit/>
          </a:bodyPr>
          <a:lstStyle/>
          <a:p>
            <a:pPr lvl="0" indent="0" marL="0">
              <a:buNone/>
            </a:pPr>
            <a:r>
              <a:rPr/>
              <a:t>Week 1, Lecture</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1. Variables and values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A variable is a name for a value</a:t>
            </a:r>
          </a:p>
        </p:txBody>
      </p:sp>
      <p:pic>
        <p:nvPicPr>
          <p:cNvPr descr="img/names.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Every value has a type</a:t>
            </a:r>
          </a:p>
        </p:txBody>
      </p:sp>
      <p:pic>
        <p:nvPicPr>
          <p:cNvPr descr="img/type_map.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Names can change type</a:t>
            </a:r>
          </a:p>
        </p:txBody>
      </p:sp>
      <p:sp>
        <p:nvSpPr>
          <p:cNvPr id="3" name="Content Placeholder 2"/>
          <p:cNvSpPr>
            <a:spLocks noGrp="1"/>
          </p:cNvSpPr>
          <p:nvPr>
            <p:ph idx="1"/>
          </p:nvPr>
        </p:nvSpPr>
        <p:spPr/>
        <p:txBody>
          <a:bodyPr>
            <a:normAutofit/>
          </a:bodyPr>
          <a:lstStyle/>
          <a:p>
            <a:pPr lvl="0" indent="0">
              <a:buNone/>
            </a:pPr>
            <a:r>
              <a:rPr>
                <a:latin typeface="Courier"/>
              </a:rPr>
              <a:t>x </a:t>
            </a:r>
            <a:r>
              <a:rPr>
                <a:solidFill>
                  <a:srgbClr val="666666"/>
                </a:solidFill>
                <a:latin typeface="Courier"/>
              </a:rPr>
              <a:t>=</a:t>
            </a:r>
            <a:r>
              <a:rPr>
                <a:latin typeface="Courier"/>
              </a:rPr>
              <a:t> </a:t>
            </a:r>
            <a:r>
              <a:rPr>
                <a:solidFill>
                  <a:srgbClr val="40A070"/>
                </a:solidFill>
                <a:latin typeface="Courier"/>
              </a:rPr>
              <a:t>42</a:t>
            </a:r>
            <a:r>
              <a:rPr>
                <a:latin typeface="Courier"/>
              </a:rPr>
              <a:t>          </a:t>
            </a:r>
            <a:r>
              <a:rPr i="1">
                <a:solidFill>
                  <a:srgbClr val="60A0B0"/>
                </a:solidFill>
                <a:latin typeface="Courier"/>
              </a:rPr>
              <a:t># an int</a:t>
            </a:r>
            <a:br/>
            <a:r>
              <a:rPr>
                <a:latin typeface="Courier"/>
              </a:rPr>
              <a:t>x </a:t>
            </a:r>
            <a:r>
              <a:rPr>
                <a:solidFill>
                  <a:srgbClr val="666666"/>
                </a:solidFill>
                <a:latin typeface="Courier"/>
              </a:rPr>
              <a:t>=</a:t>
            </a:r>
            <a:r>
              <a:rPr>
                <a:latin typeface="Courier"/>
              </a:rPr>
              <a:t> </a:t>
            </a:r>
            <a:r>
              <a:rPr>
                <a:solidFill>
                  <a:srgbClr val="4070A0"/>
                </a:solidFill>
                <a:latin typeface="Courier"/>
              </a:rPr>
              <a:t>"42"</a:t>
            </a:r>
            <a:r>
              <a:rPr>
                <a:latin typeface="Courier"/>
              </a:rPr>
              <a:t>        </a:t>
            </a:r>
            <a:r>
              <a:rPr i="1">
                <a:solidFill>
                  <a:srgbClr val="60A0B0"/>
                </a:solidFill>
                <a:latin typeface="Courier"/>
              </a:rPr>
              <a:t># now a str</a:t>
            </a:r>
            <a:br/>
            <a:r>
              <a:rPr>
                <a:latin typeface="Courier"/>
              </a:rPr>
              <a:t>x </a:t>
            </a:r>
            <a:r>
              <a:rPr>
                <a:solidFill>
                  <a:srgbClr val="666666"/>
                </a:solidFill>
                <a:latin typeface="Courier"/>
              </a:rPr>
              <a:t>+</a:t>
            </a:r>
            <a:r>
              <a:rPr>
                <a:latin typeface="Courier"/>
              </a:rPr>
              <a:t> </a:t>
            </a:r>
            <a:r>
              <a:rPr>
                <a:solidFill>
                  <a:srgbClr val="40A070"/>
                </a:solidFill>
                <a:latin typeface="Courier"/>
              </a:rPr>
              <a:t>1</a:t>
            </a:r>
            <a:r>
              <a:rPr>
                <a:latin typeface="Courier"/>
              </a:rPr>
              <a:t>           </a:t>
            </a:r>
            <a:r>
              <a:rPr i="1">
                <a:solidFill>
                  <a:srgbClr val="60A0B0"/>
                </a:solidFill>
                <a:latin typeface="Courier"/>
              </a:rPr>
              <a:t># TypeError</a:t>
            </a:r>
            <a:br/>
            <a:r>
              <a:rPr>
                <a:solidFill>
                  <a:srgbClr val="008000"/>
                </a:solidFill>
                <a:latin typeface="Courier"/>
              </a:rPr>
              <a:t>int</a:t>
            </a:r>
            <a:r>
              <a:rPr>
                <a:latin typeface="Courier"/>
              </a:rPr>
              <a:t>(x) </a:t>
            </a:r>
            <a:r>
              <a:rPr>
                <a:solidFill>
                  <a:srgbClr val="666666"/>
                </a:solidFill>
                <a:latin typeface="Courier"/>
              </a:rPr>
              <a:t>+</a:t>
            </a:r>
            <a:r>
              <a:rPr>
                <a:latin typeface="Courier"/>
              </a:rPr>
              <a:t> </a:t>
            </a:r>
            <a:r>
              <a:rPr>
                <a:solidFill>
                  <a:srgbClr val="40A070"/>
                </a:solidFill>
                <a:latin typeface="Courier"/>
              </a:rPr>
              <a:t>1</a:t>
            </a:r>
            <a:r>
              <a:rPr>
                <a:latin typeface="Courier"/>
              </a:rPr>
              <a:t>      </a:t>
            </a:r>
            <a:r>
              <a:rPr i="1">
                <a:solidFill>
                  <a:srgbClr val="60A0B0"/>
                </a:solidFill>
                <a:latin typeface="Courier"/>
              </a:rPr>
              <a:t># 43</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2. Single values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Numbers: </a:t>
            </a:r>
            <a:r>
              <a:rPr>
                <a:latin typeface="Courier"/>
              </a:rPr>
              <a:t>int</a:t>
            </a:r>
            <a:r>
              <a:rPr/>
              <a:t> and </a:t>
            </a:r>
            <a:r>
              <a:rPr>
                <a:latin typeface="Courier"/>
              </a:rPr>
              <a:t>float</a:t>
            </a:r>
          </a:p>
        </p:txBody>
      </p:sp>
      <p:pic>
        <p:nvPicPr>
          <p:cNvPr descr="img/numbers.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Arithmetic operators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normAutofit/>
                    </a:bodyPr>
                    <a:lstStyle/>
                    <a:p>
                      <a:pPr lvl="0" indent="0" marL="0">
                        <a:buNone/>
                      </a:pPr>
                      <a:r>
                        <a:rPr/>
                        <a:t>Expression</a:t>
                      </a:r>
                    </a:p>
                  </a:txBody>
                  <a:tcPr/>
                </a:tc>
                <a:tc>
                  <a:txBody>
                    <a:bodyPr>
                      <a:normAutofit/>
                    </a:bodyPr>
                    <a:lstStyle/>
                    <a:p>
                      <a:pPr lvl="0" indent="0" marL="0">
                        <a:buNone/>
                      </a:pPr>
                      <a:r>
                        <a:rPr/>
                        <a:t>Result</a:t>
                      </a:r>
                    </a:p>
                  </a:txBody>
                  <a:tcPr/>
                </a:tc>
                <a:tc>
                  <a:txBody>
                    <a:bodyPr>
                      <a:normAutofit/>
                    </a:bodyPr>
                    <a:lstStyle/>
                    <a:p>
                      <a:pPr lvl="0" indent="0" marL="0">
                        <a:buNone/>
                      </a:pPr>
                      <a:r>
                        <a:rPr/>
                        <a:t>Type</a:t>
                      </a:r>
                    </a:p>
                  </a:txBody>
                  <a:tcPr/>
                </a:tc>
              </a:tr>
              <a:tr h="0">
                <a:tc>
                  <a:txBody>
                    <a:bodyPr>
                      <a:normAutofit/>
                    </a:bodyPr>
                    <a:lstStyle/>
                    <a:p>
                      <a:pPr lvl="0" indent="0" marL="0">
                        <a:buNone/>
                      </a:pPr>
                      <a:r>
                        <a:rPr>
                          <a:latin typeface="Courier"/>
                        </a:rPr>
                        <a:t>7 + 2</a:t>
                      </a:r>
                      <a:r>
                        <a:rPr/>
                        <a:t>, </a:t>
                      </a:r>
                      <a:r>
                        <a:rPr>
                          <a:latin typeface="Courier"/>
                        </a:rPr>
                        <a:t>7 - 2</a:t>
                      </a:r>
                      <a:r>
                        <a:rPr/>
                        <a:t>, </a:t>
                      </a:r>
                      <a:r>
                        <a:rPr>
                          <a:latin typeface="Courier"/>
                        </a:rPr>
                        <a:t>7 * 2</a:t>
                      </a:r>
                    </a:p>
                  </a:txBody>
                </a:tc>
                <a:tc>
                  <a:txBody>
                    <a:bodyPr>
                      <a:normAutofit/>
                    </a:bodyPr>
                    <a:lstStyle/>
                    <a:p>
                      <a:pPr lvl="0" indent="0" marL="0">
                        <a:buNone/>
                      </a:pPr>
                      <a:r>
                        <a:rPr>
                          <a:latin typeface="Courier"/>
                        </a:rPr>
                        <a:t>9</a:t>
                      </a:r>
                      <a:r>
                        <a:rPr/>
                        <a:t>, </a:t>
                      </a:r>
                      <a:r>
                        <a:rPr>
                          <a:latin typeface="Courier"/>
                        </a:rPr>
                        <a:t>5</a:t>
                      </a:r>
                      <a:r>
                        <a:rPr/>
                        <a:t>, </a:t>
                      </a:r>
                      <a:r>
                        <a:rPr>
                          <a:latin typeface="Courier"/>
                        </a:rPr>
                        <a:t>14</a:t>
                      </a:r>
                    </a:p>
                  </a:txBody>
                </a:tc>
                <a:tc>
                  <a:txBody>
                    <a:bodyPr>
                      <a:normAutofit/>
                    </a:bodyPr>
                    <a:lstStyle/>
                    <a:p>
                      <a:pPr lvl="0" indent="0" marL="0">
                        <a:buNone/>
                      </a:pPr>
                      <a:r>
                        <a:rPr>
                          <a:latin typeface="Courier"/>
                        </a:rPr>
                        <a:t>int</a:t>
                      </a:r>
                    </a:p>
                  </a:txBody>
                </a:tc>
              </a:tr>
              <a:tr h="0">
                <a:tc>
                  <a:txBody>
                    <a:bodyPr>
                      <a:normAutofit/>
                    </a:bodyPr>
                    <a:lstStyle/>
                    <a:p>
                      <a:pPr lvl="0" indent="0" marL="0">
                        <a:buNone/>
                      </a:pPr>
                      <a:r>
                        <a:rPr>
                          <a:latin typeface="Courier"/>
                        </a:rPr>
                        <a:t>7 / 2</a:t>
                      </a:r>
                    </a:p>
                  </a:txBody>
                </a:tc>
                <a:tc>
                  <a:txBody>
                    <a:bodyPr>
                      <a:normAutofit/>
                    </a:bodyPr>
                    <a:lstStyle/>
                    <a:p>
                      <a:pPr lvl="0" indent="0" marL="0">
                        <a:buNone/>
                      </a:pPr>
                      <a:r>
                        <a:rPr>
                          <a:latin typeface="Courier"/>
                        </a:rPr>
                        <a:t>3.5</a:t>
                      </a:r>
                    </a:p>
                  </a:txBody>
                </a:tc>
                <a:tc>
                  <a:txBody>
                    <a:bodyPr>
                      <a:normAutofit/>
                    </a:bodyPr>
                    <a:lstStyle/>
                    <a:p>
                      <a:pPr lvl="0" indent="0" marL="0">
                        <a:buNone/>
                      </a:pPr>
                      <a:r>
                        <a:rPr>
                          <a:latin typeface="Courier"/>
                        </a:rPr>
                        <a:t>float</a:t>
                      </a:r>
                      <a:r>
                        <a:rPr/>
                        <a:t>, always</a:t>
                      </a:r>
                    </a:p>
                  </a:txBody>
                </a:tc>
              </a:tr>
              <a:tr h="0">
                <a:tc>
                  <a:txBody>
                    <a:bodyPr>
                      <a:normAutofit/>
                    </a:bodyPr>
                    <a:lstStyle/>
                    <a:p>
                      <a:pPr lvl="0" indent="0" marL="0">
                        <a:buNone/>
                      </a:pPr>
                      <a:r>
                        <a:rPr>
                          <a:latin typeface="Courier"/>
                        </a:rPr>
                        <a:t>7 // 2</a:t>
                      </a:r>
                    </a:p>
                  </a:txBody>
                </a:tc>
                <a:tc>
                  <a:txBody>
                    <a:bodyPr>
                      <a:normAutofit/>
                    </a:bodyPr>
                    <a:lstStyle/>
                    <a:p>
                      <a:pPr lvl="0" indent="0" marL="0">
                        <a:buNone/>
                      </a:pPr>
                      <a:r>
                        <a:rPr>
                          <a:latin typeface="Courier"/>
                        </a:rPr>
                        <a:t>3</a:t>
                      </a:r>
                    </a:p>
                  </a:txBody>
                </a:tc>
                <a:tc>
                  <a:txBody>
                    <a:bodyPr>
                      <a:normAutofit/>
                    </a:bodyPr>
                    <a:lstStyle/>
                    <a:p>
                      <a:pPr lvl="0" indent="0" marL="0">
                        <a:buNone/>
                      </a:pPr>
                      <a:r>
                        <a:rPr>
                          <a:latin typeface="Courier"/>
                        </a:rPr>
                        <a:t>int</a:t>
                      </a:r>
                      <a:r>
                        <a:rPr/>
                        <a:t> (floor division)</a:t>
                      </a:r>
                    </a:p>
                  </a:txBody>
                </a:tc>
              </a:tr>
              <a:tr h="0">
                <a:tc>
                  <a:txBody>
                    <a:bodyPr>
                      <a:normAutofit/>
                    </a:bodyPr>
                    <a:lstStyle/>
                    <a:p>
                      <a:pPr lvl="0" indent="0" marL="0">
                        <a:buNone/>
                      </a:pPr>
                      <a:r>
                        <a:rPr>
                          <a:latin typeface="Courier"/>
                        </a:rPr>
                        <a:t>7 % 2</a:t>
                      </a:r>
                    </a:p>
                  </a:txBody>
                </a:tc>
                <a:tc>
                  <a:txBody>
                    <a:bodyPr>
                      <a:normAutofit/>
                    </a:bodyPr>
                    <a:lstStyle/>
                    <a:p>
                      <a:pPr lvl="0" indent="0" marL="0">
                        <a:buNone/>
                      </a:pPr>
                      <a:r>
                        <a:rPr>
                          <a:latin typeface="Courier"/>
                        </a:rPr>
                        <a:t>1</a:t>
                      </a:r>
                    </a:p>
                  </a:txBody>
                </a:tc>
                <a:tc>
                  <a:txBody>
                    <a:bodyPr>
                      <a:normAutofit/>
                    </a:bodyPr>
                    <a:lstStyle/>
                    <a:p>
                      <a:pPr lvl="0" indent="0" marL="0">
                        <a:buNone/>
                      </a:pPr>
                      <a:r>
                        <a:rPr>
                          <a:latin typeface="Courier"/>
                        </a:rPr>
                        <a:t>int</a:t>
                      </a:r>
                      <a:r>
                        <a:rPr/>
                        <a:t> (remainder)</a:t>
                      </a:r>
                    </a:p>
                  </a:txBody>
                </a:tc>
              </a:tr>
              <a:tr h="0">
                <a:tc>
                  <a:txBody>
                    <a:bodyPr>
                      <a:normAutofit/>
                    </a:bodyPr>
                    <a:lstStyle/>
                    <a:p>
                      <a:pPr lvl="0" indent="0" marL="0">
                        <a:buNone/>
                      </a:pPr>
                      <a:r>
                        <a:rPr>
                          <a:latin typeface="Courier"/>
                        </a:rPr>
                        <a:t>7 ** 2</a:t>
                      </a:r>
                    </a:p>
                  </a:txBody>
                </a:tc>
                <a:tc>
                  <a:txBody>
                    <a:bodyPr>
                      <a:normAutofit/>
                    </a:bodyPr>
                    <a:lstStyle/>
                    <a:p>
                      <a:pPr lvl="0" indent="0" marL="0">
                        <a:buNone/>
                      </a:pPr>
                      <a:r>
                        <a:rPr>
                          <a:latin typeface="Courier"/>
                        </a:rPr>
                        <a:t>49</a:t>
                      </a:r>
                    </a:p>
                  </a:txBody>
                </a:tc>
                <a:tc>
                  <a:txBody>
                    <a:bodyPr>
                      <a:normAutofit/>
                    </a:bodyPr>
                    <a:lstStyle/>
                    <a:p>
                      <a:pPr lvl="0" indent="0" marL="0">
                        <a:buNone/>
                      </a:pPr>
                      <a:r>
                        <a:rPr>
                          <a:latin typeface="Courier"/>
                        </a:rPr>
                        <a:t>int</a:t>
                      </a:r>
                      <a:r>
                        <a:rPr/>
                        <a:t> (power)</a:t>
                      </a:r>
                    </a:p>
                  </a:txBody>
                </a:tc>
              </a:tr>
              <a:tr h="0">
                <a:tc>
                  <a:txBody>
                    <a:bodyPr>
                      <a:normAutofit/>
                    </a:bodyPr>
                    <a:lstStyle/>
                    <a:p>
                      <a:pPr lvl="0" indent="0" marL="0">
                        <a:buNone/>
                      </a:pPr>
                      <a:r>
                        <a:rPr>
                          <a:latin typeface="Courier"/>
                        </a:rPr>
                        <a:t>round(3.14159, 2)</a:t>
                      </a:r>
                    </a:p>
                  </a:txBody>
                </a:tc>
                <a:tc>
                  <a:txBody>
                    <a:bodyPr>
                      <a:normAutofit/>
                    </a:bodyPr>
                    <a:lstStyle/>
                    <a:p>
                      <a:pPr lvl="0" indent="0" marL="0">
                        <a:buNone/>
                      </a:pPr>
                      <a:r>
                        <a:rPr>
                          <a:latin typeface="Courier"/>
                        </a:rPr>
                        <a:t>3.14</a:t>
                      </a:r>
                    </a:p>
                  </a:txBody>
                </a:tc>
                <a:tc>
                  <a:txBody>
                    <a:bodyPr>
                      <a:normAutofit/>
                    </a:bodyPr>
                    <a:lstStyle/>
                    <a:p>
                      <a:pPr lvl="0" indent="0" marL="0">
                        <a:buNone/>
                      </a:pPr>
                      <a:r>
                        <a:rPr>
                          <a:latin typeface="Courier"/>
                        </a:rPr>
                        <a:t>float</a:t>
                      </a:r>
                    </a:p>
                  </a:txBody>
                </a:tc>
              </a:tr>
            </a:tbl>
          </a:graphicData>
        </a:graphic>
      </p:graphicFrame>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Booleans and comparisons</a:t>
            </a:r>
          </a:p>
        </p:txBody>
      </p:sp>
      <p:sp>
        <p:nvSpPr>
          <p:cNvPr id="3" name="Content Placeholder 2"/>
          <p:cNvSpPr>
            <a:spLocks noGrp="1"/>
          </p:cNvSpPr>
          <p:nvPr>
            <p:ph idx="1"/>
          </p:nvPr>
        </p:nvSpPr>
        <p:spPr/>
        <p:txBody>
          <a:bodyPr>
            <a:normAutofit/>
          </a:bodyPr>
          <a:lstStyle/>
          <a:p>
            <a:pPr lvl="0" indent="0">
              <a:buNone/>
            </a:pPr>
            <a:r>
              <a:rPr>
                <a:latin typeface="Courier"/>
              </a:rPr>
              <a:t>temp </a:t>
            </a:r>
            <a:r>
              <a:rPr>
                <a:solidFill>
                  <a:srgbClr val="666666"/>
                </a:solidFill>
                <a:latin typeface="Courier"/>
              </a:rPr>
              <a:t>=</a:t>
            </a:r>
            <a:r>
              <a:rPr>
                <a:latin typeface="Courier"/>
              </a:rPr>
              <a:t> </a:t>
            </a:r>
            <a:r>
              <a:rPr>
                <a:solidFill>
                  <a:srgbClr val="40A070"/>
                </a:solidFill>
                <a:latin typeface="Courier"/>
              </a:rPr>
              <a:t>38.4</a:t>
            </a:r>
            <a:br/>
            <a:br/>
            <a:r>
              <a:rPr>
                <a:solidFill>
                  <a:srgbClr val="40A070"/>
                </a:solidFill>
                <a:latin typeface="Courier"/>
              </a:rPr>
              <a:t>36.5</a:t>
            </a:r>
            <a:r>
              <a:rPr>
                <a:latin typeface="Courier"/>
              </a:rPr>
              <a:t> </a:t>
            </a:r>
            <a:r>
              <a:rPr>
                <a:solidFill>
                  <a:srgbClr val="666666"/>
                </a:solidFill>
                <a:latin typeface="Courier"/>
              </a:rPr>
              <a:t>&lt;=</a:t>
            </a:r>
            <a:r>
              <a:rPr>
                <a:latin typeface="Courier"/>
              </a:rPr>
              <a:t> temp </a:t>
            </a:r>
            <a:r>
              <a:rPr>
                <a:solidFill>
                  <a:srgbClr val="666666"/>
                </a:solidFill>
                <a:latin typeface="Courier"/>
              </a:rPr>
              <a:t>&lt;=</a:t>
            </a:r>
            <a:r>
              <a:rPr>
                <a:latin typeface="Courier"/>
              </a:rPr>
              <a:t> </a:t>
            </a:r>
            <a:r>
              <a:rPr>
                <a:solidFill>
                  <a:srgbClr val="40A070"/>
                </a:solidFill>
                <a:latin typeface="Courier"/>
              </a:rPr>
              <a:t>37.5</a:t>
            </a:r>
            <a:r>
              <a:rPr>
                <a:latin typeface="Courier"/>
              </a:rPr>
              <a:t>   </a:t>
            </a:r>
            <a:r>
              <a:rPr i="1">
                <a:solidFill>
                  <a:srgbClr val="60A0B0"/>
                </a:solidFill>
                <a:latin typeface="Courier"/>
              </a:rPr>
              <a:t># False</a:t>
            </a:r>
            <a:br/>
            <a:r>
              <a:rPr>
                <a:latin typeface="Courier"/>
              </a:rPr>
              <a:t>fever </a:t>
            </a:r>
            <a:r>
              <a:rPr>
                <a:solidFill>
                  <a:srgbClr val="666666"/>
                </a:solidFill>
                <a:latin typeface="Courier"/>
              </a:rPr>
              <a:t>=</a:t>
            </a:r>
            <a:r>
              <a:rPr>
                <a:latin typeface="Courier"/>
              </a:rPr>
              <a:t> temp </a:t>
            </a:r>
            <a:r>
              <a:rPr>
                <a:solidFill>
                  <a:srgbClr val="666666"/>
                </a:solidFill>
                <a:latin typeface="Courier"/>
              </a:rPr>
              <a:t>&gt;=</a:t>
            </a:r>
            <a:r>
              <a:rPr>
                <a:latin typeface="Courier"/>
              </a:rPr>
              <a:t> </a:t>
            </a:r>
            <a:r>
              <a:rPr>
                <a:solidFill>
                  <a:srgbClr val="40A070"/>
                </a:solidFill>
                <a:latin typeface="Courier"/>
              </a:rPr>
              <a:t>38</a:t>
            </a:r>
            <a:r>
              <a:rPr>
                <a:latin typeface="Courier"/>
              </a:rPr>
              <a:t>     </a:t>
            </a:r>
            <a:r>
              <a:rPr i="1">
                <a:solidFill>
                  <a:srgbClr val="60A0B0"/>
                </a:solidFill>
                <a:latin typeface="Courier"/>
              </a:rPr>
              <a:t># True</a:t>
            </a:r>
            <a:br/>
            <a:r>
              <a:rPr>
                <a:latin typeface="Courier"/>
              </a:rPr>
              <a:t>fever </a:t>
            </a:r>
            <a:r>
              <a:rPr b="1">
                <a:solidFill>
                  <a:srgbClr val="007020"/>
                </a:solidFill>
                <a:latin typeface="Courier"/>
              </a:rPr>
              <a:t>and</a:t>
            </a:r>
            <a:r>
              <a:rPr>
                <a:latin typeface="Courier"/>
              </a:rPr>
              <a:t> </a:t>
            </a:r>
            <a:r>
              <a:rPr b="1">
                <a:solidFill>
                  <a:srgbClr val="007020"/>
                </a:solidFill>
                <a:latin typeface="Courier"/>
              </a:rPr>
              <a:t>not</a:t>
            </a:r>
            <a:r>
              <a:rPr>
                <a:latin typeface="Courier"/>
              </a:rPr>
              <a:t> </a:t>
            </a:r>
            <a:r>
              <a:rPr>
                <a:solidFill>
                  <a:srgbClr val="19177C"/>
                </a:solidFill>
                <a:latin typeface="Courier"/>
              </a:rPr>
              <a:t>False</a:t>
            </a:r>
            <a:r>
              <a:rPr>
                <a:latin typeface="Courier"/>
              </a:rPr>
              <a:t>    </a:t>
            </a:r>
            <a:r>
              <a:rPr i="1">
                <a:solidFill>
                  <a:srgbClr val="60A0B0"/>
                </a:solidFill>
                <a:latin typeface="Courier"/>
              </a:rPr>
              <a:t># True</a:t>
            </a:r>
            <a:br/>
            <a:br/>
            <a:r>
              <a:rPr>
                <a:solidFill>
                  <a:srgbClr val="008000"/>
                </a:solidFill>
                <a:latin typeface="Courier"/>
              </a:rPr>
              <a:t>type</a:t>
            </a:r>
            <a:r>
              <a:rPr>
                <a:latin typeface="Courier"/>
              </a:rPr>
              <a:t>(fever)            </a:t>
            </a:r>
            <a:r>
              <a:rPr i="1">
                <a:solidFill>
                  <a:srgbClr val="60A0B0"/>
                </a:solidFill>
                <a:latin typeface="Courier"/>
              </a:rPr>
              <a:t># bool</a:t>
            </a:r>
            <a:br/>
            <a:r>
              <a:rPr>
                <a:solidFill>
                  <a:srgbClr val="19177C"/>
                </a:solidFill>
                <a:latin typeface="Courier"/>
              </a:rPr>
              <a:t>True</a:t>
            </a:r>
            <a:r>
              <a:rPr>
                <a:latin typeface="Courier"/>
              </a:rPr>
              <a:t> </a:t>
            </a:r>
            <a:r>
              <a:rPr>
                <a:solidFill>
                  <a:srgbClr val="666666"/>
                </a:solidFill>
                <a:latin typeface="Courier"/>
              </a:rPr>
              <a:t>+</a:t>
            </a:r>
            <a:r>
              <a:rPr>
                <a:latin typeface="Courier"/>
              </a:rPr>
              <a:t> </a:t>
            </a:r>
            <a:r>
              <a:rPr>
                <a:solidFill>
                  <a:srgbClr val="19177C"/>
                </a:solidFill>
                <a:latin typeface="Courier"/>
              </a:rPr>
              <a:t>True</a:t>
            </a:r>
            <a:r>
              <a:rPr>
                <a:latin typeface="Courier"/>
              </a:rPr>
              <a:t>            </a:t>
            </a:r>
            <a:r>
              <a:rPr i="1">
                <a:solidFill>
                  <a:srgbClr val="60A0B0"/>
                </a:solidFill>
                <a:latin typeface="Courier"/>
              </a:rPr>
              <a:t># 2</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Every value is true or false</a:t>
            </a:r>
          </a:p>
        </p:txBody>
      </p:sp>
      <p:pic>
        <p:nvPicPr>
          <p:cNvPr descr="img/truthy.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Strings: </a:t>
            </a:r>
            <a:r>
              <a:rPr>
                <a:latin typeface="Courier"/>
              </a:rPr>
              <a:t>str</a:t>
            </a:r>
          </a:p>
        </p:txBody>
      </p:sp>
      <p:pic>
        <p:nvPicPr>
          <p:cNvPr descr="img/string_index.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Working with text</a:t>
            </a:r>
          </a:p>
        </p:txBody>
      </p:sp>
      <p:sp>
        <p:nvSpPr>
          <p:cNvPr id="3" name="Content Placeholder 2"/>
          <p:cNvSpPr>
            <a:spLocks noGrp="1"/>
          </p:cNvSpPr>
          <p:nvPr>
            <p:ph idx="1"/>
          </p:nvPr>
        </p:nvSpPr>
        <p:spPr/>
        <p:txBody>
          <a:bodyPr>
            <a:normAutofit/>
          </a:bodyPr>
          <a:lstStyle/>
          <a:p>
            <a:pPr lvl="0" indent="0">
              <a:buNone/>
            </a:pPr>
            <a:r>
              <a:rPr>
                <a:latin typeface="Courier"/>
              </a:rPr>
              <a:t>raw </a:t>
            </a:r>
            <a:r>
              <a:rPr>
                <a:solidFill>
                  <a:srgbClr val="666666"/>
                </a:solidFill>
                <a:latin typeface="Courier"/>
              </a:rPr>
              <a:t>=</a:t>
            </a:r>
            <a:r>
              <a:rPr>
                <a:latin typeface="Courier"/>
              </a:rPr>
              <a:t> </a:t>
            </a:r>
            <a:r>
              <a:rPr>
                <a:solidFill>
                  <a:srgbClr val="4070A0"/>
                </a:solidFill>
                <a:latin typeface="Courier"/>
              </a:rPr>
              <a:t>"  Diabetes Type 2 \n"</a:t>
            </a:r>
            <a:br/>
            <a:r>
              <a:rPr>
                <a:latin typeface="Courier"/>
              </a:rPr>
              <a:t>raw.strip()       </a:t>
            </a:r>
            <a:r>
              <a:rPr i="1">
                <a:solidFill>
                  <a:srgbClr val="60A0B0"/>
                </a:solidFill>
                <a:latin typeface="Courier"/>
              </a:rPr>
              <a:t># "Diabetes Type 2"</a:t>
            </a:r>
            <a:br/>
            <a:r>
              <a:rPr>
                <a:latin typeface="Courier"/>
              </a:rPr>
              <a:t>raw.strip().lower().replace(</a:t>
            </a:r>
            <a:r>
              <a:rPr>
                <a:solidFill>
                  <a:srgbClr val="4070A0"/>
                </a:solidFill>
                <a:latin typeface="Courier"/>
              </a:rPr>
              <a:t>" "</a:t>
            </a:r>
            <a:r>
              <a:rPr>
                <a:latin typeface="Courier"/>
              </a:rPr>
              <a:t>, </a:t>
            </a:r>
            <a:r>
              <a:rPr>
                <a:solidFill>
                  <a:srgbClr val="4070A0"/>
                </a:solidFill>
                <a:latin typeface="Courier"/>
              </a:rPr>
              <a:t>"_"</a:t>
            </a:r>
            <a:r>
              <a:rPr>
                <a:latin typeface="Courier"/>
              </a:rPr>
              <a:t>)</a:t>
            </a:r>
            <a:br/>
            <a:r>
              <a:rPr>
                <a:latin typeface="Courier"/>
              </a:rPr>
              <a:t>                  </a:t>
            </a:r>
            <a:r>
              <a:rPr i="1">
                <a:solidFill>
                  <a:srgbClr val="60A0B0"/>
                </a:solidFill>
                <a:latin typeface="Courier"/>
              </a:rPr>
              <a:t># "diabetes_type_2"</a:t>
            </a:r>
            <a:br/>
            <a:r>
              <a:rPr i="1">
                <a:solidFill>
                  <a:srgbClr val="60A0B0"/>
                </a:solidFill>
                <a:latin typeface="Courier"/>
              </a:rPr>
              <a:t>"Ada Lovelace"</a:t>
            </a:r>
            <a:r>
              <a:rPr>
                <a:latin typeface="Courier"/>
              </a:rPr>
              <a:t>.split()</a:t>
            </a:r>
            <a:br/>
            <a:r>
              <a:rPr>
                <a:latin typeface="Courier"/>
              </a:rPr>
              <a:t>                  </a:t>
            </a:r>
            <a:r>
              <a:rPr i="1">
                <a:solidFill>
                  <a:srgbClr val="60A0B0"/>
                </a:solidFill>
                <a:latin typeface="Courier"/>
              </a:rPr>
              <a:t># ["Ada", "Lovelace"]</a:t>
            </a:r>
            <a:br/>
            <a:r>
              <a:rPr>
                <a:latin typeface="Courier"/>
              </a:rPr>
              <a:t>bmi </a:t>
            </a:r>
            <a:r>
              <a:rPr>
                <a:solidFill>
                  <a:srgbClr val="666666"/>
                </a:solidFill>
                <a:latin typeface="Courier"/>
              </a:rPr>
              <a:t>=</a:t>
            </a:r>
            <a:r>
              <a:rPr>
                <a:latin typeface="Courier"/>
              </a:rPr>
              <a:t> </a:t>
            </a:r>
            <a:r>
              <a:rPr>
                <a:solidFill>
                  <a:srgbClr val="40A070"/>
                </a:solidFill>
                <a:latin typeface="Courier"/>
              </a:rPr>
              <a:t>22.857142</a:t>
            </a:r>
            <a:br/>
            <a:r>
              <a:rPr>
                <a:solidFill>
                  <a:srgbClr val="BB6688"/>
                </a:solidFill>
                <a:latin typeface="Courier"/>
              </a:rPr>
              <a:t>f"BMI: </a:t>
            </a:r>
            <a:r>
              <a:rPr>
                <a:solidFill>
                  <a:srgbClr val="4070A0"/>
                </a:solidFill>
                <a:latin typeface="Courier"/>
              </a:rPr>
              <a:t>{</a:t>
            </a:r>
            <a:r>
              <a:rPr>
                <a:latin typeface="Courier"/>
              </a:rPr>
              <a:t>bmi</a:t>
            </a:r>
            <a:r>
              <a:rPr>
                <a:solidFill>
                  <a:srgbClr val="4070A0"/>
                </a:solidFill>
                <a:latin typeface="Courier"/>
              </a:rPr>
              <a:t>:.2f}</a:t>
            </a:r>
            <a:r>
              <a:rPr>
                <a:solidFill>
                  <a:srgbClr val="BB6688"/>
                </a:solidFill>
                <a:latin typeface="Courier"/>
              </a:rPr>
              <a:t>"</a:t>
            </a:r>
            <a:r>
              <a:rPr>
                <a:latin typeface="Courier"/>
              </a:rPr>
              <a:t> </a:t>
            </a:r>
            <a:r>
              <a:rPr i="1">
                <a:solidFill>
                  <a:srgbClr val="60A0B0"/>
                </a:solidFill>
                <a:latin typeface="Courier"/>
              </a:rPr>
              <a:t># "BMI: 22.86"</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Conversions, and </a:t>
            </a:r>
            <a:r>
              <a:rPr>
                <a:latin typeface="Courier"/>
              </a:rPr>
              <a:t>None</a:t>
            </a:r>
          </a:p>
        </p:txBody>
      </p:sp>
      <p:pic>
        <p:nvPicPr>
          <p:cNvPr descr="img/conversions.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3. Containers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Four containers</a:t>
            </a:r>
          </a:p>
        </p:txBody>
      </p:sp>
      <p:pic>
        <p:nvPicPr>
          <p:cNvPr descr="img/containers.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Lists: </a:t>
            </a:r>
            <a:r>
              <a:rPr>
                <a:latin typeface="Courier"/>
              </a:rPr>
              <a:t>list</a:t>
            </a:r>
          </a:p>
        </p:txBody>
      </p:sp>
      <p:sp>
        <p:nvSpPr>
          <p:cNvPr id="3" name="Content Placeholder 2"/>
          <p:cNvSpPr>
            <a:spLocks noGrp="1"/>
          </p:cNvSpPr>
          <p:nvPr>
            <p:ph idx="1"/>
          </p:nvPr>
        </p:nvSpPr>
        <p:spPr/>
        <p:txBody>
          <a:bodyPr>
            <a:normAutofit/>
          </a:bodyPr>
          <a:lstStyle/>
          <a:p>
            <a:pPr lvl="0" indent="0">
              <a:buNone/>
            </a:pPr>
            <a:r>
              <a:rPr>
                <a:latin typeface="Courier"/>
              </a:rPr>
              <a:t>heart_rates </a:t>
            </a:r>
            <a:r>
              <a:rPr>
                <a:solidFill>
                  <a:srgbClr val="666666"/>
                </a:solidFill>
                <a:latin typeface="Courier"/>
              </a:rPr>
              <a:t>=</a:t>
            </a:r>
            <a:r>
              <a:rPr>
                <a:latin typeface="Courier"/>
              </a:rPr>
              <a:t> [</a:t>
            </a:r>
            <a:r>
              <a:rPr>
                <a:solidFill>
                  <a:srgbClr val="40A070"/>
                </a:solidFill>
                <a:latin typeface="Courier"/>
              </a:rPr>
              <a:t>72</a:t>
            </a:r>
            <a:r>
              <a:rPr>
                <a:latin typeface="Courier"/>
              </a:rPr>
              <a:t>, </a:t>
            </a:r>
            <a:r>
              <a:rPr>
                <a:solidFill>
                  <a:srgbClr val="40A070"/>
                </a:solidFill>
                <a:latin typeface="Courier"/>
              </a:rPr>
              <a:t>85</a:t>
            </a:r>
            <a:r>
              <a:rPr>
                <a:latin typeface="Courier"/>
              </a:rPr>
              <a:t>, </a:t>
            </a:r>
            <a:r>
              <a:rPr>
                <a:solidFill>
                  <a:srgbClr val="40A070"/>
                </a:solidFill>
                <a:latin typeface="Courier"/>
              </a:rPr>
              <a:t>64</a:t>
            </a:r>
            <a:r>
              <a:rPr>
                <a:latin typeface="Courier"/>
              </a:rPr>
              <a:t>, </a:t>
            </a:r>
            <a:r>
              <a:rPr>
                <a:solidFill>
                  <a:srgbClr val="40A070"/>
                </a:solidFill>
                <a:latin typeface="Courier"/>
              </a:rPr>
              <a:t>90</a:t>
            </a:r>
            <a:r>
              <a:rPr>
                <a:latin typeface="Courier"/>
              </a:rPr>
              <a:t>, </a:t>
            </a:r>
            <a:r>
              <a:rPr>
                <a:solidFill>
                  <a:srgbClr val="40A070"/>
                </a:solidFill>
                <a:latin typeface="Courier"/>
              </a:rPr>
              <a:t>78</a:t>
            </a:r>
            <a:r>
              <a:rPr>
                <a:latin typeface="Courier"/>
              </a:rPr>
              <a:t>]</a:t>
            </a:r>
            <a:br/>
            <a:r>
              <a:rPr>
                <a:latin typeface="Courier"/>
              </a:rPr>
              <a:t>heart_rates[</a:t>
            </a:r>
            <a:r>
              <a:rPr>
                <a:solidFill>
                  <a:srgbClr val="40A070"/>
                </a:solidFill>
                <a:latin typeface="Courier"/>
              </a:rPr>
              <a:t>0</a:t>
            </a:r>
            <a:r>
              <a:rPr>
                <a:latin typeface="Courier"/>
              </a:rPr>
              <a:t>]       </a:t>
            </a:r>
            <a:r>
              <a:rPr i="1">
                <a:solidFill>
                  <a:srgbClr val="60A0B0"/>
                </a:solidFill>
                <a:latin typeface="Courier"/>
              </a:rPr>
              <a:t># 72</a:t>
            </a:r>
            <a:br/>
            <a:r>
              <a:rPr>
                <a:latin typeface="Courier"/>
              </a:rPr>
              <a:t>heart_rates[</a:t>
            </a:r>
            <a:r>
              <a:rPr>
                <a:solidFill>
                  <a:srgbClr val="40A070"/>
                </a:solidFill>
                <a:latin typeface="Courier"/>
              </a:rPr>
              <a:t>1</a:t>
            </a:r>
            <a:r>
              <a:rPr>
                <a:latin typeface="Courier"/>
              </a:rPr>
              <a:t>:</a:t>
            </a:r>
            <a:r>
              <a:rPr>
                <a:solidFill>
                  <a:srgbClr val="40A070"/>
                </a:solidFill>
                <a:latin typeface="Courier"/>
              </a:rPr>
              <a:t>4</a:t>
            </a:r>
            <a:r>
              <a:rPr>
                <a:latin typeface="Courier"/>
              </a:rPr>
              <a:t>]     </a:t>
            </a:r>
            <a:r>
              <a:rPr i="1">
                <a:solidFill>
                  <a:srgbClr val="60A0B0"/>
                </a:solidFill>
                <a:latin typeface="Courier"/>
              </a:rPr>
              <a:t># [85, 64, 90]</a:t>
            </a:r>
            <a:br/>
            <a:br/>
            <a:r>
              <a:rPr>
                <a:latin typeface="Courier"/>
              </a:rPr>
              <a:t>heart_rates.append(</a:t>
            </a:r>
            <a:r>
              <a:rPr>
                <a:solidFill>
                  <a:srgbClr val="40A070"/>
                </a:solidFill>
                <a:latin typeface="Courier"/>
              </a:rPr>
              <a:t>101</a:t>
            </a:r>
            <a:r>
              <a:rPr>
                <a:latin typeface="Courier"/>
              </a:rPr>
              <a:t>)   </a:t>
            </a:r>
            <a:r>
              <a:rPr i="1">
                <a:solidFill>
                  <a:srgbClr val="60A0B0"/>
                </a:solidFill>
                <a:latin typeface="Courier"/>
              </a:rPr>
              <a:t># at the end</a:t>
            </a:r>
            <a:br/>
            <a:r>
              <a:rPr>
                <a:latin typeface="Courier"/>
              </a:rPr>
              <a:t>heart_rates[</a:t>
            </a:r>
            <a:r>
              <a:rPr>
                <a:solidFill>
                  <a:srgbClr val="40A070"/>
                </a:solidFill>
                <a:latin typeface="Courier"/>
              </a:rPr>
              <a:t>1</a:t>
            </a:r>
            <a:r>
              <a:rPr>
                <a:latin typeface="Courier"/>
              </a:rPr>
              <a:t>] </a:t>
            </a:r>
            <a:r>
              <a:rPr>
                <a:solidFill>
                  <a:srgbClr val="666666"/>
                </a:solidFill>
                <a:latin typeface="Courier"/>
              </a:rPr>
              <a:t>=</a:t>
            </a:r>
            <a:r>
              <a:rPr>
                <a:latin typeface="Courier"/>
              </a:rPr>
              <a:t> </a:t>
            </a:r>
            <a:r>
              <a:rPr>
                <a:solidFill>
                  <a:srgbClr val="40A070"/>
                </a:solidFill>
                <a:latin typeface="Courier"/>
              </a:rPr>
              <a:t>80</a:t>
            </a:r>
            <a:r>
              <a:rPr>
                <a:latin typeface="Courier"/>
              </a:rPr>
              <a:t>       </a:t>
            </a:r>
            <a:r>
              <a:rPr i="1">
                <a:solidFill>
                  <a:srgbClr val="60A0B0"/>
                </a:solidFill>
                <a:latin typeface="Courier"/>
              </a:rPr>
              <a:t># by position</a:t>
            </a:r>
            <a:br/>
            <a:r>
              <a:rPr>
                <a:latin typeface="Courier"/>
              </a:rPr>
              <a:t>heart_rates.remove(</a:t>
            </a:r>
            <a:r>
              <a:rPr>
                <a:solidFill>
                  <a:srgbClr val="40A070"/>
                </a:solidFill>
                <a:latin typeface="Courier"/>
              </a:rPr>
              <a:t>64</a:t>
            </a:r>
            <a:r>
              <a:rPr>
                <a:latin typeface="Courier"/>
              </a:rPr>
              <a:t>)    </a:t>
            </a:r>
            <a:r>
              <a:rPr i="1">
                <a:solidFill>
                  <a:srgbClr val="60A0B0"/>
                </a:solidFill>
                <a:latin typeface="Courier"/>
              </a:rPr>
              <a:t># by value</a:t>
            </a:r>
            <a:br/>
            <a:br/>
            <a:r>
              <a:rPr>
                <a:solidFill>
                  <a:srgbClr val="008000"/>
                </a:solidFill>
                <a:latin typeface="Courier"/>
              </a:rPr>
              <a:t>sum</a:t>
            </a:r>
            <a:r>
              <a:rPr>
                <a:latin typeface="Courier"/>
              </a:rPr>
              <a:t>(heart_rates) </a:t>
            </a:r>
            <a:r>
              <a:rPr>
                <a:solidFill>
                  <a:srgbClr val="666666"/>
                </a:solidFill>
                <a:latin typeface="Courier"/>
              </a:rPr>
              <a:t>/</a:t>
            </a:r>
            <a:r>
              <a:rPr>
                <a:latin typeface="Courier"/>
              </a:rPr>
              <a:t> </a:t>
            </a:r>
            <a:r>
              <a:rPr>
                <a:solidFill>
                  <a:srgbClr val="008000"/>
                </a:solidFill>
                <a:latin typeface="Courier"/>
              </a:rPr>
              <a:t>len</a:t>
            </a:r>
            <a:r>
              <a:rPr>
                <a:latin typeface="Courier"/>
              </a:rPr>
              <a:t>(heart_rates)</a:t>
            </a:r>
            <a:br/>
            <a:r>
              <a:rPr>
                <a:latin typeface="Courier"/>
              </a:rPr>
              <a:t>[hr </a:t>
            </a:r>
            <a:r>
              <a:rPr b="1">
                <a:solidFill>
                  <a:srgbClr val="007020"/>
                </a:solidFill>
                <a:latin typeface="Courier"/>
              </a:rPr>
              <a:t>for</a:t>
            </a:r>
            <a:r>
              <a:rPr>
                <a:latin typeface="Courier"/>
              </a:rPr>
              <a:t> hr </a:t>
            </a:r>
            <a:r>
              <a:rPr b="1">
                <a:solidFill>
                  <a:srgbClr val="007020"/>
                </a:solidFill>
                <a:latin typeface="Courier"/>
              </a:rPr>
              <a:t>in</a:t>
            </a:r>
            <a:r>
              <a:rPr>
                <a:latin typeface="Courier"/>
              </a:rPr>
              <a:t> heart_rates </a:t>
            </a:r>
            <a:r>
              <a:rPr b="1">
                <a:solidFill>
                  <a:srgbClr val="007020"/>
                </a:solidFill>
                <a:latin typeface="Courier"/>
              </a:rPr>
              <a:t>if</a:t>
            </a:r>
            <a:r>
              <a:rPr>
                <a:latin typeface="Courier"/>
              </a:rPr>
              <a:t> hr </a:t>
            </a:r>
            <a:r>
              <a:rPr>
                <a:solidFill>
                  <a:srgbClr val="666666"/>
                </a:solidFill>
                <a:latin typeface="Courier"/>
              </a:rPr>
              <a:t>&gt;</a:t>
            </a:r>
            <a:r>
              <a:rPr>
                <a:latin typeface="Courier"/>
              </a:rPr>
              <a:t> </a:t>
            </a:r>
            <a:r>
              <a:rPr>
                <a:solidFill>
                  <a:srgbClr val="40A070"/>
                </a:solidFill>
                <a:latin typeface="Courier"/>
              </a:rPr>
              <a:t>80</a:t>
            </a:r>
            <a:r>
              <a:rPr>
                <a:latin typeface="Courie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Two names, one list</a:t>
            </a:r>
          </a:p>
        </p:txBody>
      </p:sp>
      <p:pic>
        <p:nvPicPr>
          <p:cNvPr descr="img/aliasing.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Tuples: </a:t>
            </a:r>
            <a:r>
              <a:rPr>
                <a:latin typeface="Courier"/>
              </a:rPr>
              <a:t>tuple</a:t>
            </a:r>
          </a:p>
        </p:txBody>
      </p:sp>
      <p:sp>
        <p:nvSpPr>
          <p:cNvPr id="3" name="Content Placeholder 2"/>
          <p:cNvSpPr>
            <a:spLocks noGrp="1"/>
          </p:cNvSpPr>
          <p:nvPr>
            <p:ph idx="1"/>
          </p:nvPr>
        </p:nvSpPr>
        <p:spPr/>
        <p:txBody>
          <a:bodyPr>
            <a:normAutofit/>
          </a:bodyPr>
          <a:lstStyle/>
          <a:p>
            <a:pPr lvl="0" indent="0">
              <a:buNone/>
            </a:pPr>
            <a:r>
              <a:rPr>
                <a:latin typeface="Courier"/>
              </a:rPr>
              <a:t>blood_pressure </a:t>
            </a:r>
            <a:r>
              <a:rPr>
                <a:solidFill>
                  <a:srgbClr val="666666"/>
                </a:solidFill>
                <a:latin typeface="Courier"/>
              </a:rPr>
              <a:t>=</a:t>
            </a:r>
            <a:r>
              <a:rPr>
                <a:latin typeface="Courier"/>
              </a:rPr>
              <a:t> (</a:t>
            </a:r>
            <a:r>
              <a:rPr>
                <a:solidFill>
                  <a:srgbClr val="40A070"/>
                </a:solidFill>
                <a:latin typeface="Courier"/>
              </a:rPr>
              <a:t>120</a:t>
            </a:r>
            <a:r>
              <a:rPr>
                <a:latin typeface="Courier"/>
              </a:rPr>
              <a:t>, </a:t>
            </a:r>
            <a:r>
              <a:rPr>
                <a:solidFill>
                  <a:srgbClr val="40A070"/>
                </a:solidFill>
                <a:latin typeface="Courier"/>
              </a:rPr>
              <a:t>80</a:t>
            </a:r>
            <a:r>
              <a:rPr>
                <a:latin typeface="Courier"/>
              </a:rPr>
              <a:t>)</a:t>
            </a:r>
            <a:br/>
            <a:r>
              <a:rPr>
                <a:latin typeface="Courier"/>
              </a:rPr>
              <a:t>systolic, diastolic </a:t>
            </a:r>
            <a:r>
              <a:rPr>
                <a:solidFill>
                  <a:srgbClr val="666666"/>
                </a:solidFill>
                <a:latin typeface="Courier"/>
              </a:rPr>
              <a:t>=</a:t>
            </a:r>
            <a:r>
              <a:rPr>
                <a:latin typeface="Courier"/>
              </a:rPr>
              <a:t> blood_pressure</a:t>
            </a:r>
            <a:br/>
            <a:br/>
            <a:r>
              <a:rPr>
                <a:latin typeface="Courier"/>
              </a:rPr>
              <a:t>blood_pressure[</a:t>
            </a:r>
            <a:r>
              <a:rPr>
                <a:solidFill>
                  <a:srgbClr val="40A070"/>
                </a:solidFill>
                <a:latin typeface="Courier"/>
              </a:rPr>
              <a:t>0</a:t>
            </a:r>
            <a:r>
              <a:rPr>
                <a:latin typeface="Courier"/>
              </a:rPr>
              <a:t>] </a:t>
            </a:r>
            <a:r>
              <a:rPr>
                <a:solidFill>
                  <a:srgbClr val="666666"/>
                </a:solidFill>
                <a:latin typeface="Courier"/>
              </a:rPr>
              <a:t>=</a:t>
            </a:r>
            <a:r>
              <a:rPr>
                <a:latin typeface="Courier"/>
              </a:rPr>
              <a:t> </a:t>
            </a:r>
            <a:r>
              <a:rPr>
                <a:solidFill>
                  <a:srgbClr val="40A070"/>
                </a:solidFill>
                <a:latin typeface="Courier"/>
              </a:rPr>
              <a:t>130</a:t>
            </a:r>
            <a:r>
              <a:rPr>
                <a:latin typeface="Courier"/>
              </a:rPr>
              <a:t>   </a:t>
            </a:r>
            <a:r>
              <a:rPr i="1">
                <a:solidFill>
                  <a:srgbClr val="60A0B0"/>
                </a:solidFill>
                <a:latin typeface="Courier"/>
              </a:rPr>
              <a:t># TypeError</a:t>
            </a:r>
            <a:br/>
            <a:br/>
            <a:r>
              <a:rPr>
                <a:latin typeface="Courier"/>
              </a:rPr>
              <a:t>x, y </a:t>
            </a:r>
            <a:r>
              <a:rPr>
                <a:solidFill>
                  <a:srgbClr val="666666"/>
                </a:solidFill>
                <a:latin typeface="Courier"/>
              </a:rPr>
              <a:t>=</a:t>
            </a:r>
            <a:r>
              <a:rPr>
                <a:latin typeface="Courier"/>
              </a:rPr>
              <a:t> </a:t>
            </a:r>
            <a:r>
              <a:rPr>
                <a:solidFill>
                  <a:srgbClr val="40A070"/>
                </a:solidFill>
                <a:latin typeface="Courier"/>
              </a:rPr>
              <a:t>1</a:t>
            </a:r>
            <a:r>
              <a:rPr>
                <a:latin typeface="Courier"/>
              </a:rPr>
              <a:t>, </a:t>
            </a:r>
            <a:r>
              <a:rPr>
                <a:solidFill>
                  <a:srgbClr val="40A070"/>
                </a:solidFill>
                <a:latin typeface="Courier"/>
              </a:rPr>
              <a:t>2</a:t>
            </a:r>
            <a:br/>
            <a:r>
              <a:rPr>
                <a:latin typeface="Courier"/>
              </a:rPr>
              <a:t>x, y </a:t>
            </a:r>
            <a:r>
              <a:rPr>
                <a:solidFill>
                  <a:srgbClr val="666666"/>
                </a:solidFill>
                <a:latin typeface="Courier"/>
              </a:rPr>
              <a:t>=</a:t>
            </a:r>
            <a:r>
              <a:rPr>
                <a:latin typeface="Courier"/>
              </a:rPr>
              <a:t> y, x               </a:t>
            </a:r>
            <a:r>
              <a:rPr i="1">
                <a:solidFill>
                  <a:srgbClr val="60A0B0"/>
                </a:solidFill>
                <a:latin typeface="Courier"/>
              </a:rPr>
              <a:t># swap</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Dictionaries: </a:t>
            </a:r>
            <a:r>
              <a:rPr>
                <a:latin typeface="Courier"/>
              </a:rPr>
              <a:t>dict</a:t>
            </a:r>
          </a:p>
        </p:txBody>
      </p:sp>
      <p:pic>
        <p:nvPicPr>
          <p:cNvPr descr="img/dict_record.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Sets: </a:t>
            </a:r>
            <a:r>
              <a:rPr>
                <a:latin typeface="Courier"/>
              </a:rPr>
              <a:t>set</a:t>
            </a:r>
          </a:p>
        </p:txBody>
      </p:sp>
      <p:pic>
        <p:nvPicPr>
          <p:cNvPr descr="img/sets.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Summary</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638300"/>
                <a:gridCol w="1638300"/>
                <a:gridCol w="1638300"/>
                <a:gridCol w="1638300"/>
                <a:gridCol w="1638300"/>
              </a:tblGrid>
              <a:tr h="0">
                <a:tc>
                  <a:txBody>
                    <a:bodyPr>
                      <a:normAutofit/>
                    </a:bodyPr>
                    <a:lstStyle/>
                    <a:p>
                      <a:pPr lvl="0" indent="0" marL="0">
                        <a:buNone/>
                      </a:pPr>
                      <a:r>
                        <a:rPr/>
                        <a:t>Type</a:t>
                      </a:r>
                    </a:p>
                  </a:txBody>
                  <a:tcPr/>
                </a:tc>
                <a:tc>
                  <a:txBody>
                    <a:bodyPr>
                      <a:normAutofit/>
                    </a:bodyPr>
                    <a:lstStyle/>
                    <a:p>
                      <a:pPr lvl="0" indent="0" marL="0">
                        <a:buNone/>
                      </a:pPr>
                      <a:r>
                        <a:rPr/>
                        <a:t>Example</a:t>
                      </a:r>
                    </a:p>
                  </a:txBody>
                  <a:tcPr/>
                </a:tc>
                <a:tc>
                  <a:txBody>
                    <a:bodyPr>
                      <a:normAutofit/>
                    </a:bodyPr>
                    <a:lstStyle/>
                    <a:p>
                      <a:pPr lvl="0" indent="0" marL="0">
                        <a:buNone/>
                      </a:pPr>
                      <a:r>
                        <a:rPr/>
                        <a:t>Changeable</a:t>
                      </a:r>
                    </a:p>
                  </a:txBody>
                  <a:tcPr/>
                </a:tc>
                <a:tc>
                  <a:txBody>
                    <a:bodyPr>
                      <a:normAutofit/>
                    </a:bodyPr>
                    <a:lstStyle/>
                    <a:p>
                      <a:pPr lvl="0" indent="0" marL="0">
                        <a:buNone/>
                      </a:pPr>
                      <a:r>
                        <a:rPr/>
                        <a:t>Ordered</a:t>
                      </a:r>
                    </a:p>
                  </a:txBody>
                  <a:tcPr/>
                </a:tc>
                <a:tc>
                  <a:txBody>
                    <a:bodyPr>
                      <a:normAutofit/>
                    </a:bodyPr>
                    <a:lstStyle/>
                    <a:p>
                      <a:pPr lvl="0" indent="0" marL="0">
                        <a:buNone/>
                      </a:pPr>
                      <a:r>
                        <a:rPr/>
                        <a:t>Access</a:t>
                      </a:r>
                    </a:p>
                  </a:txBody>
                  <a:tcPr/>
                </a:tc>
              </a:tr>
              <a:tr h="0">
                <a:tc>
                  <a:txBody>
                    <a:bodyPr>
                      <a:normAutofit/>
                    </a:bodyPr>
                    <a:lstStyle/>
                    <a:p>
                      <a:pPr lvl="0" indent="0" marL="0">
                        <a:buNone/>
                      </a:pPr>
                      <a:r>
                        <a:rPr>
                          <a:latin typeface="Courier"/>
                        </a:rPr>
                        <a:t>int</a:t>
                      </a:r>
                      <a:r>
                        <a:rPr/>
                        <a:t>, </a:t>
                      </a:r>
                      <a:r>
                        <a:rPr>
                          <a:latin typeface="Courier"/>
                        </a:rPr>
                        <a:t>float</a:t>
                      </a:r>
                    </a:p>
                  </a:txBody>
                </a:tc>
                <a:tc>
                  <a:txBody>
                    <a:bodyPr>
                      <a:normAutofit/>
                    </a:bodyPr>
                    <a:lstStyle/>
                    <a:p>
                      <a:pPr lvl="0" indent="0" marL="0">
                        <a:buNone/>
                      </a:pPr>
                      <a:r>
                        <a:rPr>
                          <a:latin typeface="Courier"/>
                        </a:rPr>
                        <a:t>54</a:t>
                      </a:r>
                      <a:r>
                        <a:rPr/>
                        <a:t>, </a:t>
                      </a:r>
                      <a:r>
                        <a:rPr>
                          <a:latin typeface="Courier"/>
                        </a:rPr>
                        <a:t>38.4</a:t>
                      </a:r>
                    </a:p>
                  </a:txBody>
                </a:tc>
                <a:tc>
                  <a:txBody>
                    <a:bodyPr>
                      <a:normAutofit/>
                    </a:bodyPr>
                    <a:lstStyle/>
                    <a:p>
                      <a:pPr lvl="0" indent="0" marL="0">
                        <a:buNone/>
                      </a:pPr>
                      <a:r>
                        <a:rPr/>
                        <a:t>no</a:t>
                      </a:r>
                    </a:p>
                  </a:txBody>
                </a:tc>
                <a:tc>
                  <a:txBody>
                    <a:bodyPr>
                      <a:normAutofit/>
                    </a:bodyPr>
                    <a:lstStyle/>
                    <a:p>
                      <a:endParaRPr/>
                    </a:p>
                  </a:txBody>
                </a:tc>
                <a:tc>
                  <a:txBody>
                    <a:bodyPr>
                      <a:normAutofit/>
                    </a:bodyPr>
                    <a:lstStyle/>
                    <a:p>
                      <a:endParaRPr/>
                    </a:p>
                  </a:txBody>
                </a:tc>
              </a:tr>
              <a:tr h="0">
                <a:tc>
                  <a:txBody>
                    <a:bodyPr>
                      <a:normAutofit/>
                    </a:bodyPr>
                    <a:lstStyle/>
                    <a:p>
                      <a:pPr lvl="0" indent="0" marL="0">
                        <a:buNone/>
                      </a:pPr>
                      <a:r>
                        <a:rPr>
                          <a:latin typeface="Courier"/>
                        </a:rPr>
                        <a:t>bool</a:t>
                      </a:r>
                    </a:p>
                  </a:txBody>
                </a:tc>
                <a:tc>
                  <a:txBody>
                    <a:bodyPr>
                      <a:normAutofit/>
                    </a:bodyPr>
                    <a:lstStyle/>
                    <a:p>
                      <a:pPr lvl="0" indent="0" marL="0">
                        <a:buNone/>
                      </a:pPr>
                      <a:r>
                        <a:rPr>
                          <a:latin typeface="Courier"/>
                        </a:rPr>
                        <a:t>True</a:t>
                      </a:r>
                    </a:p>
                  </a:txBody>
                </a:tc>
                <a:tc>
                  <a:txBody>
                    <a:bodyPr>
                      <a:normAutofit/>
                    </a:bodyPr>
                    <a:lstStyle/>
                    <a:p>
                      <a:pPr lvl="0" indent="0" marL="0">
                        <a:buNone/>
                      </a:pPr>
                      <a:r>
                        <a:rPr/>
                        <a:t>no</a:t>
                      </a:r>
                    </a:p>
                  </a:txBody>
                </a:tc>
                <a:tc>
                  <a:txBody>
                    <a:bodyPr>
                      <a:normAutofit/>
                    </a:bodyPr>
                    <a:lstStyle/>
                    <a:p>
                      <a:endParaRPr/>
                    </a:p>
                  </a:txBody>
                </a:tc>
                <a:tc>
                  <a:txBody>
                    <a:bodyPr>
                      <a:normAutofit/>
                    </a:bodyPr>
                    <a:lstStyle/>
                    <a:p>
                      <a:endParaRPr/>
                    </a:p>
                  </a:txBody>
                </a:tc>
              </a:tr>
              <a:tr h="0">
                <a:tc>
                  <a:txBody>
                    <a:bodyPr>
                      <a:normAutofit/>
                    </a:bodyPr>
                    <a:lstStyle/>
                    <a:p>
                      <a:pPr lvl="0" indent="0" marL="0">
                        <a:buNone/>
                      </a:pPr>
                      <a:r>
                        <a:rPr>
                          <a:latin typeface="Courier"/>
                        </a:rPr>
                        <a:t>str</a:t>
                      </a:r>
                    </a:p>
                  </a:txBody>
                </a:tc>
                <a:tc>
                  <a:txBody>
                    <a:bodyPr>
                      <a:normAutofit/>
                    </a:bodyPr>
                    <a:lstStyle/>
                    <a:p>
                      <a:pPr lvl="0" indent="0" marL="0">
                        <a:buNone/>
                      </a:pPr>
                      <a:r>
                        <a:rPr>
                          <a:latin typeface="Courier"/>
                        </a:rPr>
                        <a:t>"P001"</a:t>
                      </a:r>
                    </a:p>
                  </a:txBody>
                </a:tc>
                <a:tc>
                  <a:txBody>
                    <a:bodyPr>
                      <a:normAutofit/>
                    </a:bodyPr>
                    <a:lstStyle/>
                    <a:p>
                      <a:pPr lvl="0" indent="0" marL="0">
                        <a:buNone/>
                      </a:pPr>
                      <a:r>
                        <a:rPr/>
                        <a:t>no</a:t>
                      </a:r>
                    </a:p>
                  </a:txBody>
                </a:tc>
                <a:tc>
                  <a:txBody>
                    <a:bodyPr>
                      <a:normAutofit/>
                    </a:bodyPr>
                    <a:lstStyle/>
                    <a:p>
                      <a:pPr lvl="0" indent="0" marL="0">
                        <a:buNone/>
                      </a:pPr>
                      <a:r>
                        <a:rPr/>
                        <a:t>yes</a:t>
                      </a:r>
                    </a:p>
                  </a:txBody>
                </a:tc>
                <a:tc>
                  <a:txBody>
                    <a:bodyPr>
                      <a:normAutofit/>
                    </a:bodyPr>
                    <a:lstStyle/>
                    <a:p>
                      <a:pPr lvl="0" indent="0" marL="0">
                        <a:buNone/>
                      </a:pPr>
                      <a:r>
                        <a:rPr>
                          <a:latin typeface="Courier"/>
                        </a:rPr>
                        <a:t>s[0]</a:t>
                      </a:r>
                    </a:p>
                  </a:txBody>
                </a:tc>
              </a:tr>
              <a:tr h="0">
                <a:tc>
                  <a:txBody>
                    <a:bodyPr>
                      <a:normAutofit/>
                    </a:bodyPr>
                    <a:lstStyle/>
                    <a:p>
                      <a:pPr lvl="0" indent="0" marL="0">
                        <a:buNone/>
                      </a:pPr>
                      <a:r>
                        <a:rPr>
                          <a:latin typeface="Courier"/>
                        </a:rPr>
                        <a:t>None</a:t>
                      </a:r>
                    </a:p>
                  </a:txBody>
                </a:tc>
                <a:tc>
                  <a:txBody>
                    <a:bodyPr>
                      <a:normAutofit/>
                    </a:bodyPr>
                    <a:lstStyle/>
                    <a:p>
                      <a:pPr lvl="0" indent="0" marL="0">
                        <a:buNone/>
                      </a:pPr>
                      <a:r>
                        <a:rPr>
                          <a:latin typeface="Courier"/>
                        </a:rPr>
                        <a:t>None</a:t>
                      </a:r>
                    </a:p>
                  </a:txBody>
                </a:tc>
                <a:tc>
                  <a:txBody>
                    <a:bodyPr>
                      <a:normAutofit/>
                    </a:bodyPr>
                    <a:lstStyle/>
                    <a:p>
                      <a:pPr lvl="0" indent="0" marL="0">
                        <a:buNone/>
                      </a:pPr>
                      <a:r>
                        <a:rPr/>
                        <a:t>no</a:t>
                      </a:r>
                    </a:p>
                  </a:txBody>
                </a:tc>
                <a:tc>
                  <a:txBody>
                    <a:bodyPr>
                      <a:normAutofit/>
                    </a:bodyPr>
                    <a:lstStyle/>
                    <a:p>
                      <a:endParaRPr/>
                    </a:p>
                  </a:txBody>
                </a:tc>
                <a:tc>
                  <a:txBody>
                    <a:bodyPr>
                      <a:normAutofit/>
                    </a:bodyPr>
                    <a:lstStyle/>
                    <a:p>
                      <a:endParaRPr/>
                    </a:p>
                  </a:txBody>
                </a:tc>
              </a:tr>
              <a:tr h="0">
                <a:tc>
                  <a:txBody>
                    <a:bodyPr>
                      <a:normAutofit/>
                    </a:bodyPr>
                    <a:lstStyle/>
                    <a:p>
                      <a:pPr lvl="0" indent="0" marL="0">
                        <a:buNone/>
                      </a:pPr>
                      <a:r>
                        <a:rPr>
                          <a:latin typeface="Courier"/>
                        </a:rPr>
                        <a:t>list</a:t>
                      </a:r>
                    </a:p>
                  </a:txBody>
                </a:tc>
                <a:tc>
                  <a:txBody>
                    <a:bodyPr>
                      <a:normAutofit/>
                    </a:bodyPr>
                    <a:lstStyle/>
                    <a:p>
                      <a:pPr lvl="0" indent="0" marL="0">
                        <a:buNone/>
                      </a:pPr>
                      <a:r>
                        <a:rPr>
                          <a:latin typeface="Courier"/>
                        </a:rPr>
                        <a:t>[72, 85]</a:t>
                      </a:r>
                    </a:p>
                  </a:txBody>
                </a:tc>
                <a:tc>
                  <a:txBody>
                    <a:bodyPr>
                      <a:normAutofit/>
                    </a:bodyPr>
                    <a:lstStyle/>
                    <a:p>
                      <a:pPr lvl="0" indent="0" marL="0">
                        <a:buNone/>
                      </a:pPr>
                      <a:r>
                        <a:rPr/>
                        <a:t>yes</a:t>
                      </a:r>
                    </a:p>
                  </a:txBody>
                </a:tc>
                <a:tc>
                  <a:txBody>
                    <a:bodyPr>
                      <a:normAutofit/>
                    </a:bodyPr>
                    <a:lstStyle/>
                    <a:p>
                      <a:pPr lvl="0" indent="0" marL="0">
                        <a:buNone/>
                      </a:pPr>
                      <a:r>
                        <a:rPr/>
                        <a:t>yes</a:t>
                      </a:r>
                    </a:p>
                  </a:txBody>
                </a:tc>
                <a:tc>
                  <a:txBody>
                    <a:bodyPr>
                      <a:normAutofit/>
                    </a:bodyPr>
                    <a:lstStyle/>
                    <a:p>
                      <a:pPr lvl="0" indent="0" marL="0">
                        <a:buNone/>
                      </a:pPr>
                      <a:r>
                        <a:rPr>
                          <a:latin typeface="Courier"/>
                        </a:rPr>
                        <a:t>l[0]</a:t>
                      </a:r>
                    </a:p>
                  </a:txBody>
                </a:tc>
              </a:tr>
              <a:tr h="0">
                <a:tc>
                  <a:txBody>
                    <a:bodyPr>
                      <a:normAutofit/>
                    </a:bodyPr>
                    <a:lstStyle/>
                    <a:p>
                      <a:pPr lvl="0" indent="0" marL="0">
                        <a:buNone/>
                      </a:pPr>
                      <a:r>
                        <a:rPr>
                          <a:latin typeface="Courier"/>
                        </a:rPr>
                        <a:t>tuple</a:t>
                      </a:r>
                    </a:p>
                  </a:txBody>
                </a:tc>
                <a:tc>
                  <a:txBody>
                    <a:bodyPr>
                      <a:normAutofit/>
                    </a:bodyPr>
                    <a:lstStyle/>
                    <a:p>
                      <a:pPr lvl="0" indent="0" marL="0">
                        <a:buNone/>
                      </a:pPr>
                      <a:r>
                        <a:rPr>
                          <a:latin typeface="Courier"/>
                        </a:rPr>
                        <a:t>(120, 80)</a:t>
                      </a:r>
                    </a:p>
                  </a:txBody>
                </a:tc>
                <a:tc>
                  <a:txBody>
                    <a:bodyPr>
                      <a:normAutofit/>
                    </a:bodyPr>
                    <a:lstStyle/>
                    <a:p>
                      <a:pPr lvl="0" indent="0" marL="0">
                        <a:buNone/>
                      </a:pPr>
                      <a:r>
                        <a:rPr/>
                        <a:t>no</a:t>
                      </a:r>
                    </a:p>
                  </a:txBody>
                </a:tc>
                <a:tc>
                  <a:txBody>
                    <a:bodyPr>
                      <a:normAutofit/>
                    </a:bodyPr>
                    <a:lstStyle/>
                    <a:p>
                      <a:pPr lvl="0" indent="0" marL="0">
                        <a:buNone/>
                      </a:pPr>
                      <a:r>
                        <a:rPr/>
                        <a:t>yes</a:t>
                      </a:r>
                    </a:p>
                  </a:txBody>
                </a:tc>
                <a:tc>
                  <a:txBody>
                    <a:bodyPr>
                      <a:normAutofit/>
                    </a:bodyPr>
                    <a:lstStyle/>
                    <a:p>
                      <a:pPr lvl="0" indent="0" marL="0">
                        <a:buNone/>
                      </a:pPr>
                      <a:r>
                        <a:rPr>
                          <a:latin typeface="Courier"/>
                        </a:rPr>
                        <a:t>t[0]</a:t>
                      </a:r>
                    </a:p>
                  </a:txBody>
                </a:tc>
              </a:tr>
              <a:tr h="0">
                <a:tc>
                  <a:txBody>
                    <a:bodyPr>
                      <a:normAutofit/>
                    </a:bodyPr>
                    <a:lstStyle/>
                    <a:p>
                      <a:pPr lvl="0" indent="0" marL="0">
                        <a:buNone/>
                      </a:pPr>
                      <a:r>
                        <a:rPr>
                          <a:latin typeface="Courier"/>
                        </a:rPr>
                        <a:t>dict</a:t>
                      </a:r>
                    </a:p>
                  </a:txBody>
                </a:tc>
                <a:tc>
                  <a:txBody>
                    <a:bodyPr>
                      <a:normAutofit/>
                    </a:bodyPr>
                    <a:lstStyle/>
                    <a:p>
                      <a:pPr lvl="0" indent="0" marL="0">
                        <a:buNone/>
                      </a:pPr>
                      <a:r>
                        <a:rPr>
                          <a:latin typeface="Courier"/>
                        </a:rPr>
                        <a:t>{"age": 54}</a:t>
                      </a:r>
                    </a:p>
                  </a:txBody>
                </a:tc>
                <a:tc>
                  <a:txBody>
                    <a:bodyPr>
                      <a:normAutofit/>
                    </a:bodyPr>
                    <a:lstStyle/>
                    <a:p>
                      <a:pPr lvl="0" indent="0" marL="0">
                        <a:buNone/>
                      </a:pPr>
                      <a:r>
                        <a:rPr/>
                        <a:t>yes</a:t>
                      </a:r>
                    </a:p>
                  </a:txBody>
                </a:tc>
                <a:tc>
                  <a:txBody>
                    <a:bodyPr>
                      <a:normAutofit/>
                    </a:bodyPr>
                    <a:lstStyle/>
                    <a:p>
                      <a:pPr lvl="0" indent="0" marL="0">
                        <a:buNone/>
                      </a:pPr>
                      <a:r>
                        <a:rPr/>
                        <a:t>by insertion</a:t>
                      </a:r>
                    </a:p>
                  </a:txBody>
                </a:tc>
                <a:tc>
                  <a:txBody>
                    <a:bodyPr>
                      <a:normAutofit/>
                    </a:bodyPr>
                    <a:lstStyle/>
                    <a:p>
                      <a:pPr lvl="0" indent="0" marL="0">
                        <a:buNone/>
                      </a:pPr>
                      <a:r>
                        <a:rPr>
                          <a:latin typeface="Courier"/>
                        </a:rPr>
                        <a:t>d["age"]</a:t>
                      </a:r>
                    </a:p>
                  </a:txBody>
                </a:tc>
              </a:tr>
              <a:tr h="0">
                <a:tc>
                  <a:txBody>
                    <a:bodyPr>
                      <a:normAutofit/>
                    </a:bodyPr>
                    <a:lstStyle/>
                    <a:p>
                      <a:pPr lvl="0" indent="0" marL="0">
                        <a:buNone/>
                      </a:pPr>
                      <a:r>
                        <a:rPr>
                          <a:latin typeface="Courier"/>
                        </a:rPr>
                        <a:t>set</a:t>
                      </a:r>
                    </a:p>
                  </a:txBody>
                </a:tc>
                <a:tc>
                  <a:txBody>
                    <a:bodyPr>
                      <a:normAutofit/>
                    </a:bodyPr>
                    <a:lstStyle/>
                    <a:p>
                      <a:pPr lvl="0" indent="0" marL="0">
                        <a:buNone/>
                      </a:pPr>
                      <a:r>
                        <a:rPr>
                          <a:latin typeface="Courier"/>
                        </a:rPr>
                        <a:t>{"aspirin"}</a:t>
                      </a:r>
                    </a:p>
                  </a:txBody>
                </a:tc>
                <a:tc>
                  <a:txBody>
                    <a:bodyPr>
                      <a:normAutofit/>
                    </a:bodyPr>
                    <a:lstStyle/>
                    <a:p>
                      <a:pPr lvl="0" indent="0" marL="0">
                        <a:buNone/>
                      </a:pPr>
                      <a:r>
                        <a:rPr/>
                        <a:t>yes</a:t>
                      </a:r>
                    </a:p>
                  </a:txBody>
                </a:tc>
                <a:tc>
                  <a:txBody>
                    <a:bodyPr>
                      <a:normAutofit/>
                    </a:bodyPr>
                    <a:lstStyle/>
                    <a:p>
                      <a:pPr lvl="0" indent="0" marL="0">
                        <a:buNone/>
                      </a:pPr>
                      <a:r>
                        <a:rPr/>
                        <a:t>no</a:t>
                      </a:r>
                    </a:p>
                  </a:txBody>
                </a:tc>
                <a:tc>
                  <a:txBody>
                    <a:bodyPr>
                      <a:normAutofit/>
                    </a:bodyPr>
                    <a:lstStyle/>
                    <a:p>
                      <a:pPr lvl="0" indent="0" marL="0">
                        <a:buNone/>
                      </a:pPr>
                      <a:r>
                        <a:rPr>
                          <a:latin typeface="Courier"/>
                        </a:rPr>
                        <a:t>x in s</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4. Putting it together</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A ward is a list of dicts</a:t>
            </a:r>
          </a:p>
        </p:txBody>
      </p:sp>
      <p:pic>
        <p:nvPicPr>
          <p:cNvPr descr="img/nested.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ormAutofit/>
          </a:bodyPr>
          <a:lstStyle/>
          <a:p>
            <a:pPr lvl="0" indent="0" marL="0">
              <a:buNone/>
            </a:pPr>
            <a:r>
              <a:rPr/>
              <a:t>5. NumPy arrays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Lists are slow for numbers</a:t>
            </a:r>
          </a:p>
        </p:txBody>
      </p:sp>
      <p:pic>
        <p:nvPicPr>
          <p:cNvPr descr="img/list_vs_array.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The </a:t>
            </a:r>
            <a:r>
              <a:rPr>
                <a:latin typeface="Courier"/>
              </a:rPr>
              <a:t>ndarray</a:t>
            </a:r>
            <a:r>
              <a:rPr/>
              <a:t>: shape and dtype</a:t>
            </a:r>
          </a:p>
        </p:txBody>
      </p:sp>
      <p:pic>
        <p:nvPicPr>
          <p:cNvPr descr="img/ndarray.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NumPy data types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normAutofit/>
                    </a:bodyPr>
                    <a:lstStyle/>
                    <a:p>
                      <a:pPr lvl="0" indent="0" marL="0">
                        <a:buNone/>
                      </a:pPr>
                      <a:r>
                        <a:rPr/>
                        <a:t>dtype</a:t>
                      </a:r>
                    </a:p>
                  </a:txBody>
                  <a:tcPr/>
                </a:tc>
                <a:tc>
                  <a:txBody>
                    <a:bodyPr>
                      <a:normAutofit/>
                    </a:bodyPr>
                    <a:lstStyle/>
                    <a:p>
                      <a:pPr lvl="0" indent="0" marL="0">
                        <a:buNone/>
                      </a:pPr>
                      <a:r>
                        <a:rPr/>
                        <a:t>bytes</a:t>
                      </a:r>
                    </a:p>
                  </a:txBody>
                  <a:tcPr/>
                </a:tc>
                <a:tc>
                  <a:txBody>
                    <a:bodyPr>
                      <a:normAutofit/>
                    </a:bodyPr>
                    <a:lstStyle/>
                    <a:p>
                      <a:pPr lvl="0" indent="0" marL="0">
                        <a:buNone/>
                      </a:pPr>
                      <a:r>
                        <a:rPr/>
                        <a:t>holds</a:t>
                      </a:r>
                    </a:p>
                  </a:txBody>
                  <a:tcPr/>
                </a:tc>
                <a:tc>
                  <a:txBody>
                    <a:bodyPr>
                      <a:normAutofit/>
                    </a:bodyPr>
                    <a:lstStyle/>
                    <a:p>
                      <a:pPr lvl="0" indent="0" marL="0">
                        <a:buNone/>
                      </a:pPr>
                      <a:r>
                        <a:rPr/>
                        <a:t>typical use</a:t>
                      </a:r>
                    </a:p>
                  </a:txBody>
                  <a:tcPr/>
                </a:tc>
              </a:tr>
              <a:tr h="0">
                <a:tc>
                  <a:txBody>
                    <a:bodyPr>
                      <a:normAutofit/>
                    </a:bodyPr>
                    <a:lstStyle/>
                    <a:p>
                      <a:pPr lvl="0" indent="0" marL="0">
                        <a:buNone/>
                      </a:pPr>
                      <a:r>
                        <a:rPr>
                          <a:latin typeface="Courier"/>
                        </a:rPr>
                        <a:t>bool</a:t>
                      </a:r>
                    </a:p>
                  </a:txBody>
                </a:tc>
                <a:tc>
                  <a:txBody>
                    <a:bodyPr>
                      <a:normAutofit/>
                    </a:bodyPr>
                    <a:lstStyle/>
                    <a:p>
                      <a:pPr lvl="0" indent="0" marL="0">
                        <a:buNone/>
                      </a:pPr>
                      <a:r>
                        <a:rPr/>
                        <a:t>1</a:t>
                      </a:r>
                    </a:p>
                  </a:txBody>
                </a:tc>
                <a:tc>
                  <a:txBody>
                    <a:bodyPr>
                      <a:normAutofit/>
                    </a:bodyPr>
                    <a:lstStyle/>
                    <a:p>
                      <a:pPr lvl="0" indent="0" marL="0">
                        <a:buNone/>
                      </a:pPr>
                      <a:r>
                        <a:rPr>
                          <a:latin typeface="Courier"/>
                        </a:rPr>
                        <a:t>True</a:t>
                      </a:r>
                      <a:r>
                        <a:rPr/>
                        <a:t> / </a:t>
                      </a:r>
                      <a:r>
                        <a:rPr>
                          <a:latin typeface="Courier"/>
                        </a:rPr>
                        <a:t>False</a:t>
                      </a:r>
                    </a:p>
                  </a:txBody>
                </a:tc>
                <a:tc>
                  <a:txBody>
                    <a:bodyPr>
                      <a:normAutofit/>
                    </a:bodyPr>
                    <a:lstStyle/>
                    <a:p>
                      <a:pPr lvl="0" indent="0" marL="0">
                        <a:buNone/>
                      </a:pPr>
                      <a:r>
                        <a:rPr/>
                        <a:t>masks</a:t>
                      </a:r>
                    </a:p>
                  </a:txBody>
                </a:tc>
              </a:tr>
              <a:tr h="0">
                <a:tc>
                  <a:txBody>
                    <a:bodyPr>
                      <a:normAutofit/>
                    </a:bodyPr>
                    <a:lstStyle/>
                    <a:p>
                      <a:pPr lvl="0" indent="0" marL="0">
                        <a:buNone/>
                      </a:pPr>
                      <a:r>
                        <a:rPr>
                          <a:latin typeface="Courier"/>
                        </a:rPr>
                        <a:t>uint8</a:t>
                      </a:r>
                    </a:p>
                  </a:txBody>
                </a:tc>
                <a:tc>
                  <a:txBody>
                    <a:bodyPr>
                      <a:normAutofit/>
                    </a:bodyPr>
                    <a:lstStyle/>
                    <a:p>
                      <a:pPr lvl="0" indent="0" marL="0">
                        <a:buNone/>
                      </a:pPr>
                      <a:r>
                        <a:rPr/>
                        <a:t>1</a:t>
                      </a:r>
                    </a:p>
                  </a:txBody>
                </a:tc>
                <a:tc>
                  <a:txBody>
                    <a:bodyPr>
                      <a:normAutofit/>
                    </a:bodyPr>
                    <a:lstStyle/>
                    <a:p>
                      <a:pPr lvl="0" indent="0" marL="0">
                        <a:buNone/>
                      </a:pPr>
                      <a:r>
                        <a:rPr/>
                        <a:t>0 to 255</a:t>
                      </a:r>
                    </a:p>
                  </a:txBody>
                </a:tc>
                <a:tc>
                  <a:txBody>
                    <a:bodyPr>
                      <a:normAutofit/>
                    </a:bodyPr>
                    <a:lstStyle/>
                    <a:p>
                      <a:pPr lvl="0" indent="0" marL="0">
                        <a:buNone/>
                      </a:pPr>
                      <a:r>
                        <a:rPr/>
                        <a:t>image pixels</a:t>
                      </a:r>
                    </a:p>
                  </a:txBody>
                </a:tc>
              </a:tr>
              <a:tr h="0">
                <a:tc>
                  <a:txBody>
                    <a:bodyPr>
                      <a:normAutofit/>
                    </a:bodyPr>
                    <a:lstStyle/>
                    <a:p>
                      <a:pPr lvl="0" indent="0" marL="0">
                        <a:buNone/>
                      </a:pPr>
                      <a:r>
                        <a:rPr>
                          <a:latin typeface="Courier"/>
                        </a:rPr>
                        <a:t>int16</a:t>
                      </a:r>
                    </a:p>
                  </a:txBody>
                </a:tc>
                <a:tc>
                  <a:txBody>
                    <a:bodyPr>
                      <a:normAutofit/>
                    </a:bodyPr>
                    <a:lstStyle/>
                    <a:p>
                      <a:pPr lvl="0" indent="0" marL="0">
                        <a:buNone/>
                      </a:pPr>
                      <a:r>
                        <a:rPr/>
                        <a:t>2</a:t>
                      </a:r>
                    </a:p>
                  </a:txBody>
                </a:tc>
                <a:tc>
                  <a:txBody>
                    <a:bodyPr>
                      <a:normAutofit/>
                    </a:bodyPr>
                    <a:lstStyle/>
                    <a:p>
                      <a:pPr lvl="0" indent="0" marL="0">
                        <a:buNone/>
                      </a:pPr>
                      <a:r>
                        <a:rPr/>
                        <a:t>-32 768 to 32 767</a:t>
                      </a:r>
                    </a:p>
                  </a:txBody>
                </a:tc>
                <a:tc>
                  <a:txBody>
                    <a:bodyPr>
                      <a:normAutofit/>
                    </a:bodyPr>
                    <a:lstStyle/>
                    <a:p>
                      <a:pPr lvl="0" indent="0" marL="0">
                        <a:buNone/>
                      </a:pPr>
                      <a:r>
                        <a:rPr/>
                        <a:t>CT scans (Hounsfield units)</a:t>
                      </a:r>
                    </a:p>
                  </a:txBody>
                </a:tc>
              </a:tr>
              <a:tr h="0">
                <a:tc>
                  <a:txBody>
                    <a:bodyPr>
                      <a:normAutofit/>
                    </a:bodyPr>
                    <a:lstStyle/>
                    <a:p>
                      <a:pPr lvl="0" indent="0" marL="0">
                        <a:buNone/>
                      </a:pPr>
                      <a:r>
                        <a:rPr>
                          <a:latin typeface="Courier"/>
                        </a:rPr>
                        <a:t>int64</a:t>
                      </a:r>
                    </a:p>
                  </a:txBody>
                </a:tc>
                <a:tc>
                  <a:txBody>
                    <a:bodyPr>
                      <a:normAutofit/>
                    </a:bodyPr>
                    <a:lstStyle/>
                    <a:p>
                      <a:pPr lvl="0" indent="0" marL="0">
                        <a:buNone/>
                      </a:pPr>
                      <a:r>
                        <a:rPr/>
                        <a:t>8</a:t>
                      </a:r>
                    </a:p>
                  </a:txBody>
                </a:tc>
                <a:tc>
                  <a:txBody>
                    <a:bodyPr>
                      <a:normAutofit/>
                    </a:bodyPr>
                    <a:lstStyle/>
                    <a:p>
                      <a:pPr lvl="0" indent="0" marL="0">
                        <a:buNone/>
                      </a:pPr>
                      <a:r>
                        <a:rPr/>
                        <a:t>about ±9.2e18</a:t>
                      </a:r>
                    </a:p>
                  </a:txBody>
                </a:tc>
                <a:tc>
                  <a:txBody>
                    <a:bodyPr>
                      <a:normAutofit/>
                    </a:bodyPr>
                    <a:lstStyle/>
                    <a:p>
                      <a:pPr lvl="0" indent="0" marL="0">
                        <a:buNone/>
                      </a:pPr>
                      <a:r>
                        <a:rPr/>
                        <a:t>counts, ids (the default int)</a:t>
                      </a:r>
                    </a:p>
                  </a:txBody>
                </a:tc>
              </a:tr>
              <a:tr h="0">
                <a:tc>
                  <a:txBody>
                    <a:bodyPr>
                      <a:normAutofit/>
                    </a:bodyPr>
                    <a:lstStyle/>
                    <a:p>
                      <a:pPr lvl="0" indent="0" marL="0">
                        <a:buNone/>
                      </a:pPr>
                      <a:r>
                        <a:rPr>
                          <a:latin typeface="Courier"/>
                        </a:rPr>
                        <a:t>float16</a:t>
                      </a:r>
                    </a:p>
                  </a:txBody>
                </a:tc>
                <a:tc>
                  <a:txBody>
                    <a:bodyPr>
                      <a:normAutofit/>
                    </a:bodyPr>
                    <a:lstStyle/>
                    <a:p>
                      <a:pPr lvl="0" indent="0" marL="0">
                        <a:buNone/>
                      </a:pPr>
                      <a:r>
                        <a:rPr/>
                        <a:t>2</a:t>
                      </a:r>
                    </a:p>
                  </a:txBody>
                </a:tc>
                <a:tc>
                  <a:txBody>
                    <a:bodyPr>
                      <a:normAutofit/>
                    </a:bodyPr>
                    <a:lstStyle/>
                    <a:p>
                      <a:pPr lvl="0" indent="0" marL="0">
                        <a:buNone/>
                      </a:pPr>
                      <a:r>
                        <a:rPr/>
                        <a:t>~3 digits, up to 65 504</a:t>
                      </a:r>
                    </a:p>
                  </a:txBody>
                </a:tc>
                <a:tc>
                  <a:txBody>
                    <a:bodyPr>
                      <a:normAutofit/>
                    </a:bodyPr>
                    <a:lstStyle/>
                    <a:p>
                      <a:pPr lvl="0" indent="0" marL="0">
                        <a:buNone/>
                      </a:pPr>
                      <a:r>
                        <a:rPr/>
                        <a:t>deep learning</a:t>
                      </a:r>
                    </a:p>
                  </a:txBody>
                </a:tc>
              </a:tr>
              <a:tr h="0">
                <a:tc>
                  <a:txBody>
                    <a:bodyPr>
                      <a:normAutofit/>
                    </a:bodyPr>
                    <a:lstStyle/>
                    <a:p>
                      <a:pPr lvl="0" indent="0" marL="0">
                        <a:buNone/>
                      </a:pPr>
                      <a:r>
                        <a:rPr>
                          <a:latin typeface="Courier"/>
                        </a:rPr>
                        <a:t>float32</a:t>
                      </a:r>
                    </a:p>
                  </a:txBody>
                </a:tc>
                <a:tc>
                  <a:txBody>
                    <a:bodyPr>
                      <a:normAutofit/>
                    </a:bodyPr>
                    <a:lstStyle/>
                    <a:p>
                      <a:pPr lvl="0" indent="0" marL="0">
                        <a:buNone/>
                      </a:pPr>
                      <a:r>
                        <a:rPr/>
                        <a:t>4</a:t>
                      </a:r>
                    </a:p>
                  </a:txBody>
                </a:tc>
                <a:tc>
                  <a:txBody>
                    <a:bodyPr>
                      <a:normAutofit/>
                    </a:bodyPr>
                    <a:lstStyle/>
                    <a:p>
                      <a:pPr lvl="0" indent="0" marL="0">
                        <a:buNone/>
                      </a:pPr>
                      <a:r>
                        <a:rPr/>
                        <a:t>~7 digits</a:t>
                      </a:r>
                    </a:p>
                  </a:txBody>
                </a:tc>
                <a:tc>
                  <a:txBody>
                    <a:bodyPr>
                      <a:normAutofit/>
                    </a:bodyPr>
                    <a:lstStyle/>
                    <a:p>
                      <a:pPr lvl="0" indent="0" marL="0">
                        <a:buNone/>
                      </a:pPr>
                      <a:r>
                        <a:rPr/>
                        <a:t>images, deep learning, GPUs</a:t>
                      </a:r>
                    </a:p>
                  </a:txBody>
                </a:tc>
              </a:tr>
              <a:tr h="0">
                <a:tc>
                  <a:txBody>
                    <a:bodyPr>
                      <a:normAutofit/>
                    </a:bodyPr>
                    <a:lstStyle/>
                    <a:p>
                      <a:pPr lvl="0" indent="0" marL="0">
                        <a:buNone/>
                      </a:pPr>
                      <a:r>
                        <a:rPr>
                          <a:latin typeface="Courier"/>
                        </a:rPr>
                        <a:t>float64</a:t>
                      </a:r>
                    </a:p>
                  </a:txBody>
                </a:tc>
                <a:tc>
                  <a:txBody>
                    <a:bodyPr>
                      <a:normAutofit/>
                    </a:bodyPr>
                    <a:lstStyle/>
                    <a:p>
                      <a:pPr lvl="0" indent="0" marL="0">
                        <a:buNone/>
                      </a:pPr>
                      <a:r>
                        <a:rPr/>
                        <a:t>8</a:t>
                      </a:r>
                    </a:p>
                  </a:txBody>
                </a:tc>
                <a:tc>
                  <a:txBody>
                    <a:bodyPr>
                      <a:normAutofit/>
                    </a:bodyPr>
                    <a:lstStyle/>
                    <a:p>
                      <a:pPr lvl="0" indent="0" marL="0">
                        <a:buNone/>
                      </a:pPr>
                      <a:r>
                        <a:rPr/>
                        <a:t>~16 digits</a:t>
                      </a:r>
                    </a:p>
                  </a:txBody>
                </a:tc>
                <a:tc>
                  <a:txBody>
                    <a:bodyPr>
                      <a:normAutofit/>
                    </a:bodyPr>
                    <a:lstStyle/>
                    <a:p>
                      <a:pPr lvl="0" indent="0" marL="0">
                        <a:buNone/>
                      </a:pPr>
                      <a:r>
                        <a:rPr/>
                        <a:t>statistics (the default float)</a:t>
                      </a:r>
                    </a:p>
                  </a:txBody>
                </a:tc>
              </a:tr>
            </a:tbl>
          </a:graphicData>
        </a:graphic>
      </p:graphicFrame>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Inside a float</a:t>
            </a:r>
          </a:p>
        </p:txBody>
      </p:sp>
      <p:pic>
        <p:nvPicPr>
          <p:cNvPr descr="img/float_bits.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The same values, four precisions</a:t>
            </a:r>
          </a:p>
        </p:txBody>
      </p:sp>
      <p:pic>
        <p:nvPicPr>
          <p:cNvPr descr="img/float_precision.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Smaller is lighter and faster</a:t>
            </a:r>
          </a:p>
        </p:txBody>
      </p:sp>
      <p:pic>
        <p:nvPicPr>
          <p:cNvPr descr="img/dtype_memory.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Choosing and converting</a:t>
            </a:r>
          </a:p>
        </p:txBody>
      </p:sp>
      <p:sp>
        <p:nvSpPr>
          <p:cNvPr id="3" name="Content Placeholder 2"/>
          <p:cNvSpPr>
            <a:spLocks noGrp="1"/>
          </p:cNvSpPr>
          <p:nvPr>
            <p:ph idx="1"/>
          </p:nvPr>
        </p:nvSpPr>
        <p:spPr/>
        <p:txBody>
          <a:bodyPr>
            <a:normAutofit/>
          </a:bodyPr>
          <a:lstStyle/>
          <a:p>
            <a:pPr lvl="0" indent="0">
              <a:buNone/>
            </a:pPr>
            <a:r>
              <a:rPr>
                <a:latin typeface="Courier"/>
              </a:rPr>
              <a:t>x </a:t>
            </a:r>
            <a:r>
              <a:rPr>
                <a:solidFill>
                  <a:srgbClr val="666666"/>
                </a:solidFill>
                <a:latin typeface="Courier"/>
              </a:rPr>
              <a:t>=</a:t>
            </a:r>
            <a:r>
              <a:rPr>
                <a:latin typeface="Courier"/>
              </a:rPr>
              <a:t> np.arange(</a:t>
            </a:r>
            <a:r>
              <a:rPr>
                <a:solidFill>
                  <a:srgbClr val="40A070"/>
                </a:solidFill>
                <a:latin typeface="Courier"/>
              </a:rPr>
              <a:t>4</a:t>
            </a:r>
            <a:r>
              <a:rPr>
                <a:latin typeface="Courier"/>
              </a:rPr>
              <a:t>, dtype</a:t>
            </a:r>
            <a:r>
              <a:rPr>
                <a:solidFill>
                  <a:srgbClr val="666666"/>
                </a:solidFill>
                <a:latin typeface="Courier"/>
              </a:rPr>
              <a:t>=</a:t>
            </a:r>
            <a:r>
              <a:rPr>
                <a:latin typeface="Courier"/>
              </a:rPr>
              <a:t>np.float32)</a:t>
            </a:r>
            <a:br/>
            <a:r>
              <a:rPr>
                <a:latin typeface="Courier"/>
              </a:rPr>
              <a:t>x.dtype, x.nbytes        </a:t>
            </a:r>
            <a:r>
              <a:rPr i="1">
                <a:solidFill>
                  <a:srgbClr val="60A0B0"/>
                </a:solidFill>
                <a:latin typeface="Courier"/>
              </a:rPr>
              <a:t># float32, 16</a:t>
            </a:r>
            <a:br/>
            <a:r>
              <a:rPr>
                <a:latin typeface="Courier"/>
              </a:rPr>
              <a:t>x.astype(np.float16)     </a:t>
            </a:r>
            <a:r>
              <a:rPr i="1">
                <a:solidFill>
                  <a:srgbClr val="60A0B0"/>
                </a:solidFill>
                <a:latin typeface="Courier"/>
              </a:rPr>
              <a:t># convert: a copy</a:t>
            </a:r>
            <a:br/>
            <a:br/>
            <a:r>
              <a:rPr>
                <a:latin typeface="Courier"/>
              </a:rPr>
              <a:t>np.array([</a:t>
            </a:r>
            <a:r>
              <a:rPr>
                <a:solidFill>
                  <a:srgbClr val="40A070"/>
                </a:solidFill>
                <a:latin typeface="Courier"/>
              </a:rPr>
              <a:t>250</a:t>
            </a:r>
            <a:r>
              <a:rPr>
                <a:latin typeface="Courier"/>
              </a:rPr>
              <a:t>], dtype</a:t>
            </a:r>
            <a:r>
              <a:rPr>
                <a:solidFill>
                  <a:srgbClr val="666666"/>
                </a:solidFill>
                <a:latin typeface="Courier"/>
              </a:rPr>
              <a:t>=</a:t>
            </a:r>
            <a:r>
              <a:rPr>
                <a:latin typeface="Courier"/>
              </a:rPr>
              <a:t>np.uint8) </a:t>
            </a:r>
            <a:r>
              <a:rPr>
                <a:solidFill>
                  <a:srgbClr val="666666"/>
                </a:solidFill>
                <a:latin typeface="Courier"/>
              </a:rPr>
              <a:t>+</a:t>
            </a:r>
            <a:r>
              <a:rPr>
                <a:latin typeface="Courier"/>
              </a:rPr>
              <a:t> </a:t>
            </a:r>
            <a:r>
              <a:rPr>
                <a:solidFill>
                  <a:srgbClr val="40A070"/>
                </a:solidFill>
                <a:latin typeface="Courier"/>
              </a:rPr>
              <a:t>10</a:t>
            </a:r>
            <a:br/>
            <a:r>
              <a:rPr>
                <a:latin typeface="Courier"/>
              </a:rPr>
              <a:t>                         </a:t>
            </a:r>
            <a:r>
              <a:rPr i="1">
                <a:solidFill>
                  <a:srgbClr val="60A0B0"/>
                </a:solidFill>
                <a:latin typeface="Courier"/>
              </a:rPr>
              <a:t># [4], not 260</a:t>
            </a:r>
            <a:br/>
            <a:r>
              <a:rPr>
                <a:latin typeface="Courier"/>
              </a:rPr>
              <a:t>np.float16(</a:t>
            </a:r>
            <a:r>
              <a:rPr>
                <a:solidFill>
                  <a:srgbClr val="40A070"/>
                </a:solidFill>
                <a:latin typeface="Courier"/>
              </a:rPr>
              <a:t>70000</a:t>
            </a:r>
            <a:r>
              <a:rPr>
                <a:latin typeface="Courier"/>
              </a:rPr>
              <a:t>)        </a:t>
            </a:r>
            <a:r>
              <a:rPr i="1">
                <a:solidFill>
                  <a:srgbClr val="60A0B0"/>
                </a:solidFill>
                <a:latin typeface="Courier"/>
              </a:rPr>
              <a:t># inf: overflow</a:t>
            </a:r>
            <a:br/>
            <a:br/>
            <a:r>
              <a:rPr>
                <a:latin typeface="Courier"/>
              </a:rPr>
              <a:t>h </a:t>
            </a:r>
            <a:r>
              <a:rPr>
                <a:solidFill>
                  <a:srgbClr val="666666"/>
                </a:solidFill>
                <a:latin typeface="Courier"/>
              </a:rPr>
              <a:t>=</a:t>
            </a:r>
            <a:r>
              <a:rPr>
                <a:latin typeface="Courier"/>
              </a:rPr>
              <a:t> np.full(</a:t>
            </a:r>
            <a:r>
              <a:rPr>
                <a:solidFill>
                  <a:srgbClr val="40A070"/>
                </a:solidFill>
                <a:latin typeface="Courier"/>
              </a:rPr>
              <a:t>10000</a:t>
            </a:r>
            <a:r>
              <a:rPr>
                <a:latin typeface="Courier"/>
              </a:rPr>
              <a:t>, </a:t>
            </a:r>
            <a:r>
              <a:rPr>
                <a:solidFill>
                  <a:srgbClr val="40A070"/>
                </a:solidFill>
                <a:latin typeface="Courier"/>
              </a:rPr>
              <a:t>0.1</a:t>
            </a:r>
            <a:r>
              <a:rPr>
                <a:latin typeface="Courier"/>
              </a:rPr>
              <a:t>, dtype</a:t>
            </a:r>
            <a:r>
              <a:rPr>
                <a:solidFill>
                  <a:srgbClr val="666666"/>
                </a:solidFill>
                <a:latin typeface="Courier"/>
              </a:rPr>
              <a:t>=</a:t>
            </a:r>
            <a:r>
              <a:rPr>
                <a:latin typeface="Courier"/>
              </a:rPr>
              <a:t>np.float16)</a:t>
            </a:r>
            <a:br/>
            <a:r>
              <a:rPr>
                <a:latin typeface="Courier"/>
              </a:rPr>
              <a:t>h.cumsum()[</a:t>
            </a:r>
            <a:r>
              <a:rPr>
                <a:solidFill>
                  <a:srgbClr val="666666"/>
                </a:solidFill>
                <a:latin typeface="Courier"/>
              </a:rPr>
              <a:t>-</a:t>
            </a:r>
            <a:r>
              <a:rPr>
                <a:solidFill>
                  <a:srgbClr val="40A070"/>
                </a:solidFill>
                <a:latin typeface="Courier"/>
              </a:rPr>
              <a:t>1</a:t>
            </a:r>
            <a:r>
              <a:rPr>
                <a:latin typeface="Courier"/>
              </a:rPr>
              <a:t>]           </a:t>
            </a:r>
            <a:r>
              <a:rPr i="1">
                <a:solidFill>
                  <a:srgbClr val="60A0B0"/>
                </a:solidFill>
                <a:latin typeface="Courier"/>
              </a:rPr>
              <a:t># 256.0, not 1000</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Creating arrays</a:t>
            </a:r>
          </a:p>
        </p:txBody>
      </p:sp>
      <p:sp>
        <p:nvSpPr>
          <p:cNvPr id="3" name="Content Placeholder 2"/>
          <p:cNvSpPr>
            <a:spLocks noGrp="1"/>
          </p:cNvSpPr>
          <p:nvPr>
            <p:ph idx="1"/>
          </p:nvPr>
        </p:nvSpPr>
        <p:spPr/>
        <p:txBody>
          <a:bodyPr>
            <a:normAutofit/>
          </a:bodyPr>
          <a:lstStyle/>
          <a:p>
            <a:pPr lvl="0" indent="0">
              <a:buNone/>
            </a:pPr>
            <a:r>
              <a:rPr b="1">
                <a:solidFill>
                  <a:srgbClr val="008000"/>
                </a:solidFill>
                <a:latin typeface="Courier"/>
              </a:rPr>
              <a:t>import</a:t>
            </a:r>
            <a:r>
              <a:rPr>
                <a:latin typeface="Courier"/>
              </a:rPr>
              <a:t> numpy </a:t>
            </a:r>
            <a:r>
              <a:rPr b="1">
                <a:solidFill>
                  <a:srgbClr val="008000"/>
                </a:solidFill>
                <a:latin typeface="Courier"/>
              </a:rPr>
              <a:t>as</a:t>
            </a:r>
            <a:r>
              <a:rPr>
                <a:latin typeface="Courier"/>
              </a:rPr>
              <a:t> np</a:t>
            </a:r>
            <a:br/>
            <a:br/>
            <a:r>
              <a:rPr>
                <a:latin typeface="Courier"/>
              </a:rPr>
              <a:t>np.array([</a:t>
            </a:r>
            <a:r>
              <a:rPr>
                <a:solidFill>
                  <a:srgbClr val="40A070"/>
                </a:solidFill>
                <a:latin typeface="Courier"/>
              </a:rPr>
              <a:t>72</a:t>
            </a:r>
            <a:r>
              <a:rPr>
                <a:latin typeface="Courier"/>
              </a:rPr>
              <a:t>, </a:t>
            </a:r>
            <a:r>
              <a:rPr>
                <a:solidFill>
                  <a:srgbClr val="40A070"/>
                </a:solidFill>
                <a:latin typeface="Courier"/>
              </a:rPr>
              <a:t>85</a:t>
            </a:r>
            <a:r>
              <a:rPr>
                <a:latin typeface="Courier"/>
              </a:rPr>
              <a:t>, </a:t>
            </a:r>
            <a:r>
              <a:rPr>
                <a:solidFill>
                  <a:srgbClr val="40A070"/>
                </a:solidFill>
                <a:latin typeface="Courier"/>
              </a:rPr>
              <a:t>64</a:t>
            </a:r>
            <a:r>
              <a:rPr>
                <a:latin typeface="Courier"/>
              </a:rPr>
              <a:t>])</a:t>
            </a:r>
            <a:br/>
            <a:r>
              <a:rPr>
                <a:latin typeface="Courier"/>
              </a:rPr>
              <a:t>np.arange(</a:t>
            </a:r>
            <a:r>
              <a:rPr>
                <a:solidFill>
                  <a:srgbClr val="40A070"/>
                </a:solidFill>
                <a:latin typeface="Courier"/>
              </a:rPr>
              <a:t>12</a:t>
            </a:r>
            <a:r>
              <a:rPr>
                <a:latin typeface="Courier"/>
              </a:rPr>
              <a:t>).reshape(</a:t>
            </a:r>
            <a:r>
              <a:rPr>
                <a:solidFill>
                  <a:srgbClr val="40A070"/>
                </a:solidFill>
                <a:latin typeface="Courier"/>
              </a:rPr>
              <a:t>3</a:t>
            </a:r>
            <a:r>
              <a:rPr>
                <a:latin typeface="Courier"/>
              </a:rPr>
              <a:t>, </a:t>
            </a:r>
            <a:r>
              <a:rPr>
                <a:solidFill>
                  <a:srgbClr val="40A070"/>
                </a:solidFill>
                <a:latin typeface="Courier"/>
              </a:rPr>
              <a:t>4</a:t>
            </a:r>
            <a:r>
              <a:rPr>
                <a:latin typeface="Courier"/>
              </a:rPr>
              <a:t>)</a:t>
            </a:r>
            <a:br/>
            <a:r>
              <a:rPr>
                <a:latin typeface="Courier"/>
              </a:rPr>
              <a:t>np.linspace(</a:t>
            </a:r>
            <a:r>
              <a:rPr>
                <a:solidFill>
                  <a:srgbClr val="40A070"/>
                </a:solidFill>
                <a:latin typeface="Courier"/>
              </a:rPr>
              <a:t>0</a:t>
            </a:r>
            <a:r>
              <a:rPr>
                <a:latin typeface="Courier"/>
              </a:rPr>
              <a:t>, </a:t>
            </a:r>
            <a:r>
              <a:rPr>
                <a:solidFill>
                  <a:srgbClr val="40A070"/>
                </a:solidFill>
                <a:latin typeface="Courier"/>
              </a:rPr>
              <a:t>1</a:t>
            </a:r>
            <a:r>
              <a:rPr>
                <a:latin typeface="Courier"/>
              </a:rPr>
              <a:t>, </a:t>
            </a:r>
            <a:r>
              <a:rPr>
                <a:solidFill>
                  <a:srgbClr val="40A070"/>
                </a:solidFill>
                <a:latin typeface="Courier"/>
              </a:rPr>
              <a:t>5</a:t>
            </a:r>
            <a:r>
              <a:rPr>
                <a:latin typeface="Courier"/>
              </a:rPr>
              <a:t>)     </a:t>
            </a:r>
            <a:r>
              <a:rPr i="1">
                <a:solidFill>
                  <a:srgbClr val="60A0B0"/>
                </a:solidFill>
                <a:latin typeface="Courier"/>
              </a:rPr>
              <a:t># 5 points</a:t>
            </a:r>
            <a:br/>
            <a:r>
              <a:rPr>
                <a:latin typeface="Courier"/>
              </a:rPr>
              <a:t>np.zeros((</a:t>
            </a:r>
            <a:r>
              <a:rPr>
                <a:solidFill>
                  <a:srgbClr val="40A070"/>
                </a:solidFill>
                <a:latin typeface="Courier"/>
              </a:rPr>
              <a:t>3</a:t>
            </a:r>
            <a:r>
              <a:rPr>
                <a:latin typeface="Courier"/>
              </a:rPr>
              <a:t>, </a:t>
            </a:r>
            <a:r>
              <a:rPr>
                <a:solidFill>
                  <a:srgbClr val="40A070"/>
                </a:solidFill>
                <a:latin typeface="Courier"/>
              </a:rPr>
              <a:t>4</a:t>
            </a:r>
            <a:r>
              <a:rPr>
                <a:latin typeface="Courier"/>
              </a:rPr>
              <a:t>))</a:t>
            </a:r>
            <a:br/>
            <a:r>
              <a:rPr>
                <a:latin typeface="Courier"/>
              </a:rPr>
              <a:t>np.eye(</a:t>
            </a:r>
            <a:r>
              <a:rPr>
                <a:solidFill>
                  <a:srgbClr val="40A070"/>
                </a:solidFill>
                <a:latin typeface="Courier"/>
              </a:rPr>
              <a:t>4</a:t>
            </a:r>
            <a:r>
              <a:rPr>
                <a:latin typeface="Courier"/>
              </a:rPr>
              <a:t>)                </a:t>
            </a:r>
            <a:r>
              <a:rPr i="1">
                <a:solidFill>
                  <a:srgbClr val="60A0B0"/>
                </a:solidFill>
                <a:latin typeface="Courier"/>
              </a:rPr>
              <a:t># identity</a:t>
            </a:r>
            <a:br/>
            <a:br/>
            <a:r>
              <a:rPr>
                <a:latin typeface="Courier"/>
              </a:rPr>
              <a:t>rng </a:t>
            </a:r>
            <a:r>
              <a:rPr>
                <a:solidFill>
                  <a:srgbClr val="666666"/>
                </a:solidFill>
                <a:latin typeface="Courier"/>
              </a:rPr>
              <a:t>=</a:t>
            </a:r>
            <a:r>
              <a:rPr>
                <a:latin typeface="Courier"/>
              </a:rPr>
              <a:t> np.random.default_rng(</a:t>
            </a:r>
            <a:r>
              <a:rPr>
                <a:solidFill>
                  <a:srgbClr val="40A070"/>
                </a:solidFill>
                <a:latin typeface="Courier"/>
              </a:rPr>
              <a:t>0</a:t>
            </a:r>
            <a:r>
              <a:rPr>
                <a:latin typeface="Courier"/>
              </a:rPr>
              <a:t>)</a:t>
            </a:r>
            <a:br/>
            <a:r>
              <a:rPr>
                <a:latin typeface="Courier"/>
              </a:rPr>
              <a:t>rng.normal(</a:t>
            </a:r>
            <a:r>
              <a:rPr>
                <a:solidFill>
                  <a:srgbClr val="40A070"/>
                </a:solidFill>
                <a:latin typeface="Courier"/>
              </a:rPr>
              <a:t>1.70</a:t>
            </a:r>
            <a:r>
              <a:rPr>
                <a:latin typeface="Courier"/>
              </a:rPr>
              <a:t>, </a:t>
            </a:r>
            <a:r>
              <a:rPr>
                <a:solidFill>
                  <a:srgbClr val="40A070"/>
                </a:solidFill>
                <a:latin typeface="Courier"/>
              </a:rPr>
              <a:t>0.09</a:t>
            </a:r>
            <a:r>
              <a:rPr>
                <a:latin typeface="Courier"/>
              </a:rPr>
              <a:t>, </a:t>
            </a:r>
            <a:r>
              <a:rPr>
                <a:solidFill>
                  <a:srgbClr val="40A070"/>
                </a:solidFill>
                <a:latin typeface="Courier"/>
              </a:rPr>
              <a:t>200</a:t>
            </a:r>
            <a:r>
              <a:rPr>
                <a:latin typeface="Courie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Indexing in two dimensions</a:t>
            </a:r>
          </a:p>
        </p:txBody>
      </p:sp>
      <p:pic>
        <p:nvPicPr>
          <p:cNvPr descr="img/array_index.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Operations are element-wise</a:t>
            </a:r>
          </a:p>
        </p:txBody>
      </p:sp>
      <p:sp>
        <p:nvSpPr>
          <p:cNvPr id="3" name="Content Placeholder 2"/>
          <p:cNvSpPr>
            <a:spLocks noGrp="1"/>
          </p:cNvSpPr>
          <p:nvPr>
            <p:ph idx="1"/>
          </p:nvPr>
        </p:nvSpPr>
        <p:spPr/>
        <p:txBody>
          <a:bodyPr>
            <a:normAutofit/>
          </a:bodyPr>
          <a:lstStyle/>
          <a:p>
            <a:pPr lvl="0" indent="0">
              <a:buNone/>
            </a:pPr>
            <a:r>
              <a:rPr>
                <a:latin typeface="Courier"/>
              </a:rPr>
              <a:t>x </a:t>
            </a:r>
            <a:r>
              <a:rPr>
                <a:solidFill>
                  <a:srgbClr val="666666"/>
                </a:solidFill>
                <a:latin typeface="Courier"/>
              </a:rPr>
              <a:t>=</a:t>
            </a:r>
            <a:r>
              <a:rPr>
                <a:latin typeface="Courier"/>
              </a:rPr>
              <a:t> np.arange(</a:t>
            </a:r>
            <a:r>
              <a:rPr>
                <a:solidFill>
                  <a:srgbClr val="40A070"/>
                </a:solidFill>
                <a:latin typeface="Courier"/>
              </a:rPr>
              <a:t>5</a:t>
            </a:r>
            <a:r>
              <a:rPr>
                <a:latin typeface="Courier"/>
              </a:rPr>
              <a:t>)   </a:t>
            </a:r>
            <a:r>
              <a:rPr i="1">
                <a:solidFill>
                  <a:srgbClr val="60A0B0"/>
                </a:solidFill>
                <a:latin typeface="Courier"/>
              </a:rPr>
              <a:t># [0 1 2 3 4]</a:t>
            </a:r>
            <a:br/>
            <a:br/>
            <a:r>
              <a:rPr>
                <a:latin typeface="Courier"/>
              </a:rPr>
              <a:t>x </a:t>
            </a:r>
            <a:r>
              <a:rPr>
                <a:solidFill>
                  <a:srgbClr val="666666"/>
                </a:solidFill>
                <a:latin typeface="Courier"/>
              </a:rPr>
              <a:t>**</a:t>
            </a:r>
            <a:r>
              <a:rPr>
                <a:latin typeface="Courier"/>
              </a:rPr>
              <a:t> </a:t>
            </a:r>
            <a:r>
              <a:rPr>
                <a:solidFill>
                  <a:srgbClr val="40A070"/>
                </a:solidFill>
                <a:latin typeface="Courier"/>
              </a:rPr>
              <a:t>2</a:t>
            </a:r>
            <a:r>
              <a:rPr>
                <a:latin typeface="Courier"/>
              </a:rPr>
              <a:t>             </a:t>
            </a:r>
            <a:r>
              <a:rPr i="1">
                <a:solidFill>
                  <a:srgbClr val="60A0B0"/>
                </a:solidFill>
                <a:latin typeface="Courier"/>
              </a:rPr>
              <a:t># [0 1 4 9 16]</a:t>
            </a:r>
            <a:br/>
            <a:r>
              <a:rPr>
                <a:latin typeface="Courier"/>
              </a:rPr>
              <a:t>x </a:t>
            </a:r>
            <a:r>
              <a:rPr>
                <a:solidFill>
                  <a:srgbClr val="666666"/>
                </a:solidFill>
                <a:latin typeface="Courier"/>
              </a:rPr>
              <a:t>+</a:t>
            </a:r>
            <a:r>
              <a:rPr>
                <a:latin typeface="Courier"/>
              </a:rPr>
              <a:t> </a:t>
            </a:r>
            <a:r>
              <a:rPr>
                <a:solidFill>
                  <a:srgbClr val="40A070"/>
                </a:solidFill>
                <a:latin typeface="Courier"/>
              </a:rPr>
              <a:t>10</a:t>
            </a:r>
            <a:r>
              <a:rPr>
                <a:latin typeface="Courier"/>
              </a:rPr>
              <a:t>             </a:t>
            </a:r>
            <a:r>
              <a:rPr i="1">
                <a:solidFill>
                  <a:srgbClr val="60A0B0"/>
                </a:solidFill>
                <a:latin typeface="Courier"/>
              </a:rPr>
              <a:t># [10 11 12 13 14]</a:t>
            </a:r>
            <a:br/>
            <a:r>
              <a:rPr>
                <a:latin typeface="Courier"/>
              </a:rPr>
              <a:t>np.sqrt(x)         </a:t>
            </a:r>
            <a:r>
              <a:rPr i="1">
                <a:solidFill>
                  <a:srgbClr val="60A0B0"/>
                </a:solidFill>
                <a:latin typeface="Courier"/>
              </a:rPr>
              <a:t># no loop</a:t>
            </a:r>
            <a:br/>
            <a:br/>
            <a:r>
              <a:rPr>
                <a:latin typeface="Courier"/>
              </a:rPr>
              <a:t>t </a:t>
            </a:r>
            <a:r>
              <a:rPr>
                <a:solidFill>
                  <a:srgbClr val="666666"/>
                </a:solidFill>
                <a:latin typeface="Courier"/>
              </a:rPr>
              <a:t>*</a:t>
            </a:r>
            <a:r>
              <a:rPr>
                <a:latin typeface="Courier"/>
              </a:rPr>
              <a:t> t              </a:t>
            </a:r>
            <a:r>
              <a:rPr i="1">
                <a:solidFill>
                  <a:srgbClr val="60A0B0"/>
                </a:solidFill>
                <a:latin typeface="Courier"/>
              </a:rPr>
              <a:t># element-wise</a:t>
            </a:r>
            <a:br/>
            <a:r>
              <a:rPr>
                <a:latin typeface="Courier"/>
              </a:rPr>
              <a:t>t </a:t>
            </a:r>
            <a:r>
              <a:rPr>
                <a:solidFill>
                  <a:srgbClr val="666666"/>
                </a:solidFill>
                <a:latin typeface="Courier"/>
              </a:rPr>
              <a:t>@</a:t>
            </a:r>
            <a:r>
              <a:rPr>
                <a:latin typeface="Courier"/>
              </a:rPr>
              <a:t> t.T            </a:t>
            </a:r>
            <a:r>
              <a:rPr i="1">
                <a:solidFill>
                  <a:srgbClr val="60A0B0"/>
                </a:solidFill>
                <a:latin typeface="Courier"/>
              </a:rPr>
              <a:t># matrix product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Broadcasting</a:t>
            </a:r>
          </a:p>
        </p:txBody>
      </p:sp>
      <p:pic>
        <p:nvPicPr>
          <p:cNvPr descr="img/broadcasting.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Aggregating along an axis</a:t>
            </a:r>
          </a:p>
        </p:txBody>
      </p:sp>
      <p:pic>
        <p:nvPicPr>
          <p:cNvPr descr="img/axes.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Boolean masks</a:t>
            </a:r>
          </a:p>
        </p:txBody>
      </p:sp>
      <p:pic>
        <p:nvPicPr>
          <p:cNvPr descr="img/masks.png" id="0" name="Picture 1"/>
          <p:cNvPicPr>
            <a:picLocks noGrp="1" noChangeAspect="1"/>
          </p:cNvPicPr>
          <p:nvPr/>
        </p:nvPicPr>
        <p:blipFill>
          <a:blip r:embed="rId3"/>
          <a:stretch>
            <a:fillRect/>
          </a:stretch>
        </p:blipFill>
        <p:spPr bwMode="auto">
          <a:xfrm>
            <a:off x="457200" y="1193800"/>
            <a:ext cx="8229600" cy="33909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A cohort in a few lines</a:t>
            </a:r>
          </a:p>
        </p:txBody>
      </p:sp>
      <p:sp>
        <p:nvSpPr>
          <p:cNvPr id="3" name="Content Placeholder 2"/>
          <p:cNvSpPr>
            <a:spLocks noGrp="1"/>
          </p:cNvSpPr>
          <p:nvPr>
            <p:ph idx="1"/>
          </p:nvPr>
        </p:nvSpPr>
        <p:spPr/>
        <p:txBody>
          <a:bodyPr>
            <a:normAutofit/>
          </a:bodyPr>
          <a:lstStyle/>
          <a:p>
            <a:pPr lvl="0" indent="0">
              <a:buNone/>
            </a:pPr>
            <a:r>
              <a:rPr>
                <a:latin typeface="Courier"/>
              </a:rPr>
              <a:t>bmi </a:t>
            </a:r>
            <a:r>
              <a:rPr>
                <a:solidFill>
                  <a:srgbClr val="666666"/>
                </a:solidFill>
                <a:latin typeface="Courier"/>
              </a:rPr>
              <a:t>=</a:t>
            </a:r>
            <a:r>
              <a:rPr>
                <a:latin typeface="Courier"/>
              </a:rPr>
              <a:t> weight </a:t>
            </a:r>
            <a:r>
              <a:rPr>
                <a:solidFill>
                  <a:srgbClr val="666666"/>
                </a:solidFill>
                <a:latin typeface="Courier"/>
              </a:rPr>
              <a:t>/</a:t>
            </a:r>
            <a:r>
              <a:rPr>
                <a:latin typeface="Courier"/>
              </a:rPr>
              <a:t> height </a:t>
            </a:r>
            <a:r>
              <a:rPr>
                <a:solidFill>
                  <a:srgbClr val="666666"/>
                </a:solidFill>
                <a:latin typeface="Courier"/>
              </a:rPr>
              <a:t>**</a:t>
            </a:r>
            <a:r>
              <a:rPr>
                <a:latin typeface="Courier"/>
              </a:rPr>
              <a:t> </a:t>
            </a:r>
            <a:r>
              <a:rPr>
                <a:solidFill>
                  <a:srgbClr val="40A070"/>
                </a:solidFill>
                <a:latin typeface="Courier"/>
              </a:rPr>
              <a:t>2</a:t>
            </a:r>
            <a:r>
              <a:rPr>
                <a:latin typeface="Courier"/>
              </a:rPr>
              <a:t>   </a:t>
            </a:r>
            <a:r>
              <a:rPr i="1">
                <a:solidFill>
                  <a:srgbClr val="60A0B0"/>
                </a:solidFill>
                <a:latin typeface="Courier"/>
              </a:rPr>
              <a:t># 200 at once</a:t>
            </a:r>
            <a:br/>
            <a:r>
              <a:rPr>
                <a:latin typeface="Courier"/>
              </a:rPr>
              <a:t>bmi.mean(), bmi.</a:t>
            </a:r>
            <a:r>
              <a:rPr>
                <a:solidFill>
                  <a:srgbClr val="008000"/>
                </a:solidFill>
                <a:latin typeface="Courier"/>
              </a:rPr>
              <a:t>min</a:t>
            </a:r>
            <a:r>
              <a:rPr>
                <a:latin typeface="Courier"/>
              </a:rPr>
              <a:t>(), bmi.</a:t>
            </a:r>
            <a:r>
              <a:rPr>
                <a:solidFill>
                  <a:srgbClr val="008000"/>
                </a:solidFill>
                <a:latin typeface="Courier"/>
              </a:rPr>
              <a:t>max</a:t>
            </a:r>
            <a:r>
              <a:rPr>
                <a:latin typeface="Courier"/>
              </a:rPr>
              <a:t>()</a:t>
            </a:r>
            <a:br/>
            <a:br/>
            <a:r>
              <a:rPr>
                <a:latin typeface="Courier"/>
              </a:rPr>
              <a:t>(bmi </a:t>
            </a:r>
            <a:r>
              <a:rPr>
                <a:solidFill>
                  <a:srgbClr val="666666"/>
                </a:solidFill>
                <a:latin typeface="Courier"/>
              </a:rPr>
              <a:t>&gt;=</a:t>
            </a:r>
            <a:r>
              <a:rPr>
                <a:latin typeface="Courier"/>
              </a:rPr>
              <a:t> </a:t>
            </a:r>
            <a:r>
              <a:rPr>
                <a:solidFill>
                  <a:srgbClr val="40A070"/>
                </a:solidFill>
                <a:latin typeface="Courier"/>
              </a:rPr>
              <a:t>30</a:t>
            </a:r>
            <a:r>
              <a:rPr>
                <a:latin typeface="Courier"/>
              </a:rPr>
              <a:t>).mean()     </a:t>
            </a:r>
            <a:r>
              <a:rPr i="1">
                <a:solidFill>
                  <a:srgbClr val="60A0B0"/>
                </a:solidFill>
                <a:latin typeface="Courier"/>
              </a:rPr>
              <a:t># 0.215</a:t>
            </a:r>
            <a:br/>
            <a:br/>
            <a:r>
              <a:rPr>
                <a:latin typeface="Courier"/>
              </a:rPr>
              <a:t>cat </a:t>
            </a:r>
            <a:r>
              <a:rPr>
                <a:solidFill>
                  <a:srgbClr val="666666"/>
                </a:solidFill>
                <a:latin typeface="Courier"/>
              </a:rPr>
              <a:t>=</a:t>
            </a:r>
            <a:r>
              <a:rPr>
                <a:latin typeface="Courier"/>
              </a:rPr>
              <a:t> np.digitize(bmi, [</a:t>
            </a:r>
            <a:r>
              <a:rPr>
                <a:solidFill>
                  <a:srgbClr val="40A070"/>
                </a:solidFill>
                <a:latin typeface="Courier"/>
              </a:rPr>
              <a:t>18.5</a:t>
            </a:r>
            <a:r>
              <a:rPr>
                <a:latin typeface="Courier"/>
              </a:rPr>
              <a:t>, </a:t>
            </a:r>
            <a:r>
              <a:rPr>
                <a:solidFill>
                  <a:srgbClr val="40A070"/>
                </a:solidFill>
                <a:latin typeface="Courier"/>
              </a:rPr>
              <a:t>25</a:t>
            </a:r>
            <a:r>
              <a:rPr>
                <a:latin typeface="Courier"/>
              </a:rPr>
              <a:t>, </a:t>
            </a:r>
            <a:r>
              <a:rPr>
                <a:solidFill>
                  <a:srgbClr val="40A070"/>
                </a:solidFill>
                <a:latin typeface="Courier"/>
              </a:rPr>
              <a:t>30</a:t>
            </a:r>
            <a:r>
              <a:rPr>
                <a:latin typeface="Courier"/>
              </a:rPr>
              <a:t>])</a:t>
            </a:r>
            <a:br/>
            <a:r>
              <a:rPr>
                <a:latin typeface="Courier"/>
              </a:rPr>
              <a:t>np.bincount(cat)       </a:t>
            </a:r>
            <a:r>
              <a:rPr i="1">
                <a:solidFill>
                  <a:srgbClr val="60A0B0"/>
                </a:solidFill>
                <a:latin typeface="Courier"/>
              </a:rPr>
              <a:t># [23 72 62 43]</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lvl="0" indent="0" marL="0">
              <a:buNone/>
            </a:pPr>
            <a:r>
              <a:rPr/>
              <a:t>BMI of the cohort</a:t>
            </a:r>
          </a:p>
        </p:txBody>
      </p:sp>
      <p:pic>
        <p:nvPicPr>
          <p:cNvPr descr="img/bmi_hist.png" id="0" name="Picture 1"/>
          <p:cNvPicPr>
            <a:picLocks noGrp="1" noChangeAspect="1"/>
          </p:cNvPicPr>
          <p:nvPr/>
        </p:nvPicPr>
        <p:blipFill>
          <a:blip r:embed="rId2"/>
          <a:stretch>
            <a:fillRect/>
          </a:stretch>
        </p:blipFill>
        <p:spPr bwMode="auto">
          <a:xfrm>
            <a:off x="457200" y="1193800"/>
            <a:ext cx="8229600" cy="33909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Session 1 Python Types</dc:title>
  <dc:creator>Paul Dubois</dc:creator>
  <cp:keywords/>
  <dcterms:created xsi:type="dcterms:W3CDTF">2026-10-12T22:40:08Z</dcterms:created>
  <dcterms:modified xsi:type="dcterms:W3CDTF">2026-10-12T22:40:08Z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Week 1, Lecture</vt:lpwstr>
  </property>
  <property fmtid="{D5CDD505-2E9C-101B-9397-08002B2CF9AE}" pid="3" name="subtitle">
    <vt:lpwstr>Digital Health, Mastère Spécialisé · 2026</vt:lpwstr>
  </property>
</Properties>
</file>