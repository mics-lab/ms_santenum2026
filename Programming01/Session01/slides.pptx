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1" Type="http://schemas.openxmlformats.org/officeDocument/2006/relationships/viewProps" Target="viewProps.xml" /><Relationship Id="rId20" Type="http://schemas.openxmlformats.org/officeDocument/2006/relationships/presProps" Target="presProps.xml" /><Relationship Id="rId1" Type="http://schemas.openxmlformats.org/officeDocument/2006/relationships/slideMaster" Target="slideMasters/slideMaster1.xml" /><Relationship Id="rId23" Type="http://schemas.openxmlformats.org/officeDocument/2006/relationships/tableStyles" Target="tableStyles.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on the concrete task, not on the tool. Let the room answer the question first (someone will say “open them one by one”, someone else will say “Excel”). Then show the two panels. The point is not that typing is faster (though it is). The point is the last line: after the clicking, nobody (including you) can say what was done. After the command, the answer and the method are the same object. Do not defend the terminal on aesthetics. Defend it on evidence.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that answers “why is a health data course starting with bash?”. Make it institutional, not ideological: this is simply the interface the field uses. The </a:t>
            </a:r>
            <a:r>
              <a:rPr>
                <a:latin typeface="Courier"/>
              </a:rPr>
              <a:t>ssh</a:t>
            </a:r>
            <a:r>
              <a:rPr/>
              <a:t> point usually lands hardest, because for regulated data, remote text access is often the </a:t>
            </a:r>
            <a:r>
              <a:rPr i="1"/>
              <a:t>only</a:t>
            </a:r>
            <a:r>
              <a:rPr/>
              <a:t> access.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words students use as synonyms for a fortnight. Fixing this early saves a lot of confusion later: “the terminal crashed” and “the shell is bash” and “ls is a program” are three different statements. Emphasise the closing line. Everything that follows (variables, loops, conditionals, functions) is available </a:t>
            </a:r>
            <a:r>
              <a:rPr i="1"/>
              <a:t>because</a:t>
            </a:r>
            <a:r>
              <a:rPr/>
              <a:t> the shell is a language. The prompt is a REPL.</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grammar slide; every command in the notebook obeys it. Two traps to name now, because both will bite in the exercises: (1) a space separates arguments, so a filename with a space is two arguments unless it is quoted. Health data exports are full of </a:t>
            </a:r>
            <a:r>
              <a:rPr>
                <a:latin typeface="Courier"/>
              </a:rPr>
              <a:t>Patient Records 2024.csv</a:t>
            </a:r>
            <a:r>
              <a:rPr/>
              <a:t>. (2) flags are case sensitive and not universal: </a:t>
            </a:r>
            <a:r>
              <a:rPr>
                <a:latin typeface="Courier"/>
              </a:rPr>
              <a:t>-h</a:t>
            </a:r>
            <a:r>
              <a:rPr/>
              <a:t> is “help” in some tools and “human readable” in others. There is no committee.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ideas: there is a single root (no </a:t>
            </a:r>
            <a:r>
              <a:rPr>
                <a:latin typeface="Courier"/>
              </a:rPr>
              <a:t>C:</a:t>
            </a:r>
            <a:r>
              <a:rPr/>
              <a:t> drive), and any file has two names (absolute and relative) that point to the same thing. Rule of thumb for their future scripts: absolute paths for data that lives somewhere fixed, relative paths for anything inside the project, so the project can be moved, shared, or run on the cluster untouched.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Type these live, slowly, in a scratch folder. Let them see the prompt change with </a:t>
            </a:r>
            <a:r>
              <a:rPr>
                <a:latin typeface="Courier"/>
              </a:rPr>
              <a:t>cd</a:t>
            </a:r>
            <a:r>
              <a:rPr/>
              <a:t>. Give the </a:t>
            </a:r>
            <a:r>
              <a:rPr>
                <a:latin typeface="Courier"/>
              </a:rPr>
              <a:t>rm</a:t>
            </a:r>
            <a:r>
              <a:rPr/>
              <a:t> warning its own beat. Then give them the habit that actually protects them: run the dangerous thing as </a:t>
            </a:r>
            <a:r>
              <a:rPr>
                <a:latin typeface="Courier"/>
              </a:rPr>
              <a:t>ls</a:t>
            </a:r>
            <a:r>
              <a:rPr/>
              <a:t> first (</a:t>
            </a:r>
            <a:r>
              <a:rPr>
                <a:latin typeface="Courier"/>
              </a:rPr>
              <a:t>ls *.tmp</a:t>
            </a:r>
            <a:r>
              <a:rPr/>
              <a:t>), look at what matched, then swap </a:t>
            </a:r>
            <a:r>
              <a:rPr>
                <a:latin typeface="Courier"/>
              </a:rPr>
              <a:t>ls</a:t>
            </a:r>
            <a:r>
              <a:rPr/>
              <a:t> for </a:t>
            </a:r>
            <a:r>
              <a:rPr>
                <a:latin typeface="Courier"/>
              </a:rPr>
              <a:t>rm</a:t>
            </a:r>
            <a:r>
              <a:rPr/>
              <a:t>. Never trust a glob you have not printed.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intellectual core of the whole session, and the reason the tools are all small. Each program does one job and speaks the same currency: lines of text. The pipe is what makes them compose. Build the example one stage at a time on screen, showing the intermediate output after each </a:t>
            </a:r>
            <a:r>
              <a:rPr>
                <a:latin typeface="Courier"/>
              </a:rPr>
              <a:t>|</a:t>
            </a:r>
            <a:r>
              <a:rPr/>
              <a:t>. Students remember the shape once they have watched it narrow. Mention that this is exactly </a:t>
            </a:r>
            <a:r>
              <a:rPr>
                <a:latin typeface="Courier"/>
              </a:rPr>
              <a:t>pandas</a:t>
            </a:r>
            <a:r>
              <a:rPr/>
              <a:t> chaining, ten years older and on files it never has to load into memory.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not try to teach these exhaustively (the notebook does that). Here just establish that the toolbox is small, and that each one is a verb you can look up. </a:t>
            </a:r>
            <a:r>
              <a:rPr>
                <a:latin typeface="Courier"/>
              </a:rPr>
              <a:t>sort | uniq -c</a:t>
            </a:r>
            <a:r>
              <a:rPr/>
              <a:t> is the shell’s </a:t>
            </a:r>
            <a:r>
              <a:rPr>
                <a:latin typeface="Courier"/>
              </a:rPr>
              <a:t>value_counts()</a:t>
            </a:r>
            <a:r>
              <a:rPr/>
              <a:t>; say that out loud, it converts anyone who already knows pandas.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Students arrive expecting a fight (“should I learn bash or Python?”), and the answer is that they do different jobs. bash manipulates </a:t>
            </a:r>
            <a:r>
              <a:rPr i="1"/>
              <a:t>files and programs</a:t>
            </a:r>
            <a:r>
              <a:rPr/>
              <a:t>; Python manipulates </a:t>
            </a:r>
            <a:r>
              <a:rPr i="1"/>
              <a:t>values</a:t>
            </a:r>
            <a:r>
              <a:rPr/>
              <a:t>. Adding two numbers in bash is awkward on purpose; renaming 4 000 files in Python is fifteen lines of </a:t>
            </a:r>
            <a:r>
              <a:rPr>
                <a:latin typeface="Courier"/>
              </a:rPr>
              <a:t>os.walk</a:t>
            </a:r>
            <a:r>
              <a:rPr/>
              <a:t> that </a:t>
            </a:r>
            <a:r>
              <a:rPr>
                <a:latin typeface="Courier"/>
              </a:rPr>
              <a:t>mv</a:t>
            </a:r>
            <a:r>
              <a:rPr/>
              <a:t> did in one. The working rule: if the sentence contains “for each file”, start in the shell. If it contains “for each patient”, you are already inside Python.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demystifying slide. </a:t>
            </a:r>
            <a:r>
              <a:rPr>
                <a:latin typeface="Courier"/>
              </a:rPr>
              <a:t>python3</a:t>
            </a:r>
            <a:r>
              <a:rPr/>
              <a:t> is a file on disk that the shell finds and starts, exactly like </a:t>
            </a:r>
            <a:r>
              <a:rPr>
                <a:latin typeface="Courier"/>
              </a:rPr>
              <a:t>ls</a:t>
            </a:r>
            <a:r>
              <a:rPr/>
              <a:t>, and </a:t>
            </a:r>
            <a:r>
              <a:rPr>
                <a:latin typeface="Courier"/>
              </a:rPr>
              <a:t>which python3</a:t>
            </a:r>
            <a:r>
              <a:rPr/>
              <a:t> proves it. It reads a </a:t>
            </a:r>
            <a:r>
              <a:rPr>
                <a:latin typeface="Courier"/>
              </a:rPr>
              <a:t>.py</a:t>
            </a:r>
            <a:r>
              <a:rPr/>
              <a:t> file, or a </a:t>
            </a:r>
            <a:r>
              <a:rPr>
                <a:latin typeface="Courier"/>
              </a:rPr>
              <a:t>-c</a:t>
            </a:r>
            <a:r>
              <a:rPr/>
              <a:t> string, or waits for you to type (the REPL). Two directions to point out. The shell supplies the loop and the file list; Python supplies the computation. And Python can call back out with </a:t>
            </a:r>
            <a:r>
              <a:rPr>
                <a:latin typeface="Courier"/>
              </a:rPr>
              <a:t>subprocess</a:t>
            </a:r>
            <a:r>
              <a:rPr/>
              <a:t>, though if you find yourself doing that a lot, the job was probably a shell job. Mention the exit code: </a:t>
            </a:r>
            <a:r>
              <a:rPr>
                <a:latin typeface="Courier"/>
              </a:rPr>
              <a:t>python3 script.py &amp;&amp; echo ok</a:t>
            </a:r>
            <a:r>
              <a:rPr/>
              <a:t> only prints </a:t>
            </a:r>
            <a:r>
              <a:rPr>
                <a:latin typeface="Courier"/>
              </a:rPr>
              <a:t>ok</a:t>
            </a:r>
            <a:r>
              <a:rPr/>
              <a:t> if the script did not crash. That is how steps get chained.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single most common source of “it works on my machine” in this field. A virtual environment is not magic: it is a folder (</a:t>
            </a:r>
            <a:r>
              <a:rPr>
                <a:latin typeface="Courier"/>
              </a:rPr>
              <a:t>.venv/</a:t>
            </a:r>
            <a:r>
              <a:rPr/>
              <a:t>) containing its own </a:t>
            </a:r>
            <a:r>
              <a:rPr>
                <a:latin typeface="Courier"/>
              </a:rPr>
              <a:t>python</a:t>
            </a:r>
            <a:r>
              <a:rPr/>
              <a:t> and its own </a:t>
            </a:r>
            <a:r>
              <a:rPr>
                <a:latin typeface="Courier"/>
              </a:rPr>
              <a:t>site-packages</a:t>
            </a:r>
            <a:r>
              <a:rPr/>
              <a:t>. “Activating” it just puts that folder first on </a:t>
            </a:r>
            <a:r>
              <a:rPr>
                <a:latin typeface="Courier"/>
              </a:rPr>
              <a:t>PATH</a:t>
            </a:r>
            <a:r>
              <a:rPr/>
              <a:t>, which is why </a:t>
            </a:r>
            <a:r>
              <a:rPr>
                <a:latin typeface="Courier"/>
              </a:rPr>
              <a:t>which python3</a:t>
            </a:r>
            <a:r>
              <a:rPr/>
              <a:t> is the diagnostic command when something is wrong. Say plainly: never install into the system Python. On a managed hospital workstation you often cannot anyway, and the error will read </a:t>
            </a:r>
            <a:r>
              <a:rPr>
                <a:latin typeface="Courier"/>
              </a:rPr>
              <a:t>externally-managed-environment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Type this live in an empty folder. Show </a:t>
            </a:r>
            <a:r>
              <a:rPr>
                <a:latin typeface="Courier"/>
              </a:rPr>
              <a:t>which python3</a:t>
            </a:r>
            <a:r>
              <a:rPr/>
              <a:t> before and after activating: that before/after is what makes the concept click. Insist that </a:t>
            </a:r>
            <a:r>
              <a:rPr>
                <a:latin typeface="Courier"/>
              </a:rPr>
              <a:t>.venv/</a:t>
            </a:r>
            <a:r>
              <a:rPr/>
              <a:t> is disposable and must never be committed, because it is derived, it is large, and it is specific to one machine. What you commit is the </a:t>
            </a:r>
            <a:r>
              <a:rPr i="1"/>
              <a:t>list</a:t>
            </a:r>
            <a:r>
              <a:rPr/>
              <a:t> of packages.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uvx ruff check .</a:t>
            </a:r>
            <a:r>
              <a:rPr/>
              <a:t> is the zero commitment demo (it downloads, runs, and leaves nothing behind). Run it on the notebook folder live. The interesting catch in a health project is usually a variable assigned and never used: nine times out of ten that line was </a:t>
            </a:r>
            <a:r>
              <a:rPr i="1"/>
              <a:t>meant</a:t>
            </a:r>
            <a:r>
              <a:rPr/>
              <a:t> to update the dataframe. </a:t>
            </a:r>
            <a:r>
              <a:rPr>
                <a:latin typeface="Courier"/>
              </a:rPr>
              <a:t>ruff format</a:t>
            </a:r>
            <a:r>
              <a:rPr/>
              <a:t> replaces </a:t>
            </a:r>
            <a:r>
              <a:rPr>
                <a:latin typeface="Courier"/>
              </a:rPr>
              <a:t>black</a:t>
            </a:r>
            <a:r>
              <a:rPr/>
              <a:t>; </a:t>
            </a:r>
            <a:r>
              <a:rPr>
                <a:latin typeface="Courier"/>
              </a:rPr>
              <a:t>ruff check</a:t>
            </a:r>
            <a:r>
              <a:rPr/>
              <a:t> replaces </a:t>
            </a:r>
            <a:r>
              <a:rPr>
                <a:latin typeface="Courier"/>
              </a:rPr>
              <a:t>flake8</a:t>
            </a:r>
            <a:r>
              <a:rPr/>
              <a:t> and most of </a:t>
            </a:r>
            <a:r>
              <a:rPr>
                <a:latin typeface="Courier"/>
              </a:rPr>
              <a:t>pylint</a:t>
            </a:r>
            <a:r>
              <a:rPr/>
              <a:t>. One tool, one config, in </a:t>
            </a:r>
            <a:r>
              <a:rPr>
                <a:latin typeface="Courier"/>
              </a:rPr>
              <a:t>pyproject.toml</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1</a:t>
            </a:r>
            <a:br/>
            <a:r>
              <a:rPr/>
              <a:t>The Command Line: Talking to a Computer in Words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Digital Health,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1,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Why using a terminal?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ormAutofit/>
          </a:bodyPr>
          <a:lstStyle/>
          <a:p>
            <a:pPr lvl="0" indent="0" marL="0">
              <a:buNone/>
            </a:pPr>
            <a:r>
              <a:rPr/>
              <a:t>Some (most) tasks are faster</a:t>
            </a:r>
          </a:p>
        </p:txBody>
      </p:sp>
      <p:sp>
        <p:nvSpPr>
          <p:cNvPr id="4" name="Text Placeholder 3"/>
          <p:cNvSpPr>
            <a:spLocks noGrp="1"/>
          </p:cNvSpPr>
          <p:nvPr>
            <p:ph idx="2" sz="half" type="body"/>
          </p:nvPr>
        </p:nvSpPr>
        <p:spPr/>
        <p:txBody>
          <a:bodyPr anchor="ctr">
            <a:normAutofit/>
          </a:bodyPr>
          <a:lstStyle/>
          <a:p>
            <a:pPr lvl="0" indent="0" marL="0" algn="ctr">
              <a:buNone/>
            </a:pPr>
            <a:r>
              <a:rPr sz="2000"/>
              <a:t>You are handed 137 exported ECG files. How many mention </a:t>
            </a:r>
            <a:r>
              <a:rPr sz="2000">
                <a:latin typeface="Courier"/>
              </a:rPr>
              <a:t>ICU</a:t>
            </a:r>
            <a:r>
              <a:rPr sz="2000"/>
              <a:t>?</a:t>
            </a:r>
          </a:p>
        </p:txBody>
      </p:sp>
      <p:pic>
        <p:nvPicPr>
          <p:cNvPr descr="img/gui_vs_cli.png" id="0" name="Picture 1"/>
          <p:cNvPicPr>
            <a:picLocks noGrp="1" noChangeAspect="1"/>
          </p:cNvPicPr>
          <p:nvPr/>
        </p:nvPicPr>
        <p:blipFill>
          <a:blip r:embed="rId3"/>
          <a:stretch>
            <a:fillRect/>
          </a:stretch>
        </p:blipFill>
        <p:spPr bwMode="auto">
          <a:xfrm>
            <a:off x="3568700" y="1346200"/>
            <a:ext cx="5105400" cy="21082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you will actually meet it</a:t>
            </a:r>
          </a:p>
        </p:txBody>
      </p:sp>
      <p:sp>
        <p:nvSpPr>
          <p:cNvPr id="3" name="Content Placeholder 2"/>
          <p:cNvSpPr>
            <a:spLocks noGrp="1"/>
          </p:cNvSpPr>
          <p:nvPr>
            <p:ph idx="1"/>
          </p:nvPr>
        </p:nvSpPr>
        <p:spPr/>
        <p:txBody>
          <a:bodyPr>
            <a:normAutofit/>
          </a:bodyPr>
          <a:lstStyle/>
          <a:p>
            <a:pPr lvl="0"/>
            <a:r>
              <a:rPr b="1"/>
              <a:t>Servers.</a:t>
            </a:r>
            <a:r>
              <a:rPr/>
              <a:t> Hospital data does not leave the building; you connect to a machine with </a:t>
            </a:r>
            <a:r>
              <a:rPr>
                <a:latin typeface="Courier"/>
              </a:rPr>
              <a:t>ssh</a:t>
            </a:r>
            <a:r>
              <a:rPr/>
              <a:t> and there is no desktop waiting for you</a:t>
            </a:r>
          </a:p>
          <a:p>
            <a:pPr lvl="0"/>
            <a:r>
              <a:rPr b="1"/>
              <a:t>Pipelines.</a:t>
            </a:r>
            <a:r>
              <a:rPr/>
              <a:t> Imaging and omics tools (</a:t>
            </a:r>
            <a:r>
              <a:rPr>
                <a:latin typeface="Courier"/>
              </a:rPr>
              <a:t>dcm2niix</a:t>
            </a:r>
            <a:r>
              <a:rPr/>
              <a:t>, </a:t>
            </a:r>
            <a:r>
              <a:rPr>
                <a:latin typeface="Courier"/>
              </a:rPr>
              <a:t>fastqc</a:t>
            </a:r>
            <a:r>
              <a:rPr/>
              <a:t>, </a:t>
            </a:r>
            <a:r>
              <a:rPr>
                <a:latin typeface="Courier"/>
              </a:rPr>
              <a:t>samtools</a:t>
            </a:r>
            <a:r>
              <a:rPr/>
              <a:t>) ship as commands, not as apps</a:t>
            </a:r>
          </a:p>
          <a:p>
            <a:pPr lvl="0"/>
            <a:r>
              <a:rPr b="1"/>
              <a:t>Reproducibility.</a:t>
            </a:r>
            <a:r>
              <a:rPr/>
              <a:t> There is no clicking error possible</a:t>
            </a:r>
          </a:p>
          <a:p>
            <a:pPr lvl="0"/>
            <a:r>
              <a:rPr b="1"/>
              <a:t>Scale.</a:t>
            </a:r>
            <a:r>
              <a:rPr/>
              <a:t> The step between 1 file and 4 000 files should cost you one line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Terminal, shell, program, kernel</a:t>
            </a:r>
          </a:p>
        </p:txBody>
      </p:sp>
      <p:pic>
        <p:nvPicPr>
          <p:cNvPr descr="img/terminal_she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anatomy of a command</a:t>
            </a:r>
          </a:p>
        </p:txBody>
      </p:sp>
      <p:pic>
        <p:nvPicPr>
          <p:cNvPr descr="img/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Moving around, and moving data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filesystem is one tree</a:t>
            </a:r>
          </a:p>
        </p:txBody>
      </p:sp>
      <p:pic>
        <p:nvPicPr>
          <p:cNvPr descr="img/filesyste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Five most usefull commands</a:t>
            </a:r>
          </a:p>
        </p:txBody>
      </p:sp>
      <p:sp>
        <p:nvSpPr>
          <p:cNvPr id="3" name="Content Placeholder 2"/>
          <p:cNvSpPr>
            <a:spLocks noGrp="1"/>
          </p:cNvSpPr>
          <p:nvPr>
            <p:ph idx="1"/>
          </p:nvPr>
        </p:nvSpPr>
        <p:spPr/>
        <p:txBody>
          <a:bodyPr>
            <a:normAutofit/>
          </a:bodyPr>
          <a:lstStyle/>
          <a:p>
            <a:pPr lvl="0" indent="0">
              <a:buNone/>
            </a:pPr>
            <a:r>
              <a:rPr>
                <a:solidFill>
                  <a:srgbClr val="008000"/>
                </a:solidFill>
                <a:latin typeface="Courier"/>
              </a:rPr>
              <a:t>pwd</a:t>
            </a:r>
            <a:r>
              <a:rPr>
                <a:latin typeface="Courier"/>
              </a:rPr>
              <a:t>                     </a:t>
            </a:r>
            <a:r>
              <a:rPr i="1">
                <a:solidFill>
                  <a:srgbClr val="60A0B0"/>
                </a:solidFill>
                <a:latin typeface="Courier"/>
              </a:rPr>
              <a:t># where am I</a:t>
            </a:r>
            <a:br/>
            <a:r>
              <a:rPr>
                <a:solidFill>
                  <a:srgbClr val="008000"/>
                </a:solidFill>
                <a:latin typeface="Courier"/>
              </a:rPr>
              <a:t>cd</a:t>
            </a:r>
            <a:r>
              <a:rPr>
                <a:latin typeface="Courier"/>
              </a:rPr>
              <a:t> data/ecg             </a:t>
            </a:r>
            <a:r>
              <a:rPr i="1">
                <a:solidFill>
                  <a:srgbClr val="60A0B0"/>
                </a:solidFill>
                <a:latin typeface="Courier"/>
              </a:rPr>
              <a:t># go there  (cd ..  goes up, cd  goes home)</a:t>
            </a:r>
            <a:br/>
            <a:r>
              <a:rPr>
                <a:solidFill>
                  <a:srgbClr val="06287E"/>
                </a:solidFill>
                <a:latin typeface="Courier"/>
              </a:rPr>
              <a:t>ls</a:t>
            </a:r>
            <a:r>
              <a:rPr>
                <a:latin typeface="Courier"/>
              </a:rPr>
              <a:t> </a:t>
            </a:r>
            <a:r>
              <a:rPr>
                <a:solidFill>
                  <a:srgbClr val="7D9029"/>
                </a:solidFill>
                <a:latin typeface="Courier"/>
              </a:rPr>
              <a:t>-lh</a:t>
            </a:r>
            <a:r>
              <a:rPr>
                <a:latin typeface="Courier"/>
              </a:rPr>
              <a:t>                  </a:t>
            </a:r>
            <a:r>
              <a:rPr i="1">
                <a:solidFill>
                  <a:srgbClr val="60A0B0"/>
                </a:solidFill>
                <a:latin typeface="Courier"/>
              </a:rPr>
              <a:t># what is here, with sizes</a:t>
            </a:r>
            <a:br/>
            <a:r>
              <a:rPr>
                <a:solidFill>
                  <a:srgbClr val="06287E"/>
                </a:solidFill>
                <a:latin typeface="Courier"/>
              </a:rPr>
              <a:t>mkdir</a:t>
            </a:r>
            <a:r>
              <a:rPr>
                <a:latin typeface="Courier"/>
              </a:rPr>
              <a:t> </a:t>
            </a:r>
            <a:r>
              <a:rPr>
                <a:solidFill>
                  <a:srgbClr val="7D9029"/>
                </a:solidFill>
                <a:latin typeface="Courier"/>
              </a:rPr>
              <a:t>-p</a:t>
            </a:r>
            <a:r>
              <a:rPr>
                <a:latin typeface="Courier"/>
              </a:rPr>
              <a:t> results/2026   </a:t>
            </a:r>
            <a:r>
              <a:rPr i="1">
                <a:solidFill>
                  <a:srgbClr val="60A0B0"/>
                </a:solidFill>
                <a:latin typeface="Courier"/>
              </a:rPr>
              <a:t># make a folder (and its parents)</a:t>
            </a:r>
            <a:br/>
            <a:r>
              <a:rPr>
                <a:solidFill>
                  <a:srgbClr val="06287E"/>
                </a:solidFill>
                <a:latin typeface="Courier"/>
              </a:rPr>
              <a:t>cp</a:t>
            </a:r>
            <a:r>
              <a:rPr>
                <a:latin typeface="Courier"/>
              </a:rPr>
              <a:t> a.csv backup/        </a:t>
            </a:r>
            <a:r>
              <a:rPr i="1">
                <a:solidFill>
                  <a:srgbClr val="60A0B0"/>
                </a:solidFill>
                <a:latin typeface="Courier"/>
              </a:rPr>
              <a:t># copy      (mv = move / rename, rm = delete)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Text in, text out</a:t>
            </a:r>
          </a:p>
        </p:txBody>
      </p:sp>
      <p:pic>
        <p:nvPicPr>
          <p:cNvPr descr="img/pipe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commands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normAutofit/>
                    </a:bodyPr>
                    <a:lstStyle/>
                    <a:p>
                      <a:pPr lvl="0" indent="0" marL="0">
                        <a:buNone/>
                      </a:pPr>
                      <a:r>
                        <a:rPr/>
                        <a:t>Command</a:t>
                      </a:r>
                    </a:p>
                  </a:txBody>
                  <a:tcPr/>
                </a:tc>
                <a:tc>
                  <a:txBody>
                    <a:bodyPr>
                      <a:normAutofit/>
                    </a:bodyPr>
                    <a:lstStyle/>
                    <a:p>
                      <a:pPr lvl="0" indent="0" marL="0">
                        <a:buNone/>
                      </a:pPr>
                      <a:r>
                        <a:rPr/>
                        <a:t>Does</a:t>
                      </a:r>
                    </a:p>
                  </a:txBody>
                  <a:tcPr/>
                </a:tc>
              </a:tr>
              <a:tr h="0">
                <a:tc>
                  <a:txBody>
                    <a:bodyPr>
                      <a:normAutofit/>
                    </a:bodyPr>
                    <a:lstStyle/>
                    <a:p>
                      <a:pPr lvl="0" indent="0" marL="0">
                        <a:buNone/>
                      </a:pPr>
                      <a:r>
                        <a:rPr>
                          <a:latin typeface="Courier"/>
                        </a:rPr>
                        <a:t>cat</a:t>
                      </a:r>
                      <a:r>
                        <a:rPr/>
                        <a:t> / </a:t>
                      </a:r>
                      <a:r>
                        <a:rPr>
                          <a:latin typeface="Courier"/>
                        </a:rPr>
                        <a:t>head</a:t>
                      </a:r>
                      <a:r>
                        <a:rPr/>
                        <a:t> / </a:t>
                      </a:r>
                      <a:r>
                        <a:rPr>
                          <a:latin typeface="Courier"/>
                        </a:rPr>
                        <a:t>tail</a:t>
                      </a:r>
                    </a:p>
                  </a:txBody>
                </a:tc>
                <a:tc>
                  <a:txBody>
                    <a:bodyPr>
                      <a:normAutofit/>
                    </a:bodyPr>
                    <a:lstStyle/>
                    <a:p>
                      <a:pPr lvl="0" indent="0" marL="0">
                        <a:buNone/>
                      </a:pPr>
                      <a:r>
                        <a:rPr/>
                        <a:t>print a file, its first, its last lines</a:t>
                      </a:r>
                    </a:p>
                  </a:txBody>
                </a:tc>
              </a:tr>
              <a:tr h="0">
                <a:tc>
                  <a:txBody>
                    <a:bodyPr>
                      <a:normAutofit/>
                    </a:bodyPr>
                    <a:lstStyle/>
                    <a:p>
                      <a:pPr lvl="0" indent="0" marL="0">
                        <a:buNone/>
                      </a:pPr>
                      <a:r>
                        <a:rPr>
                          <a:latin typeface="Courier"/>
                        </a:rPr>
                        <a:t>wc -l</a:t>
                      </a:r>
                    </a:p>
                  </a:txBody>
                </a:tc>
                <a:tc>
                  <a:txBody>
                    <a:bodyPr>
                      <a:normAutofit/>
                    </a:bodyPr>
                    <a:lstStyle/>
                    <a:p>
                      <a:pPr lvl="0" indent="0" marL="0">
                        <a:buNone/>
                      </a:pPr>
                      <a:r>
                        <a:rPr/>
                        <a:t>count lines (rows in a CSV)</a:t>
                      </a:r>
                    </a:p>
                  </a:txBody>
                </a:tc>
              </a:tr>
              <a:tr h="0">
                <a:tc>
                  <a:txBody>
                    <a:bodyPr>
                      <a:normAutofit/>
                    </a:bodyPr>
                    <a:lstStyle/>
                    <a:p>
                      <a:pPr lvl="0" indent="0" marL="0">
                        <a:buNone/>
                      </a:pPr>
                      <a:r>
                        <a:rPr>
                          <a:latin typeface="Courier"/>
                        </a:rPr>
                        <a:t>grep 'ICU'</a:t>
                      </a:r>
                    </a:p>
                  </a:txBody>
                </a:tc>
                <a:tc>
                  <a:txBody>
                    <a:bodyPr>
                      <a:normAutofit/>
                    </a:bodyPr>
                    <a:lstStyle/>
                    <a:p>
                      <a:pPr lvl="0" indent="0" marL="0">
                        <a:buNone/>
                      </a:pPr>
                      <a:r>
                        <a:rPr/>
                        <a:t>keep the lines that match</a:t>
                      </a:r>
                    </a:p>
                  </a:txBody>
                </a:tc>
              </a:tr>
              <a:tr h="0">
                <a:tc>
                  <a:txBody>
                    <a:bodyPr>
                      <a:normAutofit/>
                    </a:bodyPr>
                    <a:lstStyle/>
                    <a:p>
                      <a:pPr lvl="0" indent="0" marL="0">
                        <a:buNone/>
                      </a:pPr>
                      <a:r>
                        <a:rPr>
                          <a:latin typeface="Courier"/>
                        </a:rPr>
                        <a:t>cut -d, -f2</a:t>
                      </a:r>
                    </a:p>
                  </a:txBody>
                </a:tc>
                <a:tc>
                  <a:txBody>
                    <a:bodyPr>
                      <a:normAutofit/>
                    </a:bodyPr>
                    <a:lstStyle/>
                    <a:p>
                      <a:pPr lvl="0" indent="0" marL="0">
                        <a:buNone/>
                      </a:pPr>
                      <a:r>
                        <a:rPr/>
                        <a:t>keep a column</a:t>
                      </a:r>
                    </a:p>
                  </a:txBody>
                </a:tc>
              </a:tr>
              <a:tr h="0">
                <a:tc>
                  <a:txBody>
                    <a:bodyPr>
                      <a:normAutofit/>
                    </a:bodyPr>
                    <a:lstStyle/>
                    <a:p>
                      <a:pPr lvl="0" indent="0" marL="0">
                        <a:buNone/>
                      </a:pPr>
                      <a:r>
                        <a:rPr>
                          <a:latin typeface="Courier"/>
                        </a:rPr>
                        <a:t>sort</a:t>
                      </a:r>
                      <a:r>
                        <a:rPr/>
                        <a:t> / </a:t>
                      </a:r>
                      <a:r>
                        <a:rPr>
                          <a:latin typeface="Courier"/>
                        </a:rPr>
                        <a:t>uniq -c</a:t>
                      </a:r>
                    </a:p>
                  </a:txBody>
                </a:tc>
                <a:tc>
                  <a:txBody>
                    <a:bodyPr>
                      <a:normAutofit/>
                    </a:bodyPr>
                    <a:lstStyle/>
                    <a:p>
                      <a:pPr lvl="0" indent="0" marL="0">
                        <a:buNone/>
                      </a:pPr>
                      <a:r>
                        <a:rPr/>
                        <a:t>order, and count repeats</a:t>
                      </a:r>
                    </a:p>
                  </a:txBody>
                </a:tc>
              </a:tr>
              <a:tr h="0">
                <a:tc>
                  <a:txBody>
                    <a:bodyPr>
                      <a:normAutofit/>
                    </a:bodyPr>
                    <a:lstStyle/>
                    <a:p>
                      <a:pPr lvl="0" indent="0" marL="0">
                        <a:buNone/>
                      </a:pPr>
                      <a:r>
                        <a:rPr>
                          <a:latin typeface="Courier"/>
                        </a:rPr>
                        <a:t>find . -name '*.csv'</a:t>
                      </a:r>
                    </a:p>
                  </a:txBody>
                </a:tc>
                <a:tc>
                  <a:txBody>
                    <a:bodyPr>
                      <a:normAutofit/>
                    </a:bodyPr>
                    <a:lstStyle/>
                    <a:p>
                      <a:pPr lvl="0" indent="0" marL="0">
                        <a:buNone/>
                      </a:pPr>
                      <a:r>
                        <a:rPr/>
                        <a:t>list files matching a pattern, recursively</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From the shell to Python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languages, one boundary</a:t>
            </a:r>
          </a:p>
        </p:txBody>
      </p:sp>
      <p:pic>
        <p:nvPicPr>
          <p:cNvPr descr="img/python_vs_bas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Python is just another program</a:t>
            </a:r>
          </a:p>
        </p:txBody>
      </p:sp>
      <p:pic>
        <p:nvPicPr>
          <p:cNvPr descr="img/intero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is an environment?</a:t>
            </a:r>
          </a:p>
        </p:txBody>
      </p:sp>
      <p:pic>
        <p:nvPicPr>
          <p:cNvPr descr="img/environmen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Creating and using one</a:t>
            </a:r>
          </a:p>
        </p:txBody>
      </p:sp>
      <p:sp>
        <p:nvSpPr>
          <p:cNvPr id="3" name="Content Placeholder 2"/>
          <p:cNvSpPr>
            <a:spLocks noGrp="1"/>
          </p:cNvSpPr>
          <p:nvPr>
            <p:ph idx="1"/>
          </p:nvPr>
        </p:nvSpPr>
        <p:spPr/>
        <p:txBody>
          <a:bodyPr>
            <a:normAutofit/>
          </a:bodyPr>
          <a:lstStyle/>
          <a:p>
            <a:pPr lvl="0" indent="0">
              <a:buNone/>
            </a:pPr>
            <a:r>
              <a:rPr>
                <a:latin typeface="Courier"/>
              </a:rPr>
              <a:t>uv venv                        </a:t>
            </a:r>
            <a:r>
              <a:rPr i="1">
                <a:solidFill>
                  <a:srgbClr val="60A0B0"/>
                </a:solidFill>
                <a:latin typeface="Courier"/>
              </a:rPr>
              <a:t># create .venv/ here</a:t>
            </a:r>
            <a:br/>
            <a:r>
              <a:rPr>
                <a:solidFill>
                  <a:srgbClr val="008000"/>
                </a:solidFill>
                <a:latin typeface="Courier"/>
              </a:rPr>
              <a:t>source</a:t>
            </a:r>
            <a:r>
              <a:rPr>
                <a:latin typeface="Courier"/>
              </a:rPr>
              <a:t> .venv/bin/activate      </a:t>
            </a:r>
            <a:r>
              <a:rPr i="1">
                <a:solidFill>
                  <a:srgbClr val="60A0B0"/>
                </a:solidFill>
                <a:latin typeface="Courier"/>
              </a:rPr>
              <a:t># put it first on PATH  (deactivate to leave)</a:t>
            </a:r>
            <a:br/>
            <a:r>
              <a:rPr>
                <a:solidFill>
                  <a:srgbClr val="06287E"/>
                </a:solidFill>
                <a:latin typeface="Courier"/>
              </a:rPr>
              <a:t>which</a:t>
            </a:r>
            <a:r>
              <a:rPr>
                <a:latin typeface="Courier"/>
              </a:rPr>
              <a:t> python3                  </a:t>
            </a:r>
            <a:r>
              <a:rPr i="1">
                <a:solidFill>
                  <a:srgbClr val="60A0B0"/>
                </a:solidFill>
                <a:latin typeface="Courier"/>
              </a:rPr>
              <a:t># .../project/.venv/bin/python3   ← the check</a:t>
            </a:r>
            <a:br/>
            <a:br/>
            <a:r>
              <a:rPr>
                <a:latin typeface="Courier"/>
              </a:rPr>
              <a:t>uv pip install pandas          </a:t>
            </a:r>
            <a:r>
              <a:rPr i="1">
                <a:solidFill>
                  <a:srgbClr val="60A0B0"/>
                </a:solidFill>
                <a:latin typeface="Courier"/>
              </a:rPr>
              <a:t># installs into .venv, not into the system</a:t>
            </a:r>
            <a:br/>
            <a:r>
              <a:rPr>
                <a:latin typeface="Courier"/>
              </a:rPr>
              <a:t>uv pip freeze </a:t>
            </a:r>
            <a:r>
              <a:rPr>
                <a:solidFill>
                  <a:srgbClr val="666666"/>
                </a:solidFill>
                <a:latin typeface="Courier"/>
              </a:rPr>
              <a:t>&gt;</a:t>
            </a:r>
            <a:r>
              <a:rPr>
                <a:latin typeface="Courier"/>
              </a:rPr>
              <a:t> requirements.txt    </a:t>
            </a:r>
            <a:r>
              <a:rPr i="1">
                <a:solidFill>
                  <a:srgbClr val="60A0B0"/>
                </a:solidFill>
                <a:latin typeface="Courier"/>
              </a:rPr>
              <a:t># exactly what you have, for someone else</a:t>
            </a:r>
          </a:p>
          <a:p>
            <a:pPr lvl="0"/>
            <a:r>
              <a:rPr/>
              <a:t>One environment </a:t>
            </a:r>
            <a:r>
              <a:rPr b="1"/>
              <a:t>per project</a:t>
            </a:r>
            <a:r>
              <a:rPr/>
              <a:t>, inside the project, in </a:t>
            </a:r>
            <a:r>
              <a:rPr>
                <a:latin typeface="Courier"/>
              </a:rPr>
              <a:t>.gitignore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ruff</a:t>
            </a:r>
          </a:p>
        </p:txBody>
      </p:sp>
      <p:sp>
        <p:nvSpPr>
          <p:cNvPr id="3" name="Content Placeholder 2"/>
          <p:cNvSpPr>
            <a:spLocks noGrp="1"/>
          </p:cNvSpPr>
          <p:nvPr>
            <p:ph idx="1"/>
          </p:nvPr>
        </p:nvSpPr>
        <p:spPr/>
        <p:txBody>
          <a:bodyPr>
            <a:normAutofit/>
          </a:bodyPr>
          <a:lstStyle/>
          <a:p>
            <a:pPr lvl="0" indent="0" marL="0">
              <a:buNone/>
            </a:pPr>
            <a:r>
              <a:rPr>
                <a:latin typeface="Courier"/>
              </a:rPr>
              <a:t>ruff</a:t>
            </a:r>
            <a:r>
              <a:rPr/>
              <a:t> is a </a:t>
            </a:r>
            <a:r>
              <a:rPr b="1"/>
              <a:t>linter</a:t>
            </a:r>
            <a:r>
              <a:rPr/>
              <a:t> (finds mistakes) and a </a:t>
            </a:r>
            <a:r>
              <a:rPr b="1"/>
              <a:t>formatter</a:t>
            </a:r>
            <a:r>
              <a:rPr/>
              <a:t> (fixes layout)</a:t>
            </a:r>
          </a:p>
          <a:p>
            <a:pPr lvl="0" indent="0">
              <a:buNone/>
            </a:pPr>
            <a:r>
              <a:rPr>
                <a:latin typeface="Courier"/>
              </a:rPr>
              <a:t>uv tool install ruff     </a:t>
            </a:r>
            <a:r>
              <a:rPr i="1">
                <a:solidFill>
                  <a:srgbClr val="60A0B0"/>
                </a:solidFill>
                <a:latin typeface="Courier"/>
              </a:rPr>
              <a:t># or: uv pip install ruff  /  python3 -m pip install ruff</a:t>
            </a:r>
            <a:br/>
            <a:r>
              <a:rPr>
                <a:latin typeface="Courier"/>
              </a:rPr>
              <a:t>uvx ruff check .         </a:t>
            </a:r>
            <a:r>
              <a:rPr i="1">
                <a:solidFill>
                  <a:srgbClr val="60A0B0"/>
                </a:solidFill>
                <a:latin typeface="Courier"/>
              </a:rPr>
              <a:t># run it once, installing nothing</a:t>
            </a:r>
            <a:br/>
            <a:br/>
            <a:r>
              <a:rPr>
                <a:latin typeface="Courier"/>
              </a:rPr>
              <a:t>ruff check .             </a:t>
            </a:r>
            <a:r>
              <a:rPr i="1">
                <a:solidFill>
                  <a:srgbClr val="60A0B0"/>
                </a:solidFill>
                <a:latin typeface="Courier"/>
              </a:rPr>
              <a:t># unused imports, undefined names, dead code</a:t>
            </a:r>
            <a:br/>
            <a:r>
              <a:rPr>
                <a:latin typeface="Courier"/>
              </a:rPr>
              <a:t>ruff check </a:t>
            </a:r>
            <a:r>
              <a:rPr>
                <a:solidFill>
                  <a:srgbClr val="7D9029"/>
                </a:solidFill>
                <a:latin typeface="Courier"/>
              </a:rPr>
              <a:t>--fix</a:t>
            </a:r>
            <a:r>
              <a:rPr>
                <a:latin typeface="Courier"/>
              </a:rPr>
              <a:t> .       </a:t>
            </a:r>
            <a:r>
              <a:rPr i="1">
                <a:solidFill>
                  <a:srgbClr val="60A0B0"/>
                </a:solidFill>
                <a:latin typeface="Courier"/>
              </a:rPr>
              <a:t># fix what can be fixed automatically</a:t>
            </a:r>
            <a:br/>
            <a:r>
              <a:rPr>
                <a:latin typeface="Courier"/>
              </a:rPr>
              <a:t>ruff format .            </a:t>
            </a:r>
            <a:r>
              <a:rPr i="1">
                <a:solidFill>
                  <a:srgbClr val="60A0B0"/>
                </a:solidFill>
                <a:latin typeface="Courier"/>
              </a:rPr>
              <a:t># one house style, no more debates about spacing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The Command Line: Talking to a Computer in Words</dc:title>
  <dc:creator>Paul Dubois</dc:creator>
  <cp:keywords/>
  <dcterms:created xsi:type="dcterms:W3CDTF">2026-10-10T17:27:21Z</dcterms:created>
  <dcterms:modified xsi:type="dcterms:W3CDTF">2026-10-10T17:27:21Z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1, Lecture</vt:lpwstr>
  </property>
  <property fmtid="{D5CDD505-2E9C-101B-9397-08002B2CF9AE}" pid="3" name="subtitle">
    <vt:lpwstr>Digital Health, Mastère Spécialisé · 2026</vt:lpwstr>
  </property>
</Properties>
</file>