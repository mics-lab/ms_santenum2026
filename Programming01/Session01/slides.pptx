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notesMaster" Target="notesMasters/notesMaster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Rows of machines, and not one keyboard, mouse or monitor in the room. This is the NASA Columbia supercomputer, but it is also every hospital server room, every cloud instance, and every compute cluster you will send a job to. Nobody walks in and clicks. You reach these machines over the network (</a:t>
            </a:r>
            <a:r>
              <a:rPr>
                <a:latin typeface="Courier"/>
              </a:rPr>
              <a:t>ssh</a:t>
            </a:r>
            <a:r>
              <a:rPr/>
              <a:t>), and what answers you is a text prompt. The graphical interface is the exception, available on your laptop and almost nowhere else. So the question is not whether the command line is pleasant. It is the only interface these machines have, and that is where the data and the computing power live. Ask the room: where do you think the imaging archive of a hospital actually sits?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words students use as synonyms for a fortnight. Fixing this early saves a lot of confusion later: “the terminal crashed” and “the shell is bash” and “ls is a program” are three different statements. Emphasise the closing line. Everything that follows (variables, loops, conditionals, functions) is available </a:t>
            </a:r>
            <a:r>
              <a:rPr i="1"/>
              <a:t>because</a:t>
            </a:r>
            <a:r>
              <a:rPr/>
              <a:t> the shell is a language. The prompt is a REPL.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grammar slide; every command in the notebook obeys it. Two traps to name now, because both will bite in the exercises: (1) a space separates arguments, so a filename with a space is two arguments unless it is quoted. Health data exports are full of </a:t>
            </a:r>
            <a:r>
              <a:rPr>
                <a:latin typeface="Courier"/>
              </a:rPr>
              <a:t>Patient Records 2024.csv</a:t>
            </a:r>
            <a:r>
              <a:rPr/>
              <a:t>. (2) flags are case sensitive and not universal: </a:t>
            </a:r>
            <a:r>
              <a:rPr>
                <a:latin typeface="Courier"/>
              </a:rPr>
              <a:t>-h</a:t>
            </a:r>
            <a:r>
              <a:rPr/>
              <a:t> is “help” in some tools and “human readable” in others. There is no committee.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ideas: there is a single root (no </a:t>
            </a:r>
            <a:r>
              <a:rPr>
                <a:latin typeface="Courier"/>
              </a:rPr>
              <a:t>C:</a:t>
            </a:r>
            <a:r>
              <a:rPr/>
              <a:t> drive), and any file has two names (absolute and relative) that point to the same thing. Rule of thumb for their future scripts: absolute paths for data that lives somewhere fixed, relative paths for anything inside the project, so the project can be moved, shared, or run on the cluster untouched.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Type these live, slowly, in a scratch folder. Let them see the prompt change with </a:t>
            </a:r>
            <a:r>
              <a:rPr>
                <a:latin typeface="Courier"/>
              </a:rPr>
              <a:t>cd</a:t>
            </a:r>
            <a:r>
              <a:rPr/>
              <a:t>. Give the </a:t>
            </a:r>
            <a:r>
              <a:rPr>
                <a:latin typeface="Courier"/>
              </a:rPr>
              <a:t>rm</a:t>
            </a:r>
            <a:r>
              <a:rPr/>
              <a:t> warning its own beat. Then give them the habit that actually protects them: run the dangerous thing as </a:t>
            </a:r>
            <a:r>
              <a:rPr>
                <a:latin typeface="Courier"/>
              </a:rPr>
              <a:t>ls</a:t>
            </a:r>
            <a:r>
              <a:rPr/>
              <a:t> first (</a:t>
            </a:r>
            <a:r>
              <a:rPr>
                <a:latin typeface="Courier"/>
              </a:rPr>
              <a:t>ls *.tmp</a:t>
            </a:r>
            <a:r>
              <a:rPr/>
              <a:t>), look at what matched, then swap </a:t>
            </a:r>
            <a:r>
              <a:rPr>
                <a:latin typeface="Courier"/>
              </a:rPr>
              <a:t>ls</a:t>
            </a:r>
            <a:r>
              <a:rPr/>
              <a:t> for </a:t>
            </a:r>
            <a:r>
              <a:rPr>
                <a:latin typeface="Courier"/>
              </a:rPr>
              <a:t>rm</a:t>
            </a:r>
            <a:r>
              <a:rPr/>
              <a:t>. Never trust a glob you have not printed.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whole session, and the reason the tools are all small. Each program does one job and speaks the same currency: lines of text. The pipe is what makes them compose. Build the example one stage at a time on screen, showing the intermediate output after each </a:t>
            </a:r>
            <a:r>
              <a:rPr>
                <a:latin typeface="Courier"/>
              </a:rPr>
              <a:t>|</a:t>
            </a:r>
            <a:r>
              <a:rPr/>
              <a:t>. Students remember the shape once they have watched it narrow. Mention that this is exactly </a:t>
            </a:r>
            <a:r>
              <a:rPr>
                <a:latin typeface="Courier"/>
              </a:rPr>
              <a:t>pandas</a:t>
            </a:r>
            <a:r>
              <a:rPr/>
              <a:t> chaining, ten years older and on files it never has to load into memory.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try to teach these exhaustively (the notebook does that). Here just establish that the toolbox is small, and that each one is a verb you can look up. </a:t>
            </a:r>
            <a:r>
              <a:rPr>
                <a:latin typeface="Courier"/>
              </a:rPr>
              <a:t>sort | uniq -c</a:t>
            </a:r>
            <a:r>
              <a:rPr/>
              <a:t> is the shell’s </a:t>
            </a:r>
            <a:r>
              <a:rPr>
                <a:latin typeface="Courier"/>
              </a:rPr>
              <a:t>value_counts()</a:t>
            </a:r>
            <a:r>
              <a:rPr/>
              <a:t>; say that out loud, it converts anyone who already knows pandas.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The Command Line</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Why using a terminal?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Most computers have no screen</a:t>
            </a:r>
          </a:p>
        </p:txBody>
      </p:sp>
      <p:pic>
        <p:nvPicPr>
          <p:cNvPr descr="img/datacenter.jp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Terminal, shell, program, kernel</a:t>
            </a:r>
          </a:p>
        </p:txBody>
      </p:sp>
      <p:pic>
        <p:nvPicPr>
          <p:cNvPr descr="img/terminal_she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anatomy of a command</a:t>
            </a:r>
          </a:p>
        </p:txBody>
      </p:sp>
      <p:pic>
        <p:nvPicPr>
          <p:cNvPr descr="img/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Moving around, and moving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filesystem is one tree</a:t>
            </a:r>
          </a:p>
        </p:txBody>
      </p:sp>
      <p:pic>
        <p:nvPicPr>
          <p:cNvPr descr="img/filesyste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Five most usefull commands</a:t>
            </a:r>
          </a:p>
        </p:txBody>
      </p:sp>
      <p:sp>
        <p:nvSpPr>
          <p:cNvPr id="3" name="Content Placeholder 2"/>
          <p:cNvSpPr>
            <a:spLocks noGrp="1"/>
          </p:cNvSpPr>
          <p:nvPr>
            <p:ph idx="1"/>
          </p:nvPr>
        </p:nvSpPr>
        <p:spPr/>
        <p:txBody>
          <a:bodyPr>
            <a:normAutofit/>
          </a:bodyPr>
          <a:lstStyle/>
          <a:p>
            <a:pPr lvl="0" indent="0">
              <a:buNone/>
            </a:pPr>
            <a:r>
              <a:rPr>
                <a:solidFill>
                  <a:srgbClr val="008000"/>
                </a:solidFill>
                <a:latin typeface="Courier"/>
              </a:rPr>
              <a:t>pwd</a:t>
            </a:r>
            <a:r>
              <a:rPr>
                <a:latin typeface="Courier"/>
              </a:rPr>
              <a:t>                     </a:t>
            </a:r>
            <a:r>
              <a:rPr i="1">
                <a:solidFill>
                  <a:srgbClr val="60A0B0"/>
                </a:solidFill>
                <a:latin typeface="Courier"/>
              </a:rPr>
              <a:t># where am I</a:t>
            </a:r>
            <a:br/>
            <a:r>
              <a:rPr>
                <a:solidFill>
                  <a:srgbClr val="008000"/>
                </a:solidFill>
                <a:latin typeface="Courier"/>
              </a:rPr>
              <a:t>cd</a:t>
            </a:r>
            <a:r>
              <a:rPr>
                <a:latin typeface="Courier"/>
              </a:rPr>
              <a:t> data/ecg             </a:t>
            </a:r>
            <a:r>
              <a:rPr i="1">
                <a:solidFill>
                  <a:srgbClr val="60A0B0"/>
                </a:solidFill>
                <a:latin typeface="Courier"/>
              </a:rPr>
              <a:t># go there  (cd ..  goes up, cd  goes home)</a:t>
            </a:r>
            <a:br/>
            <a:r>
              <a:rPr>
                <a:solidFill>
                  <a:srgbClr val="06287E"/>
                </a:solidFill>
                <a:latin typeface="Courier"/>
              </a:rPr>
              <a:t>ls</a:t>
            </a:r>
            <a:r>
              <a:rPr>
                <a:latin typeface="Courier"/>
              </a:rPr>
              <a:t> </a:t>
            </a:r>
            <a:r>
              <a:rPr>
                <a:solidFill>
                  <a:srgbClr val="7D9029"/>
                </a:solidFill>
                <a:latin typeface="Courier"/>
              </a:rPr>
              <a:t>-lh</a:t>
            </a:r>
            <a:r>
              <a:rPr>
                <a:latin typeface="Courier"/>
              </a:rPr>
              <a:t>                  </a:t>
            </a:r>
            <a:r>
              <a:rPr i="1">
                <a:solidFill>
                  <a:srgbClr val="60A0B0"/>
                </a:solidFill>
                <a:latin typeface="Courier"/>
              </a:rPr>
              <a:t># what is here, with sizes</a:t>
            </a:r>
            <a:br/>
            <a:r>
              <a:rPr>
                <a:solidFill>
                  <a:srgbClr val="06287E"/>
                </a:solidFill>
                <a:latin typeface="Courier"/>
              </a:rPr>
              <a:t>mkdir</a:t>
            </a:r>
            <a:r>
              <a:rPr>
                <a:latin typeface="Courier"/>
              </a:rPr>
              <a:t> </a:t>
            </a:r>
            <a:r>
              <a:rPr>
                <a:solidFill>
                  <a:srgbClr val="7D9029"/>
                </a:solidFill>
                <a:latin typeface="Courier"/>
              </a:rPr>
              <a:t>-p</a:t>
            </a:r>
            <a:r>
              <a:rPr>
                <a:latin typeface="Courier"/>
              </a:rPr>
              <a:t> results/2026   </a:t>
            </a:r>
            <a:r>
              <a:rPr i="1">
                <a:solidFill>
                  <a:srgbClr val="60A0B0"/>
                </a:solidFill>
                <a:latin typeface="Courier"/>
              </a:rPr>
              <a:t># make a folder (and its parents)</a:t>
            </a:r>
            <a:br/>
            <a:r>
              <a:rPr>
                <a:solidFill>
                  <a:srgbClr val="06287E"/>
                </a:solidFill>
                <a:latin typeface="Courier"/>
              </a:rPr>
              <a:t>cp</a:t>
            </a:r>
            <a:r>
              <a:rPr>
                <a:latin typeface="Courier"/>
              </a:rPr>
              <a:t> a.csv backup/        </a:t>
            </a:r>
            <a:r>
              <a:rPr i="1">
                <a:solidFill>
                  <a:srgbClr val="60A0B0"/>
                </a:solidFill>
                <a:latin typeface="Courier"/>
              </a:rPr>
              <a:t># copy      (mv = move / rename, rm = delete)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in, text out</a:t>
            </a:r>
          </a:p>
        </p:txBody>
      </p:sp>
      <p:pic>
        <p:nvPicPr>
          <p:cNvPr descr="img/pipeli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More commands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Command</a:t>
                      </a:r>
                    </a:p>
                  </a:txBody>
                  <a:tcPr/>
                </a:tc>
                <a:tc>
                  <a:txBody>
                    <a:bodyPr>
                      <a:normAutofit/>
                    </a:bodyPr>
                    <a:lstStyle/>
                    <a:p>
                      <a:pPr lvl="0" indent="0" marL="0">
                        <a:buNone/>
                      </a:pPr>
                      <a:r>
                        <a:rPr/>
                        <a:t>Does</a:t>
                      </a:r>
                    </a:p>
                  </a:txBody>
                  <a:tcPr/>
                </a:tc>
              </a:tr>
              <a:tr h="0">
                <a:tc>
                  <a:txBody>
                    <a:bodyPr>
                      <a:normAutofit/>
                    </a:bodyPr>
                    <a:lstStyle/>
                    <a:p>
                      <a:pPr lvl="0" indent="0" marL="0">
                        <a:buNone/>
                      </a:pPr>
                      <a:r>
                        <a:rPr>
                          <a:latin typeface="Courier"/>
                        </a:rPr>
                        <a:t>cat</a:t>
                      </a:r>
                      <a:r>
                        <a:rPr/>
                        <a:t> / </a:t>
                      </a:r>
                      <a:r>
                        <a:rPr>
                          <a:latin typeface="Courier"/>
                        </a:rPr>
                        <a:t>head</a:t>
                      </a:r>
                      <a:r>
                        <a:rPr/>
                        <a:t> / </a:t>
                      </a:r>
                      <a:r>
                        <a:rPr>
                          <a:latin typeface="Courier"/>
                        </a:rPr>
                        <a:t>tail</a:t>
                      </a:r>
                    </a:p>
                  </a:txBody>
                </a:tc>
                <a:tc>
                  <a:txBody>
                    <a:bodyPr>
                      <a:normAutofit/>
                    </a:bodyPr>
                    <a:lstStyle/>
                    <a:p>
                      <a:pPr lvl="0" indent="0" marL="0">
                        <a:buNone/>
                      </a:pPr>
                      <a:r>
                        <a:rPr/>
                        <a:t>print a file, its first, its last lines</a:t>
                      </a:r>
                    </a:p>
                  </a:txBody>
                </a:tc>
              </a:tr>
              <a:tr h="0">
                <a:tc>
                  <a:txBody>
                    <a:bodyPr>
                      <a:normAutofit/>
                    </a:bodyPr>
                    <a:lstStyle/>
                    <a:p>
                      <a:pPr lvl="0" indent="0" marL="0">
                        <a:buNone/>
                      </a:pPr>
                      <a:r>
                        <a:rPr>
                          <a:latin typeface="Courier"/>
                        </a:rPr>
                        <a:t>wc -l</a:t>
                      </a:r>
                    </a:p>
                  </a:txBody>
                </a:tc>
                <a:tc>
                  <a:txBody>
                    <a:bodyPr>
                      <a:normAutofit/>
                    </a:bodyPr>
                    <a:lstStyle/>
                    <a:p>
                      <a:pPr lvl="0" indent="0" marL="0">
                        <a:buNone/>
                      </a:pPr>
                      <a:r>
                        <a:rPr/>
                        <a:t>count lines (rows in a CSV)</a:t>
                      </a:r>
                    </a:p>
                  </a:txBody>
                </a:tc>
              </a:tr>
              <a:tr h="0">
                <a:tc>
                  <a:txBody>
                    <a:bodyPr>
                      <a:normAutofit/>
                    </a:bodyPr>
                    <a:lstStyle/>
                    <a:p>
                      <a:pPr lvl="0" indent="0" marL="0">
                        <a:buNone/>
                      </a:pPr>
                      <a:r>
                        <a:rPr>
                          <a:latin typeface="Courier"/>
                        </a:rPr>
                        <a:t>grep 'ICU'</a:t>
                      </a:r>
                    </a:p>
                  </a:txBody>
                </a:tc>
                <a:tc>
                  <a:txBody>
                    <a:bodyPr>
                      <a:normAutofit/>
                    </a:bodyPr>
                    <a:lstStyle/>
                    <a:p>
                      <a:pPr lvl="0" indent="0" marL="0">
                        <a:buNone/>
                      </a:pPr>
                      <a:r>
                        <a:rPr/>
                        <a:t>keep the lines that match</a:t>
                      </a:r>
                    </a:p>
                  </a:txBody>
                </a:tc>
              </a:tr>
              <a:tr h="0">
                <a:tc>
                  <a:txBody>
                    <a:bodyPr>
                      <a:normAutofit/>
                    </a:bodyPr>
                    <a:lstStyle/>
                    <a:p>
                      <a:pPr lvl="0" indent="0" marL="0">
                        <a:buNone/>
                      </a:pPr>
                      <a:r>
                        <a:rPr>
                          <a:latin typeface="Courier"/>
                        </a:rPr>
                        <a:t>cut -d, -f2</a:t>
                      </a:r>
                    </a:p>
                  </a:txBody>
                </a:tc>
                <a:tc>
                  <a:txBody>
                    <a:bodyPr>
                      <a:normAutofit/>
                    </a:bodyPr>
                    <a:lstStyle/>
                    <a:p>
                      <a:pPr lvl="0" indent="0" marL="0">
                        <a:buNone/>
                      </a:pPr>
                      <a:r>
                        <a:rPr/>
                        <a:t>keep a column</a:t>
                      </a:r>
                    </a:p>
                  </a:txBody>
                </a:tc>
              </a:tr>
              <a:tr h="0">
                <a:tc>
                  <a:txBody>
                    <a:bodyPr>
                      <a:normAutofit/>
                    </a:bodyPr>
                    <a:lstStyle/>
                    <a:p>
                      <a:pPr lvl="0" indent="0" marL="0">
                        <a:buNone/>
                      </a:pPr>
                      <a:r>
                        <a:rPr>
                          <a:latin typeface="Courier"/>
                        </a:rPr>
                        <a:t>sort</a:t>
                      </a:r>
                      <a:r>
                        <a:rPr/>
                        <a:t> / </a:t>
                      </a:r>
                      <a:r>
                        <a:rPr>
                          <a:latin typeface="Courier"/>
                        </a:rPr>
                        <a:t>uniq -c</a:t>
                      </a:r>
                    </a:p>
                  </a:txBody>
                </a:tc>
                <a:tc>
                  <a:txBody>
                    <a:bodyPr>
                      <a:normAutofit/>
                    </a:bodyPr>
                    <a:lstStyle/>
                    <a:p>
                      <a:pPr lvl="0" indent="0" marL="0">
                        <a:buNone/>
                      </a:pPr>
                      <a:r>
                        <a:rPr/>
                        <a:t>order, and count repeats</a:t>
                      </a:r>
                    </a:p>
                  </a:txBody>
                </a:tc>
              </a:tr>
              <a:tr h="0">
                <a:tc>
                  <a:txBody>
                    <a:bodyPr>
                      <a:normAutofit/>
                    </a:bodyPr>
                    <a:lstStyle/>
                    <a:p>
                      <a:pPr lvl="0" indent="0" marL="0">
                        <a:buNone/>
                      </a:pPr>
                      <a:r>
                        <a:rPr>
                          <a:latin typeface="Courier"/>
                        </a:rPr>
                        <a:t>find . -name '*.csv'</a:t>
                      </a:r>
                    </a:p>
                  </a:txBody>
                </a:tc>
                <a:tc>
                  <a:txBody>
                    <a:bodyPr>
                      <a:normAutofit/>
                    </a:bodyPr>
                    <a:lstStyle/>
                    <a:p>
                      <a:pPr lvl="0" indent="0" marL="0">
                        <a:buNone/>
                      </a:pPr>
                      <a:r>
                        <a:rPr/>
                        <a:t>list files matching a pattern, recursively</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The Command Line</dc:title>
  <dc:creator>Paul Dubois</dc:creator>
  <cp:keywords/>
  <dcterms:created xsi:type="dcterms:W3CDTF">2026-10-12T11:24:44Z</dcterms:created>
  <dcterms:modified xsi:type="dcterms:W3CDTF">2026-10-12T11:24:44Z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