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Des rangées de machines, et pas un seul clavier, souris ou moniteur dans la pièce. C’est la NASA Supercalculateur Columbia, mais c’est aussi chaque salle de serveurs d’hôpital, chaque instance cloud, et chaque cluster de calcul auquel vous enverrez une tâche. Personne n’entre et ne clique. Vous atteignez ces machines via le réseau (</a:t>
            </a:r>
            <a:r>
              <a:rPr>
                <a:latin typeface="Courier"/>
              </a:rPr>
              <a:t>ssh</a:t>
            </a:r>
            <a:r>
              <a:rPr/>
              <a:t>), et quoi vous répond est une invite de texte. L’interface graphique est l’exception, disponible sur votre ordinateur portable et presque nulle part ailleurs. La question n’est donc pas de savoir si la ligne de commande est agréable. C’est la seule interface ces machines en disposent, et c’est là que résident les données et la puissance de calcul. Demandez à la salle : à votre avis, où se trouvent réellement les archives d’imagerie d’un hôpital ?</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Quatre mots que les étudiants utilisent comme synonymes pendant une quinzaine de jours. Résoudre ce problème rapidement permet d’économiser beaucoup confusion plus tard : “le terminal s’est écrasé” et “le shell est bash” et “ls est un programme” sont trois déclarations différentes. Insistez sur la ligne de clôture. Tout ce qui suit (variables, boucles, conditions, fonctions) est disponible </a:t>
            </a:r>
            <a:r>
              <a:rPr i="1"/>
              <a:t>car</a:t>
            </a:r>
            <a:r>
              <a:rPr/>
              <a:t> le shell est un langage. L’invite est un REPL.</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la diapositive de grammaire ; chaque commande du cahier y obéit. Deux pièges à nommer maintenant, car les deux mordront dans les exercices : (1) un espace sépare les arguments, donc un nom de fichier avec un espace contient deux arguments, sauf si c’est cité. Les exports de données de santé regorgent de </a:t>
            </a:r>
            <a:r>
              <a:rPr>
                <a:latin typeface="Courier"/>
              </a:rPr>
              <a:t>Patient Records 2024.csv</a:t>
            </a:r>
            <a:r>
              <a:rPr/>
              <a:t>. (2) les drapeaux sont sensibles à la casse et ne sont pas universels : </a:t>
            </a:r>
            <a:r>
              <a:rPr>
                <a:latin typeface="Courier"/>
              </a:rPr>
              <a:t>-h</a:t>
            </a:r>
            <a:r>
              <a:rPr/>
              <a:t> est “l’aide” dans certains outils et “lisible par l’homme” chez d’autres. Il n’y a pas de comité.</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Deux idées : il n’y a qu’une seule racine (pas de lecteur </a:t>
            </a:r>
            <a:r>
              <a:rPr>
                <a:latin typeface="Courier"/>
              </a:rPr>
              <a:t>C:</a:t>
            </a:r>
            <a:r>
              <a:rPr/>
              <a:t>), et tout fichier a deux noms (absolu et relatif) qui pointent vers la même chose. Règle générale pour leurs futurs scripts : chemins absolus pour les données qui résident quelque part chemins fixes et relatifs pour tout ce qui se trouve à l’intérieur du projet, afin que le projet puisse être déplacé, partagé ou exécuté sur le cluster sans modification.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Tapez-les en direct, lentement, dans un dossier de travail. Laissez-les voir le changement rapide avec </a:t>
            </a:r>
            <a:r>
              <a:rPr>
                <a:latin typeface="Courier"/>
              </a:rPr>
              <a:t>cd</a:t>
            </a:r>
            <a:r>
              <a:rPr/>
              <a:t>. Donnez à l’avertissement </a:t>
            </a:r>
            <a:r>
              <a:rPr>
                <a:latin typeface="Courier"/>
              </a:rPr>
              <a:t>rm</a:t>
            </a:r>
            <a:r>
              <a:rPr/>
              <a:t> son propre rythme. Ensuite, donnez-leur l’habitude qui les protège réellement. eux : exécutez d’abord la chose dangereuse comme </a:t>
            </a:r>
            <a:r>
              <a:rPr>
                <a:latin typeface="Courier"/>
              </a:rPr>
              <a:t>ls</a:t>
            </a:r>
            <a:r>
              <a:rPr/>
              <a:t> (</a:t>
            </a:r>
            <a:r>
              <a:rPr>
                <a:latin typeface="Courier"/>
              </a:rPr>
              <a:t>ls *.tmp</a:t>
            </a:r>
            <a:r>
              <a:rPr/>
              <a:t>), regardez ce qui correspond, puis échangez </a:t>
            </a:r>
            <a:r>
              <a:rPr>
                <a:latin typeface="Courier"/>
              </a:rPr>
              <a:t>ls</a:t>
            </a:r>
            <a:r>
              <a:rPr/>
              <a:t> contre </a:t>
            </a:r>
            <a:r>
              <a:rPr>
                <a:latin typeface="Courier"/>
              </a:rPr>
              <a:t>rm</a:t>
            </a:r>
            <a:r>
              <a:rPr/>
              <a:t>. Ne faites jamais confiance à un globe que vous n’avez pas imprimé.</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C’est le noyau intellectuel de toute la session, et la raison pour laquelle les outils sont tous petit. Chaque programme effectue une tâche et parle la même devise : des lignes de texte. Le le tuyau est ce qui les fait composer. Construisez l’exemple une étape à la fois à l’écran, affichant le résultat intermédiaire après chaque </a:t>
            </a:r>
            <a:r>
              <a:rPr>
                <a:latin typeface="Courier"/>
              </a:rPr>
              <a:t>|</a:t>
            </a:r>
            <a:r>
              <a:rPr/>
              <a:t>. Les élèves se souviennent de la forme une fois qu’ils l’ont vue se rétrécir. Mentionnez qu’il s’agit exactement du </a:t>
            </a:r>
            <a:r>
              <a:rPr>
                <a:latin typeface="Courier"/>
              </a:rPr>
              <a:t>pandas</a:t>
            </a:r>
            <a:r>
              <a:rPr/>
              <a:t> chaînage, dix ans de plus et sur les fichiers ce n’est jamais doit se charger en mémoire.</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N’essayez pas de les enseigner de manière exhaustive (le cahier fait cela). Ici, établissez simplement que la boîte à outils est petite et que chacun est un verbe que vous pouvez rechercher. </a:t>
            </a:r>
            <a:r>
              <a:rPr>
                <a:latin typeface="Courier"/>
              </a:rPr>
              <a:t>sort | uniq -c</a:t>
            </a:r>
            <a:r>
              <a:rPr/>
              <a:t> est le </a:t>
            </a:r>
            <a:r>
              <a:rPr>
                <a:latin typeface="Courier"/>
              </a:rPr>
              <a:t>value_counts()</a:t>
            </a:r>
            <a:r>
              <a:rPr/>
              <a:t> du shell ; dis ça à voix haute, ça convertit tous ceux qui connaissent déjà les pandas.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Tout le monde dans la pièce a un dossier comme celui de gauche. Il échoue exactement quand il compte : un critique demande quelle version du script a produit le tableau 2, et personne ne le sait. git remplace les copies par un fichier et un historique. Chaque changement est enregistré avec qui a fait il, quand et un message qui explique pourquoi. Dans un cadre réglementé (une étude clinique, un Appareil marqué CE), cette traçabilité n’est pas une commodité : c’est ce que demande un audit. git est un programme en ligne de commande : tout ce qui figure dans les deux premières sections s’applique.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 seul modèle mental pour réussir. Vous modifiez les fichiers dans le dossier de travail comme d’habitude. </a:t>
            </a:r>
            <a:r>
              <a:rPr>
                <a:latin typeface="Courier"/>
              </a:rPr>
              <a:t>git add</a:t>
            </a:r>
            <a:r>
              <a:rPr/>
              <a:t> choisit les modifications qui seront apportées à l’instantané suivant (la zone de préparation). </a:t>
            </a:r>
            <a:r>
              <a:rPr>
                <a:latin typeface="Courier"/>
              </a:rPr>
              <a:t>git commit</a:t>
            </a:r>
            <a:r>
              <a:rPr/>
              <a:t> enregistre cet instantané dans le référentiel, le dossier caché </a:t>
            </a:r>
            <a:r>
              <a:rPr>
                <a:latin typeface="Courier"/>
              </a:rPr>
              <a:t>.git/</a:t>
            </a:r>
            <a:r>
              <a:rPr/>
              <a:t>. Pourquoi l’étape intermédiaire : vous avez modifié trois fichiers mais seulement deux appartiennent au même correctif. Scène ces deux-là, validez, puis mettez en scène et validez le troisième avec son propre message. </a:t>
            </a:r>
            <a:r>
              <a:rPr>
                <a:latin typeface="Courier"/>
              </a:rPr>
              <a:t>git status</a:t>
            </a:r>
            <a:r>
              <a:rPr/>
              <a:t> est la commande à taper en cas de perte : elle indique ce qu’il y a dans chaque zone, et suggère généralement la commande suivante.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Démo live dans un dossier scratch : </a:t>
            </a:r>
            <a:r>
              <a:rPr>
                <a:latin typeface="Courier"/>
              </a:rPr>
              <a:t>git init</a:t>
            </a:r>
            <a:r>
              <a:rPr/>
              <a:t>, créer un fichier, </a:t>
            </a:r>
            <a:r>
              <a:rPr>
                <a:latin typeface="Courier"/>
              </a:rPr>
              <a:t>status</a:t>
            </a:r>
            <a:r>
              <a:rPr/>
              <a:t>, </a:t>
            </a:r>
            <a:r>
              <a:rPr>
                <a:latin typeface="Courier"/>
              </a:rPr>
              <a:t>add</a:t>
            </a:r>
            <a:r>
              <a:rPr/>
              <a:t>, </a:t>
            </a:r>
            <a:r>
              <a:rPr>
                <a:latin typeface="Courier"/>
              </a:rPr>
              <a:t>status</a:t>
            </a:r>
            <a:r>
              <a:rPr/>
              <a:t>, </a:t>
            </a:r>
            <a:r>
              <a:rPr>
                <a:latin typeface="Courier"/>
              </a:rPr>
              <a:t>commit</a:t>
            </a:r>
            <a:r>
              <a:rPr/>
              <a:t>, modifier, </a:t>
            </a:r>
            <a:r>
              <a:rPr>
                <a:latin typeface="Courier"/>
              </a:rPr>
              <a:t>diff</a:t>
            </a:r>
            <a:r>
              <a:rPr/>
              <a:t>, valider à nouveau, </a:t>
            </a:r>
            <a:r>
              <a:rPr>
                <a:latin typeface="Courier"/>
              </a:rPr>
              <a:t>log</a:t>
            </a:r>
            <a:r>
              <a:rPr/>
              <a:t>. La première fois, git vous demande qui vous êtes : </a:t>
            </a:r>
            <a:r>
              <a:rPr>
                <a:latin typeface="Courier"/>
              </a:rPr>
              <a:t>git config --global user.name "..."</a:t>
            </a:r>
            <a:r>
              <a:rPr/>
              <a:t> et </a:t>
            </a:r>
            <a:r>
              <a:rPr>
                <a:latin typeface="Courier"/>
              </a:rPr>
              <a:t>user.email</a:t>
            </a:r>
            <a:r>
              <a:rPr/>
              <a:t>. Chaque commit porte ce nom. Un bon message complète la phrase “ce commit va…” : “Supprimer les lignes sans âge”, pas “mettre à jour” ou “réparer”. Un changement logique par commit.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Chaque commit possède un identifiant (un hachage, raccourci à 7 caractères) et pointe vers le s’engager avant lui : l’histoire est une chaîne. Une branche n’est qu’un nom sur une validation, qui avance au fur et à mesure de votre validation. </a:t>
            </a:r>
            <a:r>
              <a:rPr>
                <a:latin typeface="Courier"/>
              </a:rPr>
              <a:t>git switch -c new-plot</a:t>
            </a:r>
            <a:r>
              <a:rPr/>
              <a:t> en commence un : essayer une idée sans toucher au </a:t>
            </a:r>
            <a:r>
              <a:rPr>
                <a:latin typeface="Courier"/>
              </a:rPr>
              <a:t>main</a:t>
            </a:r>
            <a:r>
              <a:rPr/>
              <a:t>. Si cela fonctionne, </a:t>
            </a:r>
            <a:r>
              <a:rPr>
                <a:latin typeface="Courier"/>
              </a:rPr>
              <a:t>git merge new-plot</a:t>
            </a:r>
            <a:r>
              <a:rPr/>
              <a:t> apporte il revient; sinon, supprimez la branche et </a:t>
            </a:r>
            <a:r>
              <a:rPr>
                <a:latin typeface="Courier"/>
              </a:rPr>
              <a:t>main</a:t>
            </a:r>
            <a:r>
              <a:rPr/>
              <a:t> ne l’a jamais su. </a:t>
            </a:r>
            <a:r>
              <a:rPr>
                <a:latin typeface="Courier"/>
              </a:rPr>
              <a:t>git switch</a:t>
            </a:r>
            <a:r>
              <a:rPr/>
              <a:t> / </a:t>
            </a:r>
            <a:r>
              <a:rPr>
                <a:latin typeface="Courier"/>
              </a:rPr>
              <a:t>git checkout &lt;hash&gt;</a:t>
            </a:r>
            <a:r>
              <a:rPr/>
              <a:t> déplace HEAD et les fichiers du dossier deviennent correspondre à cet instantané. Rien n’est perdu : chaque commit est toujours là.</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git fonctionne entièrement sur votre machine : commit dans un train, sans réseau. Une télécommande est une autre copie du référentiel, généralement sur GitHub (ou GitLab, ou sur le propre de l’hôpital) serveur). </a:t>
            </a:r>
            <a:r>
              <a:rPr>
                <a:latin typeface="Courier"/>
              </a:rPr>
              <a:t>git clone</a:t>
            </a:r>
            <a:r>
              <a:rPr/>
              <a:t> fait votre copie une fois ; </a:t>
            </a:r>
            <a:r>
              <a:rPr>
                <a:latin typeface="Courier"/>
              </a:rPr>
              <a:t>git push</a:t>
            </a:r>
            <a:r>
              <a:rPr/>
              <a:t> envoie vos nouveaux commits ; </a:t>
            </a:r>
            <a:r>
              <a:rPr>
                <a:latin typeface="Courier"/>
              </a:rPr>
              <a:t>git pull</a:t>
            </a:r>
            <a:r>
              <a:rPr/>
              <a:t> récupère les commits des autres et les fusionne dans les vôtres. GitHub ajoute ce que git n’a pas : une page web pour le projet, des tickets pour suivre les bugs, demandes d’extraction pour examiner une modification avant sa fusion. Le matériel de cours y réside. Deux personnes éditant les mêmes lignes produisent un conflit : git marque les deux versions dans le fichier, vous choisissez, puis validez. C’est un événement normal, pas une erreur.</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boucle de collaboration quotidienne : tirez avant de commencer, poussez lorsque vous avez terminé. Authentification : GitHub n’accepte plus votre mot de passe sur la ligne de commande. Utiliser un SSH key (</a:t>
            </a:r>
            <a:r>
              <a:rPr>
                <a:latin typeface="Courier"/>
              </a:rPr>
              <a:t>ssh-keygen</a:t>
            </a:r>
            <a:r>
              <a:rPr/>
              <a:t>, puis collez la clé publique dans les paramètres GitHub) ou </a:t>
            </a:r>
            <a:r>
              <a:rPr>
                <a:latin typeface="Courier"/>
              </a:rPr>
              <a:t>gh auth login</a:t>
            </a:r>
            <a:r>
              <a:rPr/>
              <a:t>. C’est un bon exercice en soi, et il réutilise </a:t>
            </a:r>
            <a:r>
              <a:rPr>
                <a:latin typeface="Courier"/>
              </a:rPr>
              <a:t>ssh</a:t>
            </a:r>
            <a:r>
              <a:rPr/>
              <a:t> de la première section. Pour un nouveau projet : créez le dépôt vide sur GitHub, puis </a:t>
            </a:r>
            <a:r>
              <a:rPr>
                <a:latin typeface="Courier"/>
              </a:rPr>
              <a:t>git remote add origin &lt;url&gt;</a:t>
            </a:r>
            <a:r>
              <a:rPr/>
              <a:t> and </a:t>
            </a:r>
            <a:r>
              <a:rPr>
                <a:latin typeface="Courier"/>
              </a:rPr>
              <a:t>git push -u origin main</a:t>
            </a:r>
            <a:r>
              <a:rPr/>
              <a:t> depuis votre dossier existant.</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règle des données de santé de cette session. Un commit est éternel : supprimer un fichier ultérieurement commit le laisse dans l’historique, lisible par quiconque clone. Un dossier patient poussé vers un référentiel GitHub public constitue une violation de données au sens du RGPD et doit être signalé. </a:t>
            </a:r>
            <a:r>
              <a:rPr>
                <a:latin typeface="Courier"/>
              </a:rPr>
              <a:t>.gitignore</a:t>
            </a:r>
            <a:r>
              <a:rPr/>
              <a:t> répertorie les modèles que git ne doit jamais suivre : données, secrets, fichiers générés. Écrivez-le en premier, avant le premier </a:t>
            </a:r>
            <a:r>
              <a:rPr>
                <a:latin typeface="Courier"/>
              </a:rPr>
              <a:t>git add .</a:t>
            </a:r>
            <a:r>
              <a:rPr/>
              <a:t>. Le référentiel contient le code qui lit les données et un fichier README indiquant où se trouvent les données. vies et qui peut y accéder. Les données elles-mêmes restent sur le serveur sécurisé.</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latin typeface="Courier"/>
              </a:rPr>
              <a:t>ruff</a:t>
            </a:r>
            <a:r>
              <a:rPr/>
              <a:t> est un formateur </a:t>
            </a:r>
            <a:r>
              <a:rPr i="1"/>
              <a:t>et</a:t>
            </a:r>
            <a:r>
              <a:rPr/>
              <a:t> un linter pour Python, des mêmes personnes que </a:t>
            </a:r>
            <a:r>
              <a:rPr>
                <a:latin typeface="Courier"/>
              </a:rPr>
              <a:t>uv</a:t>
            </a:r>
            <a:r>
              <a:rPr/>
              <a:t>, donc il s’installe de la même manière et s’exécute tout aussi rapidement (un projet entier en moins d’une seconde). Deux métiers, qui méritent d’être séparés dans leur tête : (1) le formateur réécrit la disposition de votre code : indentation, guillemets, sauts de ligne, espaces autour des opérateurs. Cela ne change jamais ce que fait le code. (2) le linter lit le code et signale les erreurs : un import inutilisé, une variable attribué et jamais lu, un nom qui n’existe pas. Pourquoi s’embêter dans un projet de données de santé ? Parce qu’une différence devrait montrer ce que vous avez modifié, pas qui l’a reformaté. Avec un formateur, </a:t>
            </a:r>
            <a:r>
              <a:rPr>
                <a:latin typeface="Courier"/>
              </a:rPr>
              <a:t>git diff</a:t>
            </a:r>
            <a:r>
              <a:rPr/>
              <a:t> ne contient que de vrais changements, et le code la critique cesse d’être un argument sur les espaces. Remarque </a:t>
            </a:r>
            <a:r>
              <a:rPr>
                <a:latin typeface="Courier"/>
              </a:rPr>
              <a:t>uv add --dev ruff</a:t>
            </a:r>
            <a:r>
              <a:rPr/>
              <a:t> : il s’agit d’un outil de développement, pas d’une dépendance de l’analyse, donc il appartient au groupe de développement de </a:t>
            </a:r>
            <a:r>
              <a:rPr>
                <a:latin typeface="Courier"/>
              </a:rPr>
              <a:t>pyproject.toml</a:t>
            </a:r>
            <a:r>
              <a:rPr/>
              <a:t>. Si </a:t>
            </a:r>
            <a:r>
              <a:rPr>
                <a:latin typeface="Courier"/>
              </a:rPr>
              <a:t>ruff</a:t>
            </a:r>
            <a:r>
              <a:rPr/>
              <a:t> n’est pas sur le chemin, exécutez-le via uv : </a:t>
            </a:r>
            <a:r>
              <a:rPr>
                <a:latin typeface="Courier"/>
              </a:rPr>
              <a:t>uv run ruff --version</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Trois commandes à retenir, et la différence entre elles est tout l’intérêt. </a:t>
            </a:r>
            <a:r>
              <a:rPr>
                <a:latin typeface="Courier"/>
              </a:rPr>
              <a:t>ruff format &lt;path&gt;</a:t>
            </a:r>
            <a:r>
              <a:rPr/>
              <a:t> réécrit le fichier sur place et imprime </a:t>
            </a:r>
            <a:r>
              <a:rPr>
                <a:latin typeface="Courier"/>
              </a:rPr>
              <a:t>1 file reformatted</a:t>
            </a:r>
            <a:r>
              <a:rPr/>
              <a:t>. Un le répertoire (</a:t>
            </a:r>
            <a:r>
              <a:rPr>
                <a:latin typeface="Courier"/>
              </a:rPr>
              <a:t>.</a:t>
            </a:r>
            <a:r>
              <a:rPr/>
              <a:t> est celui actuel) signifie chaque </a:t>
            </a:r>
            <a:r>
              <a:rPr>
                <a:latin typeface="Courier"/>
              </a:rPr>
              <a:t>.py</a:t>
            </a:r>
            <a:r>
              <a:rPr/>
              <a:t> fichier en dessous ; fichiers répertoriés dans </a:t>
            </a:r>
            <a:r>
              <a:rPr>
                <a:latin typeface="Courier"/>
              </a:rPr>
              <a:t>.gitignore</a:t>
            </a:r>
            <a:r>
              <a:rPr/>
              <a:t> sont ignorés, donc </a:t>
            </a:r>
            <a:r>
              <a:rPr>
                <a:latin typeface="Courier"/>
              </a:rPr>
              <a:t>.venv/</a:t>
            </a:r>
            <a:r>
              <a:rPr/>
              <a:t> n’est pas touché. </a:t>
            </a:r>
            <a:r>
              <a:rPr>
                <a:latin typeface="Courier"/>
              </a:rPr>
              <a:t>--check</a:t>
            </a:r>
            <a:r>
              <a:rPr/>
              <a:t> est la version en lecture seule : elle répertorie les fichiers qui </a:t>
            </a:r>
            <a:r>
              <a:rPr i="1"/>
              <a:t>seraient</a:t>
            </a:r>
            <a:r>
              <a:rPr/>
              <a:t> modifiés et se termine avec un statut non nul s’il y en a. C’est exactement ce que vous mettez dans une vérification pull-request ou un git hook : il échoue la construction au lieu de modifier silencieusement le code de l’auteur. </a:t>
            </a:r>
            <a:r>
              <a:rPr>
                <a:latin typeface="Courier"/>
              </a:rPr>
              <a:t>ruff check</a:t>
            </a:r>
            <a:r>
              <a:rPr/>
              <a:t> est le linter, une commande différente de </a:t>
            </a:r>
            <a:r>
              <a:rPr>
                <a:latin typeface="Courier"/>
              </a:rPr>
              <a:t>format</a:t>
            </a:r>
            <a:r>
              <a:rPr/>
              <a:t> ; </a:t>
            </a:r>
            <a:r>
              <a:rPr>
                <a:latin typeface="Courier"/>
              </a:rPr>
              <a:t>--fix</a:t>
            </a:r>
            <a:r>
              <a:rPr/>
              <a:t> s’applique uniquement au les services correctionnels que Ruff considère comme sûrs. Conseil pratique : lancez </a:t>
            </a:r>
            <a:r>
              <a:rPr>
                <a:latin typeface="Courier"/>
              </a:rPr>
              <a:t>ruff format .</a:t>
            </a:r>
            <a:r>
              <a:rPr/>
              <a:t> une fois au début d’un projet, validez-le comme “format avec collerette” seul, et à partir de là, chaque différence reste petite. Le faire dans le au milieu d’une branche de fonctionnalité produit un commit de 400 lignes qui cache la seule ligne qui compte. Démonstration en direct le </a:t>
            </a:r>
            <a:r>
              <a:rPr>
                <a:latin typeface="Courier"/>
              </a:rPr>
              <a:t>clean.py</a:t>
            </a:r>
            <a:r>
              <a:rPr/>
              <a:t> depuis le notebook : </a:t>
            </a:r>
            <a:r>
              <a:rPr>
                <a:latin typeface="Courier"/>
              </a:rPr>
              <a:t>ruff format --check clean.py</a:t>
            </a:r>
            <a:r>
              <a:rPr/>
              <a:t>, puis </a:t>
            </a:r>
            <a:r>
              <a:rPr>
                <a:latin typeface="Courier"/>
              </a:rPr>
              <a:t>ruff format clean.py</a:t>
            </a:r>
            <a:r>
              <a:rPr/>
              <a:t>, puis </a:t>
            </a:r>
            <a:r>
              <a:rPr>
                <a:latin typeface="Courier"/>
              </a:rPr>
              <a:t>git diff</a:t>
            </a:r>
            <a:r>
              <a:rPr/>
              <a: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Deux vraies découvertes sur sept lignes, et elles ne sont pas également sûres à réparer. </a:t>
            </a:r>
            <a:r>
              <a:rPr>
                <a:latin typeface="Courier"/>
              </a:rPr>
              <a:t>F401 os imported but unused</a:t>
            </a:r>
            <a:r>
              <a:rPr/>
              <a:t> : l’import ne fait rien, donc la suppression de la ligne ne peut pas changer le résultat. Marques de collerette qui corrigent </a:t>
            </a:r>
            <a:r>
              <a:rPr b="1"/>
              <a:t>safe</a:t>
            </a:r>
            <a:r>
              <a:rPr/>
              <a:t> et </a:t>
            </a:r>
            <a:r>
              <a:rPr>
                <a:latin typeface="Courier"/>
              </a:rPr>
              <a:t>ruff check --fix vitals.py</a:t>
            </a:r>
            <a:r>
              <a:rPr/>
              <a:t> le supprime pour vous (et trie les importations restantes, </a:t>
            </a:r>
            <a:r>
              <a:rPr>
                <a:latin typeface="Courier"/>
              </a:rPr>
              <a:t>I001</a:t>
            </a:r>
            <a:r>
              <a:rPr/>
              <a:t>). </a:t>
            </a:r>
            <a:r>
              <a:rPr>
                <a:latin typeface="Courier"/>
              </a:rPr>
              <a:t>F841 local variable n is assigned to but never used</a:t>
            </a:r>
            <a:r>
              <a:rPr/>
              <a:t> : ici, la solution de Ruff consiste à laisser tomber le </a:t>
            </a:r>
            <a:r>
              <a:rPr>
                <a:latin typeface="Courier"/>
              </a:rPr>
              <a:t>n =</a:t>
            </a:r>
            <a:r>
              <a:rPr/>
              <a:t> et gardez l’appel, </a:t>
            </a:r>
            <a:r>
              <a:rPr>
                <a:latin typeface="Courier"/>
              </a:rPr>
              <a:t>len(df)</a:t>
            </a:r>
            <a:r>
              <a:rPr/>
              <a:t>. Cela le marque </a:t>
            </a:r>
            <a:r>
              <a:rPr b="1"/>
              <a:t>dangereux</a:t>
            </a:r>
            <a:r>
              <a:rPr/>
              <a:t>, car le côté droit pourrait faire quelque chose : </a:t>
            </a:r>
            <a:r>
              <a:rPr>
                <a:latin typeface="Courier"/>
              </a:rPr>
              <a:t>n = log_access(patient_id)</a:t>
            </a:r>
            <a:r>
              <a:rPr/>
              <a:t> serait toujours appelé, mais </a:t>
            </a:r>
            <a:r>
              <a:rPr>
                <a:latin typeface="Courier"/>
              </a:rPr>
              <a:t>n = df.pop("hr")</a:t>
            </a:r>
            <a:r>
              <a:rPr/>
              <a:t> modifie </a:t>
            </a:r>
            <a:r>
              <a:rPr>
                <a:latin typeface="Courier"/>
              </a:rPr>
              <a:t>df</a:t>
            </a:r>
            <a:r>
              <a:rPr/>
              <a:t>, et supprimer toute la ligne modifierait le résultat. Ruff refuse de deviner. Donc </a:t>
            </a:r>
            <a:r>
              <a:rPr>
                <a:latin typeface="Courier"/>
              </a:rPr>
              <a:t>--fix</a:t>
            </a:r>
            <a:r>
              <a:rPr/>
              <a:t> le laisse tranquille et vous dit qu’un </a:t>
            </a:r>
            <a:r>
              <a:rPr>
                <a:latin typeface="Courier"/>
              </a:rPr>
              <a:t>--unsafe-fixes</a:t>
            </a:r>
            <a:r>
              <a:rPr/>
              <a:t> est disponible; vous ne l’obtenez qu’avec </a:t>
            </a:r>
            <a:r>
              <a:rPr>
                <a:latin typeface="Courier"/>
              </a:rPr>
              <a:t>ruff check --fix --unsafe-fixes .</a:t>
            </a:r>
            <a:r>
              <a:rPr/>
              <a:t>, et puis vous lisez le diff avant de s’engager. La règle pour la salle : </a:t>
            </a:r>
            <a:r>
              <a:rPr>
                <a:latin typeface="Courier"/>
              </a:rPr>
              <a:t>--fix</a:t>
            </a:r>
            <a:r>
              <a:rPr/>
              <a:t> peut fonctionner sans surveillance, même dans un crochet. </a:t>
            </a:r>
            <a:r>
              <a:rPr>
                <a:latin typeface="Courier"/>
              </a:rPr>
              <a:t>--unsafe-fixes</a:t>
            </a:r>
            <a:r>
              <a:rPr/>
              <a:t> est quelque chose que vous exécutez vous-même, sur un arbre de travail propre, et vérifiez avec </a:t>
            </a:r>
            <a:r>
              <a:rPr>
                <a:latin typeface="Courier"/>
              </a:rPr>
              <a:t>git diff</a:t>
            </a:r>
            <a:r>
              <a:rPr/>
              <a:t>. Notez également que F841 est souvent un vrai bug, pas un désordre : la variable que vous avez calculée et oubliée pour revenir, ou une faute de frappe où vous avez attribué </a:t>
            </a:r>
            <a:r>
              <a:rPr>
                <a:latin typeface="Courier"/>
              </a:rPr>
              <a:t>mena</a:t>
            </a:r>
            <a:r>
              <a:rPr/>
              <a:t> et utilisé </a:t>
            </a:r>
            <a:r>
              <a:rPr>
                <a:latin typeface="Courier"/>
              </a:rPr>
              <a:t>mean</a:t>
            </a:r>
            <a:r>
              <a:rPr/>
              <a:t>. Ne supprimez pas automatiquement le preuve, lisez-la.</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Séance 3</a:t>
            </a:r>
            <a:br/>
            <a:r>
              <a:rPr/>
              <a:t>La ligne de commande</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Santé numérique, Mastère Spécialisé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Semaine 1, cours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Pourquoi utiliser un terminal ?</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 plupart des ordinateurs n’ont pas d’écran</a:t>
            </a:r>
          </a:p>
        </p:txBody>
      </p:sp>
      <p:pic>
        <p:nvPicPr>
          <p:cNvPr descr="img/datacenter.jp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Terminal, shell, programme, noyau</a:t>
            </a:r>
          </a:p>
        </p:txBody>
      </p:sp>
      <p:pic>
        <p:nvPicPr>
          <p:cNvPr descr="img/terminal_shel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L’anatomie d’une commande</a:t>
            </a:r>
          </a:p>
        </p:txBody>
      </p:sp>
      <p:pic>
        <p:nvPicPr>
          <p:cNvPr descr="img/anatom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Se déplacer et déplacer des données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 système de fichiers est un seul arbre</a:t>
            </a:r>
          </a:p>
        </p:txBody>
      </p:sp>
      <p:pic>
        <p:nvPicPr>
          <p:cNvPr descr="img/filesyste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Cinq commandes les plus utiles</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where am I</a:t>
            </a:r>
            <a:br/>
            <a:r>
              <a:rPr>
                <a:latin typeface="Courier"/>
              </a:rPr>
              <a:t>$ pwd</a:t>
            </a:r>
            <a:br/>
            <a:r>
              <a:rPr i="1">
                <a:solidFill>
                  <a:srgbClr val="60A0B0"/>
                </a:solidFill>
                <a:latin typeface="Courier"/>
              </a:rPr>
              <a:t># go there  (cd .. to parent directory)</a:t>
            </a:r>
            <a:br/>
            <a:r>
              <a:rPr>
                <a:latin typeface="Courier"/>
              </a:rPr>
              <a:t>$ cd data/ecg</a:t>
            </a:r>
            <a:br/>
            <a:r>
              <a:rPr i="1">
                <a:solidFill>
                  <a:srgbClr val="60A0B0"/>
                </a:solidFill>
                <a:latin typeface="Courier"/>
              </a:rPr>
              <a:t># list files</a:t>
            </a:r>
            <a:br/>
            <a:r>
              <a:rPr>
                <a:latin typeface="Courier"/>
              </a:rPr>
              <a:t>$ ls </a:t>
            </a:r>
            <a:r>
              <a:rPr>
                <a:solidFill>
                  <a:srgbClr val="7D9029"/>
                </a:solidFill>
                <a:latin typeface="Courier"/>
              </a:rPr>
              <a:t>-lh</a:t>
            </a:r>
            <a:br/>
            <a:r>
              <a:rPr i="1">
                <a:solidFill>
                  <a:srgbClr val="60A0B0"/>
                </a:solidFill>
                <a:latin typeface="Courier"/>
              </a:rPr>
              <a:t># create a folder</a:t>
            </a:r>
            <a:br/>
            <a:r>
              <a:rPr>
                <a:latin typeface="Courier"/>
              </a:rPr>
              <a:t>$ mkdir </a:t>
            </a:r>
            <a:r>
              <a:rPr>
                <a:solidFill>
                  <a:srgbClr val="7D9029"/>
                </a:solidFill>
                <a:latin typeface="Courier"/>
              </a:rPr>
              <a:t>-p</a:t>
            </a:r>
            <a:r>
              <a:rPr>
                <a:latin typeface="Courier"/>
              </a:rPr>
              <a:t> results/2026</a:t>
            </a:r>
            <a:br/>
            <a:r>
              <a:rPr i="1">
                <a:solidFill>
                  <a:srgbClr val="60A0B0"/>
                </a:solidFill>
                <a:latin typeface="Courier"/>
              </a:rPr>
              <a:t># copy</a:t>
            </a:r>
            <a:br/>
            <a:r>
              <a:rPr>
                <a:latin typeface="Courier"/>
              </a:rPr>
              <a:t>$ cp a.csv backup_a.csv</a:t>
            </a:r>
            <a:br/>
            <a:r>
              <a:rPr i="1">
                <a:solidFill>
                  <a:srgbClr val="60A0B0"/>
                </a:solidFill>
                <a:latin typeface="Courier"/>
              </a:rPr>
              <a:t># move / rename</a:t>
            </a:r>
            <a:br/>
            <a:r>
              <a:rPr>
                <a:latin typeface="Courier"/>
              </a:rPr>
              <a:t>$ mv a.csv new_a.csv</a:t>
            </a:r>
            <a:br/>
            <a:r>
              <a:rPr i="1">
                <a:solidFill>
                  <a:srgbClr val="60A0B0"/>
                </a:solidFill>
                <a:latin typeface="Courier"/>
              </a:rPr>
              <a:t># delete</a:t>
            </a:r>
            <a:br/>
            <a:r>
              <a:rPr>
                <a:latin typeface="Courier"/>
              </a:rPr>
              <a:t>$ rm new_a.csv</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Texte entrant, texte sortant</a:t>
            </a:r>
          </a:p>
        </p:txBody>
      </p:sp>
      <p:pic>
        <p:nvPicPr>
          <p:cNvPr descr="img/pipelin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Plus de commandes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normAutofit/>
                    </a:bodyPr>
                    <a:lstStyle/>
                    <a:p>
                      <a:pPr lvl="0" indent="0" marL="0">
                        <a:buNone/>
                      </a:pPr>
                      <a:r>
                        <a:rPr/>
                        <a:t>Commande</a:t>
                      </a:r>
                    </a:p>
                  </a:txBody>
                  <a:tcPr/>
                </a:tc>
                <a:tc>
                  <a:txBody>
                    <a:bodyPr>
                      <a:normAutofit/>
                    </a:bodyPr>
                    <a:lstStyle/>
                    <a:p>
                      <a:pPr lvl="0" indent="0" marL="0">
                        <a:buNone/>
                      </a:pPr>
                      <a:r>
                        <a:rPr/>
                        <a:t>Est-ce que</a:t>
                      </a:r>
                    </a:p>
                  </a:txBody>
                  <a:tcPr/>
                </a:tc>
              </a:tr>
              <a:tr h="0">
                <a:tc>
                  <a:txBody>
                    <a:bodyPr>
                      <a:normAutofit/>
                    </a:bodyPr>
                    <a:lstStyle/>
                    <a:p>
                      <a:pPr lvl="0" indent="0" marL="0">
                        <a:buNone/>
                      </a:pPr>
                      <a:r>
                        <a:rPr>
                          <a:latin typeface="Courier"/>
                        </a:rPr>
                        <a:t>cat</a:t>
                      </a:r>
                      <a:r>
                        <a:rPr/>
                        <a:t> / </a:t>
                      </a:r>
                      <a:r>
                        <a:rPr>
                          <a:latin typeface="Courier"/>
                        </a:rPr>
                        <a:t>head</a:t>
                      </a:r>
                      <a:r>
                        <a:rPr/>
                        <a:t> / </a:t>
                      </a:r>
                      <a:r>
                        <a:rPr>
                          <a:latin typeface="Courier"/>
                        </a:rPr>
                        <a:t>tail</a:t>
                      </a:r>
                    </a:p>
                  </a:txBody>
                </a:tc>
                <a:tc>
                  <a:txBody>
                    <a:bodyPr>
                      <a:normAutofit/>
                    </a:bodyPr>
                    <a:lstStyle/>
                    <a:p>
                      <a:pPr lvl="0" indent="0" marL="0">
                        <a:buNone/>
                      </a:pPr>
                      <a:r>
                        <a:rPr/>
                        <a:t>imprimer un fichier, ses premières, ses dernières lignes</a:t>
                      </a:r>
                    </a:p>
                  </a:txBody>
                </a:tc>
              </a:tr>
              <a:tr h="0">
                <a:tc>
                  <a:txBody>
                    <a:bodyPr>
                      <a:normAutofit/>
                    </a:bodyPr>
                    <a:lstStyle/>
                    <a:p>
                      <a:pPr lvl="0" indent="0" marL="0">
                        <a:buNone/>
                      </a:pPr>
                      <a:r>
                        <a:rPr>
                          <a:latin typeface="Courier"/>
                        </a:rPr>
                        <a:t>wc -l</a:t>
                      </a:r>
                    </a:p>
                  </a:txBody>
                </a:tc>
                <a:tc>
                  <a:txBody>
                    <a:bodyPr>
                      <a:normAutofit/>
                    </a:bodyPr>
                    <a:lstStyle/>
                    <a:p>
                      <a:pPr lvl="0" indent="0" marL="0">
                        <a:buNone/>
                      </a:pPr>
                      <a:r>
                        <a:rPr/>
                        <a:t>compter les lignes (lignes dans un CSV)</a:t>
                      </a:r>
                    </a:p>
                  </a:txBody>
                </a:tc>
              </a:tr>
              <a:tr h="0">
                <a:tc>
                  <a:txBody>
                    <a:bodyPr>
                      <a:normAutofit/>
                    </a:bodyPr>
                    <a:lstStyle/>
                    <a:p>
                      <a:pPr lvl="0" indent="0" marL="0">
                        <a:buNone/>
                      </a:pPr>
                      <a:r>
                        <a:rPr>
                          <a:latin typeface="Courier"/>
                        </a:rPr>
                        <a:t>grep 'ICU'</a:t>
                      </a:r>
                    </a:p>
                  </a:txBody>
                </a:tc>
                <a:tc>
                  <a:txBody>
                    <a:bodyPr>
                      <a:normAutofit/>
                    </a:bodyPr>
                    <a:lstStyle/>
                    <a:p>
                      <a:pPr lvl="0" indent="0" marL="0">
                        <a:buNone/>
                      </a:pPr>
                      <a:r>
                        <a:rPr/>
                        <a:t>garder les lignes qui correspondent</a:t>
                      </a:r>
                    </a:p>
                  </a:txBody>
                </a:tc>
              </a:tr>
              <a:tr h="0">
                <a:tc>
                  <a:txBody>
                    <a:bodyPr>
                      <a:normAutofit/>
                    </a:bodyPr>
                    <a:lstStyle/>
                    <a:p>
                      <a:pPr lvl="0" indent="0" marL="0">
                        <a:buNone/>
                      </a:pPr>
                      <a:r>
                        <a:rPr>
                          <a:latin typeface="Courier"/>
                        </a:rPr>
                        <a:t>cut -d, -f2</a:t>
                      </a:r>
                    </a:p>
                  </a:txBody>
                </a:tc>
                <a:tc>
                  <a:txBody>
                    <a:bodyPr>
                      <a:normAutofit/>
                    </a:bodyPr>
                    <a:lstStyle/>
                    <a:p>
                      <a:pPr lvl="0" indent="0" marL="0">
                        <a:buNone/>
                      </a:pPr>
                      <a:r>
                        <a:rPr/>
                        <a:t>garder une colonne</a:t>
                      </a:r>
                    </a:p>
                  </a:txBody>
                </a:tc>
              </a:tr>
              <a:tr h="0">
                <a:tc>
                  <a:txBody>
                    <a:bodyPr>
                      <a:normAutofit/>
                    </a:bodyPr>
                    <a:lstStyle/>
                    <a:p>
                      <a:pPr lvl="0" indent="0" marL="0">
                        <a:buNone/>
                      </a:pPr>
                      <a:r>
                        <a:rPr>
                          <a:latin typeface="Courier"/>
                        </a:rPr>
                        <a:t>sort</a:t>
                      </a:r>
                      <a:r>
                        <a:rPr/>
                        <a:t> / </a:t>
                      </a:r>
                      <a:r>
                        <a:rPr>
                          <a:latin typeface="Courier"/>
                        </a:rPr>
                        <a:t>uniq -c</a:t>
                      </a:r>
                    </a:p>
                  </a:txBody>
                </a:tc>
                <a:tc>
                  <a:txBody>
                    <a:bodyPr>
                      <a:normAutofit/>
                    </a:bodyPr>
                    <a:lstStyle/>
                    <a:p>
                      <a:pPr lvl="0" indent="0" marL="0">
                        <a:buNone/>
                      </a:pPr>
                      <a:r>
                        <a:rPr/>
                        <a:t>commander et compter les répétitions</a:t>
                      </a:r>
                    </a:p>
                  </a:txBody>
                </a:tc>
              </a:tr>
              <a:tr h="0">
                <a:tc>
                  <a:txBody>
                    <a:bodyPr>
                      <a:normAutofit/>
                    </a:bodyPr>
                    <a:lstStyle/>
                    <a:p>
                      <a:pPr lvl="0" indent="0" marL="0">
                        <a:buNone/>
                      </a:pPr>
                      <a:r>
                        <a:rPr>
                          <a:latin typeface="Courier"/>
                        </a:rPr>
                        <a:t>find . -name '*.csv'</a:t>
                      </a:r>
                    </a:p>
                  </a:txBody>
                </a:tc>
                <a:tc>
                  <a:txBody>
                    <a:bodyPr>
                      <a:normAutofit/>
                    </a:bodyPr>
                    <a:lstStyle/>
                    <a:p>
                      <a:pPr lvl="0" indent="0" marL="0">
                        <a:buNone/>
                      </a:pPr>
                      <a:r>
                        <a:rPr/>
                        <a:t>lister les fichiers correspondant à un modèle, de manière récursive</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Contrôle de version</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Quel fichier est le dernier ?</a:t>
            </a:r>
          </a:p>
        </p:txBody>
      </p:sp>
      <p:pic>
        <p:nvPicPr>
          <p:cNvPr descr="img/git_wh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Création d’un instantané</a:t>
            </a:r>
          </a:p>
        </p:txBody>
      </p:sp>
      <p:pic>
        <p:nvPicPr>
          <p:cNvPr descr="img/git_area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Boucle quotidienne</a:t>
            </a:r>
          </a:p>
        </p:txBody>
      </p:sp>
      <p:sp>
        <p:nvSpPr>
          <p:cNvPr id="3" name="Content Placeholder 2"/>
          <p:cNvSpPr>
            <a:spLocks noGrp="1"/>
          </p:cNvSpPr>
          <p:nvPr>
            <p:ph idx="1"/>
          </p:nvPr>
        </p:nvSpPr>
        <p:spPr/>
        <p:txBody>
          <a:bodyPr>
            <a:normAutofit/>
          </a:bodyPr>
          <a:lstStyle/>
          <a:p>
            <a:pPr lvl="0" indent="0">
              <a:buNone/>
            </a:pPr>
            <a:r>
              <a:rPr>
                <a:latin typeface="Courier"/>
              </a:rPr>
              <a:t>$ git init</a:t>
            </a:r>
            <a:br/>
            <a:r>
              <a:rPr>
                <a:latin typeface="Courier"/>
              </a:rPr>
              <a:t>$ git status</a:t>
            </a:r>
            <a:br/>
            <a:r>
              <a:rPr>
                <a:latin typeface="Courier"/>
              </a:rPr>
              <a:t>$ git diff</a:t>
            </a:r>
            <a:br/>
            <a:r>
              <a:rPr>
                <a:latin typeface="Courier"/>
              </a:rPr>
              <a:t>$ git add clean.py</a:t>
            </a:r>
            <a:br/>
            <a:r>
              <a:rPr>
                <a:latin typeface="Courier"/>
              </a:rPr>
              <a:t>$ git commit </a:t>
            </a:r>
            <a:r>
              <a:rPr>
                <a:solidFill>
                  <a:srgbClr val="7D9029"/>
                </a:solidFill>
                <a:latin typeface="Courier"/>
              </a:rPr>
              <a:t>-m</a:t>
            </a:r>
            <a:r>
              <a:rPr>
                <a:latin typeface="Courier"/>
              </a:rPr>
              <a:t> </a:t>
            </a:r>
            <a:r>
              <a:rPr>
                <a:solidFill>
                  <a:srgbClr val="4070A0"/>
                </a:solidFill>
                <a:latin typeface="Courier"/>
              </a:rPr>
              <a:t>"Drop rows without age"</a:t>
            </a:r>
            <a:br/>
            <a:r>
              <a:rPr>
                <a:latin typeface="Courier"/>
              </a:rPr>
              <a:t>$ git log</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Histoire et succursales</a:t>
            </a:r>
          </a:p>
        </p:txBody>
      </p:sp>
      <p:pic>
        <p:nvPicPr>
          <p:cNvPr descr="img/git_histo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Local et distant</a:t>
            </a:r>
          </a:p>
        </p:txBody>
      </p:sp>
      <p:pic>
        <p:nvPicPr>
          <p:cNvPr descr="img/git_remot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Travailler avec GitHub</a:t>
            </a:r>
          </a:p>
        </p:txBody>
      </p:sp>
      <p:sp>
        <p:nvSpPr>
          <p:cNvPr id="3" name="Content Placeholder 2"/>
          <p:cNvSpPr>
            <a:spLocks noGrp="1"/>
          </p:cNvSpPr>
          <p:nvPr>
            <p:ph idx="1"/>
          </p:nvPr>
        </p:nvSpPr>
        <p:spPr/>
        <p:txBody>
          <a:bodyPr>
            <a:normAutofit/>
          </a:bodyPr>
          <a:lstStyle/>
          <a:p>
            <a:pPr lvl="0" indent="0">
              <a:buNone/>
            </a:pPr>
            <a:r>
              <a:rPr>
                <a:latin typeface="Courier"/>
              </a:rPr>
              <a:t>$ git clone https://github.com/org/repo</a:t>
            </a:r>
            <a:br/>
            <a:r>
              <a:rPr>
                <a:latin typeface="Courier"/>
              </a:rPr>
              <a:t>$ cd repo</a:t>
            </a:r>
            <a:br/>
            <a:br/>
            <a:r>
              <a:rPr i="1">
                <a:solidFill>
                  <a:srgbClr val="60A0B0"/>
                </a:solidFill>
                <a:latin typeface="Courier"/>
              </a:rPr>
              <a:t># ... edit, add, commit ...</a:t>
            </a:r>
            <a:br/>
            <a:br/>
            <a:r>
              <a:rPr i="1">
                <a:solidFill>
                  <a:srgbClr val="60A0B0"/>
                </a:solidFill>
                <a:latin typeface="Courier"/>
              </a:rPr>
              <a:t># get the others' work</a:t>
            </a:r>
            <a:br/>
            <a:r>
              <a:rPr>
                <a:latin typeface="Courier"/>
              </a:rPr>
              <a:t>$ git pull</a:t>
            </a:r>
            <a:br/>
            <a:r>
              <a:rPr i="1">
                <a:solidFill>
                  <a:srgbClr val="60A0B0"/>
                </a:solidFill>
                <a:latin typeface="Courier"/>
              </a:rPr>
              <a:t># publish yours</a:t>
            </a:r>
            <a:br/>
            <a:r>
              <a:rPr>
                <a:latin typeface="Courier"/>
              </a:rPr>
              <a:t>$ git push</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Ce qu’il faut ignorer</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.gitignore</a:t>
            </a:r>
            <a:br/>
            <a:r>
              <a:rPr>
                <a:latin typeface="Courier"/>
              </a:rPr>
              <a:t>data/          </a:t>
            </a:r>
            <a:r>
              <a:rPr i="1">
                <a:solidFill>
                  <a:srgbClr val="60A0B0"/>
                </a:solidFill>
                <a:latin typeface="Courier"/>
              </a:rPr>
              <a:t># patient data</a:t>
            </a:r>
            <a:br/>
            <a:r>
              <a:rPr>
                <a:latin typeface="Courier"/>
              </a:rPr>
              <a:t>*.csv</a:t>
            </a:r>
            <a:br/>
            <a:r>
              <a:rPr>
                <a:latin typeface="Courier"/>
              </a:rPr>
              <a:t>.env           </a:t>
            </a:r>
            <a:r>
              <a:rPr i="1">
                <a:solidFill>
                  <a:srgbClr val="60A0B0"/>
                </a:solidFill>
                <a:latin typeface="Courier"/>
              </a:rPr>
              <a:t># passwords, API keys</a:t>
            </a:r>
            <a:br/>
            <a:r>
              <a:rPr>
                <a:latin typeface="Courier"/>
              </a:rPr>
              <a:t>.venv/         </a:t>
            </a:r>
            <a:r>
              <a:rPr i="1">
                <a:solidFill>
                  <a:srgbClr val="60A0B0"/>
                </a:solidFill>
                <a:latin typeface="Courier"/>
              </a:rPr>
              <a:t># re-created by uv sync</a:t>
            </a:r>
            <a:br/>
            <a:r>
              <a:rPr>
                <a:latin typeface="Courier"/>
              </a:rPr>
              <a:t>__pycache__/</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4. Garder le code lisible : ruff</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 style, décidé par un outil</a:t>
            </a:r>
          </a:p>
        </p:txBody>
      </p:sp>
      <p:sp>
        <p:nvSpPr>
          <p:cNvPr id="3" name="Content Placeholder 2"/>
          <p:cNvSpPr>
            <a:spLocks noGrp="1"/>
          </p:cNvSpPr>
          <p:nvPr>
            <p:ph idx="1"/>
          </p:nvPr>
        </p:nvSpPr>
        <p:spPr/>
        <p:txBody>
          <a:bodyPr>
            <a:normAutofit/>
          </a:bodyPr>
          <a:lstStyle/>
          <a:p>
            <a:pPr lvl="0" indent="0">
              <a:buNone/>
            </a:pPr>
            <a:r>
              <a:rPr>
                <a:latin typeface="Courier"/>
              </a:rPr>
              <a:t>$ uv venv</a:t>
            </a:r>
            <a:br/>
            <a:r>
              <a:rPr i="1">
                <a:solidFill>
                  <a:srgbClr val="60A0B0"/>
                </a:solidFill>
                <a:latin typeface="Courier"/>
              </a:rPr>
              <a:t># create .venv</a:t>
            </a:r>
            <a:br/>
            <a:r>
              <a:rPr>
                <a:latin typeface="Courier"/>
              </a:rPr>
              <a:t>$ source .venv/bin/activate </a:t>
            </a:r>
            <a:r>
              <a:rPr i="1">
                <a:solidFill>
                  <a:srgbClr val="60A0B0"/>
                </a:solidFill>
                <a:latin typeface="Courier"/>
              </a:rPr>
              <a:t># unix</a:t>
            </a:r>
            <a:br/>
            <a:r>
              <a:rPr>
                <a:solidFill>
                  <a:srgbClr val="666666"/>
                </a:solidFill>
                <a:latin typeface="Courier"/>
              </a:rPr>
              <a:t>&gt;</a:t>
            </a:r>
            <a:r>
              <a:rPr>
                <a:latin typeface="Courier"/>
              </a:rPr>
              <a:t> .venv\Scripts\activate </a:t>
            </a:r>
            <a:r>
              <a:rPr i="1">
                <a:solidFill>
                  <a:srgbClr val="60A0B0"/>
                </a:solidFill>
                <a:latin typeface="Courier"/>
              </a:rPr>
              <a:t># windows</a:t>
            </a:r>
            <a:br/>
            <a:br/>
            <a:r>
              <a:rPr>
                <a:latin typeface="Courier"/>
              </a:rPr>
              <a:t>$ uv pip install ruff</a:t>
            </a:r>
            <a:br/>
            <a:r>
              <a:rPr i="1">
                <a:solidFill>
                  <a:srgbClr val="60A0B0"/>
                </a:solidFill>
                <a:latin typeface="Courier"/>
              </a:rPr>
              <a:t># or: uv add --dev ruff</a:t>
            </a:r>
            <a:br/>
            <a:br/>
            <a:r>
              <a:rPr>
                <a:latin typeface="Courier"/>
              </a:rPr>
              <a:t>$ ruff </a:t>
            </a:r>
            <a:r>
              <a:rPr>
                <a:solidFill>
                  <a:srgbClr val="7D9029"/>
                </a:solidFill>
                <a:latin typeface="Courier"/>
              </a:rPr>
              <a:t>--version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Formatez et vérifiez</a:t>
            </a:r>
          </a:p>
        </p:txBody>
      </p:sp>
      <p:sp>
        <p:nvSpPr>
          <p:cNvPr id="3" name="Content Placeholder 2"/>
          <p:cNvSpPr>
            <a:spLocks noGrp="1"/>
          </p:cNvSpPr>
          <p:nvPr>
            <p:ph idx="1"/>
          </p:nvPr>
        </p:nvSpPr>
        <p:spPr/>
        <p:txBody>
          <a:bodyPr>
            <a:normAutofit/>
          </a:bodyPr>
          <a:lstStyle/>
          <a:p>
            <a:pPr lvl="0" indent="0">
              <a:buNone/>
            </a:pPr>
            <a:r>
              <a:rPr i="1">
                <a:solidFill>
                  <a:srgbClr val="60A0B0"/>
                </a:solidFill>
                <a:latin typeface="Courier"/>
              </a:rPr>
              <a:t># format one file</a:t>
            </a:r>
            <a:br/>
            <a:r>
              <a:rPr>
                <a:latin typeface="Courier"/>
              </a:rPr>
              <a:t>$ ruff format clean.py</a:t>
            </a:r>
            <a:br/>
            <a:r>
              <a:rPr i="1">
                <a:solidFill>
                  <a:srgbClr val="60A0B0"/>
                </a:solidFill>
                <a:latin typeface="Courier"/>
              </a:rPr>
              <a:t># format everything, recursively</a:t>
            </a:r>
            <a:br/>
            <a:r>
              <a:rPr>
                <a:latin typeface="Courier"/>
              </a:rPr>
              <a:t>$ ruff format .</a:t>
            </a:r>
            <a:br/>
            <a:br/>
            <a:r>
              <a:rPr i="1">
                <a:solidFill>
                  <a:srgbClr val="60A0B0"/>
                </a:solidFill>
                <a:latin typeface="Courier"/>
              </a:rPr>
              <a:t># report, but change nothing</a:t>
            </a:r>
            <a:br/>
            <a:r>
              <a:rPr>
                <a:latin typeface="Courier"/>
              </a:rPr>
              <a:t>$ ruff format </a:t>
            </a:r>
            <a:r>
              <a:rPr>
                <a:solidFill>
                  <a:srgbClr val="7D9029"/>
                </a:solidFill>
                <a:latin typeface="Courier"/>
              </a:rPr>
              <a:t>--check</a:t>
            </a:r>
            <a:r>
              <a:rPr>
                <a:latin typeface="Courier"/>
              </a:rPr>
              <a:t> .</a:t>
            </a:r>
            <a:br/>
            <a:r>
              <a:rPr i="1">
                <a:solidFill>
                  <a:srgbClr val="60A0B0"/>
                </a:solidFill>
                <a:latin typeface="Courier"/>
              </a:rPr>
              <a:t># lint: find likely mistakes</a:t>
            </a:r>
            <a:br/>
            <a:r>
              <a:rPr>
                <a:latin typeface="Courier"/>
              </a:rPr>
              <a:t>$ ruff check .</a:t>
            </a:r>
            <a:br/>
            <a:r>
              <a:rPr i="1">
                <a:solidFill>
                  <a:srgbClr val="60A0B0"/>
                </a:solidFill>
                <a:latin typeface="Courier"/>
              </a:rPr>
              <a:t># lint, and fix what is safe</a:t>
            </a:r>
            <a:br/>
            <a:r>
              <a:rPr>
                <a:latin typeface="Courier"/>
              </a:rPr>
              <a:t>$ ruff check </a:t>
            </a:r>
            <a:r>
              <a:rPr>
                <a:solidFill>
                  <a:srgbClr val="7D9029"/>
                </a:solidFill>
                <a:latin typeface="Courier"/>
              </a:rPr>
              <a:t>--fix</a:t>
            </a:r>
            <a:r>
              <a:rPr>
                <a:latin typeface="Courier"/>
              </a:rPr>
              <a:t> .</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Un contrôle des peluches, sûr et dangereux</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import</a:t>
            </a:r>
            <a:r>
              <a:rPr>
                <a:latin typeface="Courier"/>
              </a:rPr>
              <a:t> os</a:t>
            </a:r>
            <a:br/>
            <a:r>
              <a:rPr i="1">
                <a:solidFill>
                  <a:srgbClr val="60A0B0"/>
                </a:solidFill>
                <a:latin typeface="Courier"/>
              </a:rPr>
              <a:t># F401 unused import   -&gt; safe fix</a:t>
            </a:r>
            <a:br/>
            <a:r>
              <a:rPr b="1">
                <a:solidFill>
                  <a:srgbClr val="008000"/>
                </a:solidFill>
                <a:latin typeface="Courier"/>
              </a:rPr>
              <a:t>import</a:t>
            </a:r>
            <a:r>
              <a:rPr>
                <a:latin typeface="Courier"/>
              </a:rPr>
              <a:t> pandas </a:t>
            </a:r>
            <a:r>
              <a:rPr b="1">
                <a:solidFill>
                  <a:srgbClr val="008000"/>
                </a:solidFill>
                <a:latin typeface="Courier"/>
              </a:rPr>
              <a:t>as</a:t>
            </a:r>
            <a:r>
              <a:rPr>
                <a:latin typeface="Courier"/>
              </a:rPr>
              <a:t> pd</a:t>
            </a:r>
            <a:br/>
            <a:br/>
            <a:r>
              <a:rPr b="1">
                <a:solidFill>
                  <a:srgbClr val="007020"/>
                </a:solidFill>
                <a:latin typeface="Courier"/>
              </a:rPr>
              <a:t>def</a:t>
            </a:r>
            <a:r>
              <a:rPr>
                <a:latin typeface="Courier"/>
              </a:rPr>
              <a:t> mean_hr(path):</a:t>
            </a:r>
            <a:br/>
            <a:r>
              <a:rPr>
                <a:latin typeface="Courier"/>
              </a:rPr>
              <a:t>    df </a:t>
            </a:r>
            <a:r>
              <a:rPr>
                <a:solidFill>
                  <a:srgbClr val="666666"/>
                </a:solidFill>
                <a:latin typeface="Courier"/>
              </a:rPr>
              <a:t>=</a:t>
            </a:r>
            <a:r>
              <a:rPr>
                <a:latin typeface="Courier"/>
              </a:rPr>
              <a:t> pd.read_csv(path)</a:t>
            </a:r>
            <a:br/>
            <a:r>
              <a:rPr>
                <a:latin typeface="Courier"/>
              </a:rPr>
              <a:t>    n </a:t>
            </a:r>
            <a:r>
              <a:rPr>
                <a:solidFill>
                  <a:srgbClr val="666666"/>
                </a:solidFill>
                <a:latin typeface="Courier"/>
              </a:rPr>
              <a:t>=</a:t>
            </a:r>
            <a:r>
              <a:rPr>
                <a:latin typeface="Courier"/>
              </a:rPr>
              <a:t> </a:t>
            </a:r>
            <a:r>
              <a:rPr>
                <a:solidFill>
                  <a:srgbClr val="008000"/>
                </a:solidFill>
                <a:latin typeface="Courier"/>
              </a:rPr>
              <a:t>len</a:t>
            </a:r>
            <a:r>
              <a:rPr>
                <a:latin typeface="Courier"/>
              </a:rPr>
              <a:t>(df)</a:t>
            </a:r>
            <a:br/>
            <a:r>
              <a:rPr>
                <a:latin typeface="Courier"/>
              </a:rPr>
              <a:t>    </a:t>
            </a:r>
            <a:r>
              <a:rPr i="1">
                <a:solidFill>
                  <a:srgbClr val="60A0B0"/>
                </a:solidFill>
                <a:latin typeface="Courier"/>
              </a:rPr>
              <a:t># F841 unused variable -&gt; unsafe fix</a:t>
            </a:r>
            <a:br/>
            <a:r>
              <a:rPr>
                <a:latin typeface="Courier"/>
              </a:rPr>
              <a:t>    </a:t>
            </a:r>
            <a:r>
              <a:rPr b="1">
                <a:solidFill>
                  <a:srgbClr val="007020"/>
                </a:solidFill>
                <a:latin typeface="Courier"/>
              </a:rPr>
              <a:t>return</a:t>
            </a:r>
            <a:r>
              <a:rPr>
                <a:latin typeface="Courier"/>
              </a:rPr>
              <a:t> df[</a:t>
            </a:r>
            <a:r>
              <a:rPr>
                <a:solidFill>
                  <a:srgbClr val="4070A0"/>
                </a:solidFill>
                <a:latin typeface="Courier"/>
              </a:rPr>
              <a:t>"hr"</a:t>
            </a:r>
            <a:r>
              <a:rPr>
                <a:latin typeface="Courier"/>
              </a:rPr>
              <a:t>].mean()</a:t>
            </a:r>
          </a:p>
          <a:p>
            <a:pPr lvl="0" indent="0">
              <a:buNone/>
            </a:pPr>
            <a:br/>
            <a:r>
              <a:rPr>
                <a:latin typeface="Courier"/>
              </a:rPr>
              <a:t>$ ruff check vitals.py</a:t>
            </a:r>
            <a:br/>
            <a:r>
              <a:rPr i="1">
                <a:solidFill>
                  <a:srgbClr val="60A0B0"/>
                </a:solidFill>
                <a:latin typeface="Courier"/>
              </a:rPr>
              <a:t># Found 2 errors:</a:t>
            </a:r>
            <a:br/>
            <a:r>
              <a:rPr i="1">
                <a:solidFill>
                  <a:srgbClr val="60A0B0"/>
                </a:solidFill>
                <a:latin typeface="Courier"/>
              </a:rPr>
              <a:t># * 1 fixable with `--fix`</a:t>
            </a:r>
            <a:br/>
            <a:r>
              <a:rPr i="1">
                <a:solidFill>
                  <a:srgbClr val="60A0B0"/>
                </a:solidFill>
                <a:latin typeface="Courier"/>
              </a:rPr>
              <a:t># * 1 unsafe fix available with `--fix --unsafe-fixes`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3 La ligne de commande</dc:title>
  <dc:creator>Paul Dubois</dc:creator>
  <cp:keywords/>
  <dcterms:created xsi:type="dcterms:W3CDTF">2026-10-15T21:23:51Z</dcterms:created>
  <dcterms:modified xsi:type="dcterms:W3CDTF">2026-10-15T21:23:51Z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Semaine 1, cours</vt:lpwstr>
  </property>
  <property fmtid="{D5CDD505-2E9C-101B-9397-08002B2CF9AE}" pid="3" name="subtitle">
    <vt:lpwstr>Santé numérique, Mastère Spécialisé · 2026</vt:lpwstr>
  </property>
</Properties>
</file>