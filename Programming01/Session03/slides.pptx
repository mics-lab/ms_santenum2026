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Rows of machines, and not one keyboard, mouse or monitor in the room. This is the NASA Columbia supercomputer, but it is also every hospital server room, every cloud instance, and every compute cluster you will send a job to. Nobody walks in and clicks. You reach these machines over the network (</a:t>
            </a:r>
            <a:r>
              <a:rPr>
                <a:latin typeface="Courier"/>
              </a:rPr>
              <a:t>ssh</a:t>
            </a:r>
            <a:r>
              <a:rPr/>
              <a:t>), and what answers you is a text prompt. The graphical interface is the exception, available on your laptop and almost nowhere else. So the question is not whether the command line is pleasant. It is the only interface these machines have, and that is where the data and the computing power live. Ask the room: where do you think the imaging archive of a hospital actually sits?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words students use as synonyms for a fortnight. Fixing this early saves a lot of confusion later: “the terminal crashed” and “the shell is bash” and “ls is a program” are three different statements. Emphasise the closing line. Everything that follows (variables, loops, conditionals, functions) is available </a:t>
            </a:r>
            <a:r>
              <a:rPr i="1"/>
              <a:t>because</a:t>
            </a:r>
            <a:r>
              <a:rPr/>
              <a:t> the shell is a language. The prompt is a REPL.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grammar slide; every command in the notebook obeys it. Two traps to name now, because both will bite in the exercises: (1) a space separates arguments, so a filename with a space is two arguments unless it is quoted. Health data exports are full of </a:t>
            </a:r>
            <a:r>
              <a:rPr>
                <a:latin typeface="Courier"/>
              </a:rPr>
              <a:t>Patient Records 2024.csv</a:t>
            </a:r>
            <a:r>
              <a:rPr/>
              <a:t>. (2) flags are case sensitive and not universal: </a:t>
            </a:r>
            <a:r>
              <a:rPr>
                <a:latin typeface="Courier"/>
              </a:rPr>
              <a:t>-h</a:t>
            </a:r>
            <a:r>
              <a:rPr/>
              <a:t> is “help” in some tools and “human readable” in others. There is no committee.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ideas: there is a single root (no </a:t>
            </a:r>
            <a:r>
              <a:rPr>
                <a:latin typeface="Courier"/>
              </a:rPr>
              <a:t>C:</a:t>
            </a:r>
            <a:r>
              <a:rPr/>
              <a:t> drive), and any file has two names (absolute and relative) that point to the same thing. Rule of thumb for their future scripts: absolute paths for data that lives somewhere fixed, relative paths for anything inside the project, so the project can be moved, shared, or run on the cluster untouched.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Type these live, slowly, in a scratch folder. Let them see the prompt change with </a:t>
            </a:r>
            <a:r>
              <a:rPr>
                <a:latin typeface="Courier"/>
              </a:rPr>
              <a:t>cd</a:t>
            </a:r>
            <a:r>
              <a:rPr/>
              <a:t>. Give the </a:t>
            </a:r>
            <a:r>
              <a:rPr>
                <a:latin typeface="Courier"/>
              </a:rPr>
              <a:t>rm</a:t>
            </a:r>
            <a:r>
              <a:rPr/>
              <a:t> warning its own beat. Then give them the habit that actually protects them: run the dangerous thing as </a:t>
            </a:r>
            <a:r>
              <a:rPr>
                <a:latin typeface="Courier"/>
              </a:rPr>
              <a:t>ls</a:t>
            </a:r>
            <a:r>
              <a:rPr/>
              <a:t> first (</a:t>
            </a:r>
            <a:r>
              <a:rPr>
                <a:latin typeface="Courier"/>
              </a:rPr>
              <a:t>ls *.tmp</a:t>
            </a:r>
            <a:r>
              <a:rPr/>
              <a:t>), look at what matched, then swap </a:t>
            </a:r>
            <a:r>
              <a:rPr>
                <a:latin typeface="Courier"/>
              </a:rPr>
              <a:t>ls</a:t>
            </a:r>
            <a:r>
              <a:rPr/>
              <a:t> for </a:t>
            </a:r>
            <a:r>
              <a:rPr>
                <a:latin typeface="Courier"/>
              </a:rPr>
              <a:t>rm</a:t>
            </a:r>
            <a:r>
              <a:rPr/>
              <a:t>. Never trust a glob you have not printed.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whole session, and the reason the tools are all small. Each program does one job and speaks the same currency: lines of text. The pipe is what makes them compose. Build the example one stage at a time on screen, showing the intermediate output after each </a:t>
            </a:r>
            <a:r>
              <a:rPr>
                <a:latin typeface="Courier"/>
              </a:rPr>
              <a:t>|</a:t>
            </a:r>
            <a:r>
              <a:rPr/>
              <a:t>. Students remember the shape once they have watched it narrow. Mention that this is exactly </a:t>
            </a:r>
            <a:r>
              <a:rPr>
                <a:latin typeface="Courier"/>
              </a:rPr>
              <a:t>pandas</a:t>
            </a:r>
            <a:r>
              <a:rPr/>
              <a:t> chaining, ten years older and on files it never has to load into memory.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try to teach these exhaustively (the notebook does that). Here just establish that the toolbox is small, and that each one is a verb you can look up. </a:t>
            </a:r>
            <a:r>
              <a:rPr>
                <a:latin typeface="Courier"/>
              </a:rPr>
              <a:t>sort | uniq -c</a:t>
            </a:r>
            <a:r>
              <a:rPr/>
              <a:t> is the shell’s </a:t>
            </a:r>
            <a:r>
              <a:rPr>
                <a:latin typeface="Courier"/>
              </a:rPr>
              <a:t>value_counts()</a:t>
            </a:r>
            <a:r>
              <a:rPr/>
              <a:t>; say that out loud, it converts anyone who already knows pandas.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Everyone in the room has a folder like the one on the left. It fails exactly when it matters: a reviewer asks which version of the script produced Table 2, and nobody knows. git replaces copies with one file and a history. Each change is recorded with who made it, when, and a message that says why. In a regulated setting (a clinical study, a CE-marked device) this traceability is not a nice-to-have: it is what an audit asks for. git is a command-line program: everything from the first two sections applies.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mental model to get right. You edit files in the working folder as usual. </a:t>
            </a:r>
            <a:r>
              <a:rPr>
                <a:latin typeface="Courier"/>
              </a:rPr>
              <a:t>git add</a:t>
            </a:r>
            <a:r>
              <a:rPr/>
              <a:t> chooses which changes go into the next snapshot (the staging area). </a:t>
            </a:r>
            <a:r>
              <a:rPr>
                <a:latin typeface="Courier"/>
              </a:rPr>
              <a:t>git commit</a:t>
            </a:r>
            <a:r>
              <a:rPr/>
              <a:t> records that snapshot in the repository, the hidden </a:t>
            </a:r>
            <a:r>
              <a:rPr>
                <a:latin typeface="Courier"/>
              </a:rPr>
              <a:t>.git/</a:t>
            </a:r>
            <a:r>
              <a:rPr/>
              <a:t> folder. Why the middle step: you changed three files but only two belong to the same fix. Stage those two, commit, then stage and commit the third with its own message. </a:t>
            </a:r>
            <a:r>
              <a:rPr>
                <a:latin typeface="Courier"/>
              </a:rPr>
              <a:t>git status</a:t>
            </a:r>
            <a:r>
              <a:rPr/>
              <a:t> is the command to type when lost: it says what is in each area, and usually suggests the next command.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 demo in a scratch folder: </a:t>
            </a:r>
            <a:r>
              <a:rPr>
                <a:latin typeface="Courier"/>
              </a:rPr>
              <a:t>git init</a:t>
            </a:r>
            <a:r>
              <a:rPr/>
              <a:t>, create a file, </a:t>
            </a:r>
            <a:r>
              <a:rPr>
                <a:latin typeface="Courier"/>
              </a:rPr>
              <a:t>status</a:t>
            </a:r>
            <a:r>
              <a:rPr/>
              <a:t>, </a:t>
            </a:r>
            <a:r>
              <a:rPr>
                <a:latin typeface="Courier"/>
              </a:rPr>
              <a:t>add</a:t>
            </a:r>
            <a:r>
              <a:rPr/>
              <a:t>, </a:t>
            </a:r>
            <a:r>
              <a:rPr>
                <a:latin typeface="Courier"/>
              </a:rPr>
              <a:t>status</a:t>
            </a:r>
            <a:r>
              <a:rPr/>
              <a:t>, </a:t>
            </a:r>
            <a:r>
              <a:rPr>
                <a:latin typeface="Courier"/>
              </a:rPr>
              <a:t>commit</a:t>
            </a:r>
            <a:r>
              <a:rPr/>
              <a:t>, edit, </a:t>
            </a:r>
            <a:r>
              <a:rPr>
                <a:latin typeface="Courier"/>
              </a:rPr>
              <a:t>diff</a:t>
            </a:r>
            <a:r>
              <a:rPr/>
              <a:t>, commit again, </a:t>
            </a:r>
            <a:r>
              <a:rPr>
                <a:latin typeface="Courier"/>
              </a:rPr>
              <a:t>log</a:t>
            </a:r>
            <a:r>
              <a:rPr/>
              <a:t>. The first time, git asks who you are: </a:t>
            </a:r>
            <a:r>
              <a:rPr>
                <a:latin typeface="Courier"/>
              </a:rPr>
              <a:t>git config --global user.name "..."</a:t>
            </a:r>
            <a:r>
              <a:rPr/>
              <a:t> and </a:t>
            </a:r>
            <a:r>
              <a:rPr>
                <a:latin typeface="Courier"/>
              </a:rPr>
              <a:t>user.email</a:t>
            </a:r>
            <a:r>
              <a:rPr/>
              <a:t>. Every commit carries that name. A good message completes the sentence “this commit will…”: “Drop rows without age”, not “update” or “fix”. One logical change per commit.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commit has an identifier (a hash, shortened to 7 characters) and points to the commit before it: the history is a chain. A branch is just a name on a commit, moving forward as you commit. </a:t>
            </a:r>
            <a:r>
              <a:rPr>
                <a:latin typeface="Courier"/>
              </a:rPr>
              <a:t>git switch -c new-plot</a:t>
            </a:r>
            <a:r>
              <a:rPr/>
              <a:t> starts one: try an idea without touching </a:t>
            </a:r>
            <a:r>
              <a:rPr>
                <a:latin typeface="Courier"/>
              </a:rPr>
              <a:t>main</a:t>
            </a:r>
            <a:r>
              <a:rPr/>
              <a:t>. If it works, </a:t>
            </a:r>
            <a:r>
              <a:rPr>
                <a:latin typeface="Courier"/>
              </a:rPr>
              <a:t>git merge new-plot</a:t>
            </a:r>
            <a:r>
              <a:rPr/>
              <a:t> brings it back; if not, delete the branch and </a:t>
            </a:r>
            <a:r>
              <a:rPr>
                <a:latin typeface="Courier"/>
              </a:rPr>
              <a:t>main</a:t>
            </a:r>
            <a:r>
              <a:rPr/>
              <a:t> never knew. </a:t>
            </a:r>
            <a:r>
              <a:rPr>
                <a:latin typeface="Courier"/>
              </a:rPr>
              <a:t>git switch</a:t>
            </a:r>
            <a:r>
              <a:rPr/>
              <a:t> / </a:t>
            </a:r>
            <a:r>
              <a:rPr>
                <a:latin typeface="Courier"/>
              </a:rPr>
              <a:t>git checkout &lt;hash&gt;</a:t>
            </a:r>
            <a:r>
              <a:rPr/>
              <a:t> moves HEAD, and the files in the folder change to match that snapshot. Nothing is lost: every commit is still there.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git works entirely on your machine: commit on a train, without network. A remote is another copy of the repository, usually on GitHub (or GitLab, or the hospital’s own server). </a:t>
            </a:r>
            <a:r>
              <a:rPr>
                <a:latin typeface="Courier"/>
              </a:rPr>
              <a:t>git clone</a:t>
            </a:r>
            <a:r>
              <a:rPr/>
              <a:t> makes your copy once; </a:t>
            </a:r>
            <a:r>
              <a:rPr>
                <a:latin typeface="Courier"/>
              </a:rPr>
              <a:t>git push</a:t>
            </a:r>
            <a:r>
              <a:rPr/>
              <a:t> sends your new commits; </a:t>
            </a:r>
            <a:r>
              <a:rPr>
                <a:latin typeface="Courier"/>
              </a:rPr>
              <a:t>git pull</a:t>
            </a:r>
            <a:r>
              <a:rPr/>
              <a:t> fetches the others’ commits and merges them into yours. GitHub adds what git does not have: a web page for the project, issues to track bugs, pull requests to review a change before it is merged. The course material lives there. Two people editing the same lines produce a conflict: git marks both versions in the file, you choose, then commit. It is a normal event, not an error.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everyday collaboration loop: pull before starting, push when done. Authentication: GitHub no longer accepts your password on the command line. Use an SSH key (</a:t>
            </a:r>
            <a:r>
              <a:rPr>
                <a:latin typeface="Courier"/>
              </a:rPr>
              <a:t>ssh-keygen</a:t>
            </a:r>
            <a:r>
              <a:rPr/>
              <a:t>, then paste the public key in GitHub settings) or </a:t>
            </a:r>
            <a:r>
              <a:rPr>
                <a:latin typeface="Courier"/>
              </a:rPr>
              <a:t>gh auth login</a:t>
            </a:r>
            <a:r>
              <a:rPr/>
              <a:t>. This is a good exercise in its own right, and it reuses </a:t>
            </a:r>
            <a:r>
              <a:rPr>
                <a:latin typeface="Courier"/>
              </a:rPr>
              <a:t>ssh</a:t>
            </a:r>
            <a:r>
              <a:rPr/>
              <a:t> from the first section. For a new project: create the empty repository on GitHub, then </a:t>
            </a:r>
            <a:r>
              <a:rPr>
                <a:latin typeface="Courier"/>
              </a:rPr>
              <a:t>git remote add origin &lt;url&gt;</a:t>
            </a:r>
            <a:r>
              <a:rPr/>
              <a:t> and </a:t>
            </a:r>
            <a:r>
              <a:rPr>
                <a:latin typeface="Courier"/>
              </a:rPr>
              <a:t>git push -u origin main</a:t>
            </a:r>
            <a:r>
              <a:rPr/>
              <a:t> from your existing folder.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health-data rule of this session. A commit is forever: deleting a file in a later commit leaves it in the history, readable by anyone who clones. A patient file pushed to a public GitHub repository is a data breach under GDPR, and must be reported. </a:t>
            </a:r>
            <a:r>
              <a:rPr>
                <a:latin typeface="Courier"/>
              </a:rPr>
              <a:t>.gitignore</a:t>
            </a:r>
            <a:r>
              <a:rPr/>
              <a:t> lists the patterns git must never track: data, secrets, generated files. Write it first, before the first </a:t>
            </a:r>
            <a:r>
              <a:rPr>
                <a:latin typeface="Courier"/>
              </a:rPr>
              <a:t>git add .</a:t>
            </a:r>
            <a:r>
              <a:rPr/>
              <a:t>. The repository holds the code that reads the data, and a README saying where the data lives and who may access it. The data itself stays on the secured server.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ruff</a:t>
            </a:r>
            <a:r>
              <a:rPr/>
              <a:t> is a formatter </a:t>
            </a:r>
            <a:r>
              <a:rPr i="1"/>
              <a:t>and</a:t>
            </a:r>
            <a:r>
              <a:rPr/>
              <a:t> a linter for Python, from the same people as </a:t>
            </a:r>
            <a:r>
              <a:rPr>
                <a:latin typeface="Courier"/>
              </a:rPr>
              <a:t>uv</a:t>
            </a:r>
            <a:r>
              <a:rPr/>
              <a:t>, so it installs the same way and runs just as fast (a whole project in well under a second). Two jobs, worth separating in their heads: (1) the formatter rewrites the layout of your code: indentation, quotes, line breaks, spaces around operators. It never changes what the code does. (2) the linter reads the code and reports mistakes: an unused import, a variable assigned and never read, a name that does not exist. Why bother in a health-data project? Because a diff should show what you changed, not who reformatted it. With a formatter, </a:t>
            </a:r>
            <a:r>
              <a:rPr>
                <a:latin typeface="Courier"/>
              </a:rPr>
              <a:t>git diff</a:t>
            </a:r>
            <a:r>
              <a:rPr/>
              <a:t> contains only real changes, and code review stops being an argument about spaces. Note </a:t>
            </a:r>
            <a:r>
              <a:rPr>
                <a:latin typeface="Courier"/>
              </a:rPr>
              <a:t>uv add --dev ruff</a:t>
            </a:r>
            <a:r>
              <a:rPr/>
              <a:t>: it is a development tool, not a dependency of the analysis, so it belongs in the dev group of </a:t>
            </a:r>
            <a:r>
              <a:rPr>
                <a:latin typeface="Courier"/>
              </a:rPr>
              <a:t>pyproject.toml</a:t>
            </a:r>
            <a:r>
              <a:rPr/>
              <a:t>. If </a:t>
            </a:r>
            <a:r>
              <a:rPr>
                <a:latin typeface="Courier"/>
              </a:rPr>
              <a:t>ruff</a:t>
            </a:r>
            <a:r>
              <a:rPr/>
              <a:t> is not on the path, run it through uv: </a:t>
            </a:r>
            <a:r>
              <a:rPr>
                <a:latin typeface="Courier"/>
              </a:rPr>
              <a:t>uv run ruff --version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commands to remember, and the difference between them is the whole point. </a:t>
            </a:r>
            <a:r>
              <a:rPr>
                <a:latin typeface="Courier"/>
              </a:rPr>
              <a:t>ruff format &lt;path&gt;</a:t>
            </a:r>
            <a:r>
              <a:rPr/>
              <a:t> rewrites the file in place and prints </a:t>
            </a:r>
            <a:r>
              <a:rPr>
                <a:latin typeface="Courier"/>
              </a:rPr>
              <a:t>1 file reformatted</a:t>
            </a:r>
            <a:r>
              <a:rPr/>
              <a:t>. A directory (</a:t>
            </a:r>
            <a:r>
              <a:rPr>
                <a:latin typeface="Courier"/>
              </a:rPr>
              <a:t>.</a:t>
            </a:r>
            <a:r>
              <a:rPr/>
              <a:t> is the current one) means every </a:t>
            </a:r>
            <a:r>
              <a:rPr>
                <a:latin typeface="Courier"/>
              </a:rPr>
              <a:t>.py</a:t>
            </a:r>
            <a:r>
              <a:rPr/>
              <a:t> file below it; files listed in </a:t>
            </a:r>
            <a:r>
              <a:rPr>
                <a:latin typeface="Courier"/>
              </a:rPr>
              <a:t>.gitignore</a:t>
            </a:r>
            <a:r>
              <a:rPr/>
              <a:t> are skipped, so </a:t>
            </a:r>
            <a:r>
              <a:rPr>
                <a:latin typeface="Courier"/>
              </a:rPr>
              <a:t>.venv/</a:t>
            </a:r>
            <a:r>
              <a:rPr/>
              <a:t> is not touched. </a:t>
            </a:r>
            <a:r>
              <a:rPr>
                <a:latin typeface="Courier"/>
              </a:rPr>
              <a:t>--check</a:t>
            </a:r>
            <a:r>
              <a:rPr/>
              <a:t> is the read-only version: it lists the files that </a:t>
            </a:r>
            <a:r>
              <a:rPr i="1"/>
              <a:t>would</a:t>
            </a:r>
            <a:r>
              <a:rPr/>
              <a:t> change and exits with a non-zero status if there are any. That is exactly what you put in a pull-request check or a git hook: it fails the build instead of silently editing the author’s code. </a:t>
            </a:r>
            <a:r>
              <a:rPr>
                <a:latin typeface="Courier"/>
              </a:rPr>
              <a:t>ruff check</a:t>
            </a:r>
            <a:r>
              <a:rPr/>
              <a:t> is the linter, a different command from </a:t>
            </a:r>
            <a:r>
              <a:rPr>
                <a:latin typeface="Courier"/>
              </a:rPr>
              <a:t>format</a:t>
            </a:r>
            <a:r>
              <a:rPr/>
              <a:t>; </a:t>
            </a:r>
            <a:r>
              <a:rPr>
                <a:latin typeface="Courier"/>
              </a:rPr>
              <a:t>--fix</a:t>
            </a:r>
            <a:r>
              <a:rPr/>
              <a:t> applies only the corrections ruff considers safe. Practical advice: run </a:t>
            </a:r>
            <a:r>
              <a:rPr>
                <a:latin typeface="Courier"/>
              </a:rPr>
              <a:t>ruff format .</a:t>
            </a:r>
            <a:r>
              <a:rPr/>
              <a:t> once at the start of a project, commit that as “format with ruff” on its own, and from then on every diff stays small. Doing it in the middle of a feature branch produces a 400-line commit that hides the one line that matters. Demonstrate live on </a:t>
            </a:r>
            <a:r>
              <a:rPr>
                <a:latin typeface="Courier"/>
              </a:rPr>
              <a:t>clean.py</a:t>
            </a:r>
            <a:r>
              <a:rPr/>
              <a:t> from the notebook: </a:t>
            </a:r>
            <a:r>
              <a:rPr>
                <a:latin typeface="Courier"/>
              </a:rPr>
              <a:t>ruff format --check clean.py</a:t>
            </a:r>
            <a:r>
              <a:rPr/>
              <a:t>, then </a:t>
            </a:r>
            <a:r>
              <a:rPr>
                <a:latin typeface="Courier"/>
              </a:rPr>
              <a:t>ruff format clean.py</a:t>
            </a:r>
            <a:r>
              <a:rPr/>
              <a:t>, then </a:t>
            </a:r>
            <a:r>
              <a:rPr>
                <a:latin typeface="Courier"/>
              </a:rPr>
              <a:t>git diff</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real findings on seven lines, and they are not equally safe to repair. </a:t>
            </a:r>
            <a:r>
              <a:rPr>
                <a:latin typeface="Courier"/>
              </a:rPr>
              <a:t>F401 os imported but unused</a:t>
            </a:r>
            <a:r>
              <a:rPr/>
              <a:t>: the import does nothing, so deleting the line cannot change the result. Ruff marks that fix </a:t>
            </a:r>
            <a:r>
              <a:rPr b="1"/>
              <a:t>safe</a:t>
            </a:r>
            <a:r>
              <a:rPr/>
              <a:t>, and </a:t>
            </a:r>
            <a:r>
              <a:rPr>
                <a:latin typeface="Courier"/>
              </a:rPr>
              <a:t>ruff check --fix vitals.py</a:t>
            </a:r>
            <a:r>
              <a:rPr/>
              <a:t> removes it for you (and sorts the remaining imports, </a:t>
            </a:r>
            <a:r>
              <a:rPr>
                <a:latin typeface="Courier"/>
              </a:rPr>
              <a:t>I001</a:t>
            </a:r>
            <a:r>
              <a:rPr/>
              <a:t>). </a:t>
            </a:r>
            <a:r>
              <a:rPr>
                <a:latin typeface="Courier"/>
              </a:rPr>
              <a:t>F841 local variable n is assigned to but never used</a:t>
            </a:r>
            <a:r>
              <a:rPr/>
              <a:t>: here ruff’s fix is to drop the </a:t>
            </a:r>
            <a:r>
              <a:rPr>
                <a:latin typeface="Courier"/>
              </a:rPr>
              <a:t>n =</a:t>
            </a:r>
            <a:r>
              <a:rPr/>
              <a:t> and keep the call, </a:t>
            </a:r>
            <a:r>
              <a:rPr>
                <a:latin typeface="Courier"/>
              </a:rPr>
              <a:t>len(df)</a:t>
            </a:r>
            <a:r>
              <a:rPr/>
              <a:t>. It marks it </a:t>
            </a:r>
            <a:r>
              <a:rPr b="1"/>
              <a:t>unsafe</a:t>
            </a:r>
            <a:r>
              <a:rPr/>
              <a:t>, because the right-hand side might be doing something: </a:t>
            </a:r>
            <a:r>
              <a:rPr>
                <a:latin typeface="Courier"/>
              </a:rPr>
              <a:t>n = log_access(patient_id)</a:t>
            </a:r>
            <a:r>
              <a:rPr/>
              <a:t> would still be called, but </a:t>
            </a:r>
            <a:r>
              <a:rPr>
                <a:latin typeface="Courier"/>
              </a:rPr>
              <a:t>n = df.pop("hr")</a:t>
            </a:r>
            <a:r>
              <a:rPr/>
              <a:t> changes </a:t>
            </a:r>
            <a:r>
              <a:rPr>
                <a:latin typeface="Courier"/>
              </a:rPr>
              <a:t>df</a:t>
            </a:r>
            <a:r>
              <a:rPr/>
              <a:t>, and deleting the whole line would change the result. Ruff refuses to guess. So </a:t>
            </a:r>
            <a:r>
              <a:rPr>
                <a:latin typeface="Courier"/>
              </a:rPr>
              <a:t>--fix</a:t>
            </a:r>
            <a:r>
              <a:rPr/>
              <a:t> leaves it alone and tells you a </a:t>
            </a:r>
            <a:r>
              <a:rPr>
                <a:latin typeface="Courier"/>
              </a:rPr>
              <a:t>--unsafe-fixes</a:t>
            </a:r>
            <a:r>
              <a:rPr/>
              <a:t> is available; you only get it with </a:t>
            </a:r>
            <a:r>
              <a:rPr>
                <a:latin typeface="Courier"/>
              </a:rPr>
              <a:t>ruff check --fix --unsafe-fixes .</a:t>
            </a:r>
            <a:r>
              <a:rPr/>
              <a:t>, and then you read the diff before committing. The rule for the room: </a:t>
            </a:r>
            <a:r>
              <a:rPr>
                <a:latin typeface="Courier"/>
              </a:rPr>
              <a:t>--fix</a:t>
            </a:r>
            <a:r>
              <a:rPr/>
              <a:t> can run unattended, even in a hook. </a:t>
            </a:r>
            <a:r>
              <a:rPr>
                <a:latin typeface="Courier"/>
              </a:rPr>
              <a:t>--unsafe-fixes</a:t>
            </a:r>
            <a:r>
              <a:rPr/>
              <a:t> is something you run yourself, on a clean working tree, and check with </a:t>
            </a:r>
            <a:r>
              <a:rPr>
                <a:latin typeface="Courier"/>
              </a:rPr>
              <a:t>git diff</a:t>
            </a:r>
            <a:r>
              <a:rPr/>
              <a:t>. Also note F841 is often a real bug, not untidiness: the variable you computed and forgot to return, or a typo where you assigned </a:t>
            </a:r>
            <a:r>
              <a:rPr>
                <a:latin typeface="Courier"/>
              </a:rPr>
              <a:t>mena</a:t>
            </a:r>
            <a:r>
              <a:rPr/>
              <a:t> and used </a:t>
            </a:r>
            <a:r>
              <a:rPr>
                <a:latin typeface="Courier"/>
              </a:rPr>
              <a:t>mean</a:t>
            </a:r>
            <a:r>
              <a:rPr/>
              <a:t>. Do not auto-delete the evidence, read it.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3</a:t>
            </a:r>
            <a:br/>
            <a:r>
              <a:rPr/>
              <a:t>The Command Line</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Why using a terminal?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Most computers have no screen</a:t>
            </a:r>
          </a:p>
        </p:txBody>
      </p:sp>
      <p:pic>
        <p:nvPicPr>
          <p:cNvPr descr="img/datacenter.jp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Terminal, shell, program, kernel</a:t>
            </a:r>
          </a:p>
        </p:txBody>
      </p:sp>
      <p:pic>
        <p:nvPicPr>
          <p:cNvPr descr="img/terminal_she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anatomy of a command</a:t>
            </a:r>
          </a:p>
        </p:txBody>
      </p:sp>
      <p:pic>
        <p:nvPicPr>
          <p:cNvPr descr="img/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Moving around, and moving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filesystem is one tree</a:t>
            </a:r>
          </a:p>
        </p:txBody>
      </p:sp>
      <p:pic>
        <p:nvPicPr>
          <p:cNvPr descr="img/filesyste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Five most usefull commands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where am I</a:t>
            </a:r>
            <a:br/>
            <a:r>
              <a:rPr>
                <a:latin typeface="Courier"/>
              </a:rPr>
              <a:t>$ pwd</a:t>
            </a:r>
            <a:br/>
            <a:r>
              <a:rPr i="1">
                <a:solidFill>
                  <a:srgbClr val="60A0B0"/>
                </a:solidFill>
                <a:latin typeface="Courier"/>
              </a:rPr>
              <a:t># go there  (cd .. to parent directory)</a:t>
            </a:r>
            <a:br/>
            <a:r>
              <a:rPr>
                <a:latin typeface="Courier"/>
              </a:rPr>
              <a:t>$ cd data/ecg</a:t>
            </a:r>
            <a:br/>
            <a:r>
              <a:rPr i="1">
                <a:solidFill>
                  <a:srgbClr val="60A0B0"/>
                </a:solidFill>
                <a:latin typeface="Courier"/>
              </a:rPr>
              <a:t># list files</a:t>
            </a:r>
            <a:br/>
            <a:r>
              <a:rPr>
                <a:latin typeface="Courier"/>
              </a:rPr>
              <a:t>$ ls </a:t>
            </a:r>
            <a:r>
              <a:rPr>
                <a:solidFill>
                  <a:srgbClr val="7D9029"/>
                </a:solidFill>
                <a:latin typeface="Courier"/>
              </a:rPr>
              <a:t>-lh</a:t>
            </a:r>
            <a:br/>
            <a:r>
              <a:rPr i="1">
                <a:solidFill>
                  <a:srgbClr val="60A0B0"/>
                </a:solidFill>
                <a:latin typeface="Courier"/>
              </a:rPr>
              <a:t># create a folder</a:t>
            </a:r>
            <a:br/>
            <a:r>
              <a:rPr>
                <a:latin typeface="Courier"/>
              </a:rPr>
              <a:t>$ mkdir </a:t>
            </a:r>
            <a:r>
              <a:rPr>
                <a:solidFill>
                  <a:srgbClr val="7D9029"/>
                </a:solidFill>
                <a:latin typeface="Courier"/>
              </a:rPr>
              <a:t>-p</a:t>
            </a:r>
            <a:r>
              <a:rPr>
                <a:latin typeface="Courier"/>
              </a:rPr>
              <a:t> results/2026</a:t>
            </a:r>
            <a:br/>
            <a:r>
              <a:rPr i="1">
                <a:solidFill>
                  <a:srgbClr val="60A0B0"/>
                </a:solidFill>
                <a:latin typeface="Courier"/>
              </a:rPr>
              <a:t># copy</a:t>
            </a:r>
            <a:br/>
            <a:r>
              <a:rPr>
                <a:latin typeface="Courier"/>
              </a:rPr>
              <a:t>$ cp a.csv backup_a.csv</a:t>
            </a:r>
            <a:br/>
            <a:r>
              <a:rPr i="1">
                <a:solidFill>
                  <a:srgbClr val="60A0B0"/>
                </a:solidFill>
                <a:latin typeface="Courier"/>
              </a:rPr>
              <a:t># move / rename</a:t>
            </a:r>
            <a:br/>
            <a:r>
              <a:rPr>
                <a:latin typeface="Courier"/>
              </a:rPr>
              <a:t>$ mv a.csv new_a.csv</a:t>
            </a:r>
            <a:br/>
            <a:r>
              <a:rPr i="1">
                <a:solidFill>
                  <a:srgbClr val="60A0B0"/>
                </a:solidFill>
                <a:latin typeface="Courier"/>
              </a:rPr>
              <a:t># delete</a:t>
            </a:r>
            <a:br/>
            <a:r>
              <a:rPr>
                <a:latin typeface="Courier"/>
              </a:rPr>
              <a:t>$ rm new_a.csv</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in, text out</a:t>
            </a:r>
          </a:p>
        </p:txBody>
      </p:sp>
      <p:pic>
        <p:nvPicPr>
          <p:cNvPr descr="img/pipeli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More commands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Command</a:t>
                      </a:r>
                    </a:p>
                  </a:txBody>
                  <a:tcPr/>
                </a:tc>
                <a:tc>
                  <a:txBody>
                    <a:bodyPr>
                      <a:normAutofit/>
                    </a:bodyPr>
                    <a:lstStyle/>
                    <a:p>
                      <a:pPr lvl="0" indent="0" marL="0">
                        <a:buNone/>
                      </a:pPr>
                      <a:r>
                        <a:rPr/>
                        <a:t>Does</a:t>
                      </a:r>
                    </a:p>
                  </a:txBody>
                  <a:tcPr/>
                </a:tc>
              </a:tr>
              <a:tr h="0">
                <a:tc>
                  <a:txBody>
                    <a:bodyPr>
                      <a:normAutofit/>
                    </a:bodyPr>
                    <a:lstStyle/>
                    <a:p>
                      <a:pPr lvl="0" indent="0" marL="0">
                        <a:buNone/>
                      </a:pPr>
                      <a:r>
                        <a:rPr>
                          <a:latin typeface="Courier"/>
                        </a:rPr>
                        <a:t>cat</a:t>
                      </a:r>
                      <a:r>
                        <a:rPr/>
                        <a:t> / </a:t>
                      </a:r>
                      <a:r>
                        <a:rPr>
                          <a:latin typeface="Courier"/>
                        </a:rPr>
                        <a:t>head</a:t>
                      </a:r>
                      <a:r>
                        <a:rPr/>
                        <a:t> / </a:t>
                      </a:r>
                      <a:r>
                        <a:rPr>
                          <a:latin typeface="Courier"/>
                        </a:rPr>
                        <a:t>tail</a:t>
                      </a:r>
                    </a:p>
                  </a:txBody>
                </a:tc>
                <a:tc>
                  <a:txBody>
                    <a:bodyPr>
                      <a:normAutofit/>
                    </a:bodyPr>
                    <a:lstStyle/>
                    <a:p>
                      <a:pPr lvl="0" indent="0" marL="0">
                        <a:buNone/>
                      </a:pPr>
                      <a:r>
                        <a:rPr/>
                        <a:t>print a file, its first, its last lines</a:t>
                      </a:r>
                    </a:p>
                  </a:txBody>
                </a:tc>
              </a:tr>
              <a:tr h="0">
                <a:tc>
                  <a:txBody>
                    <a:bodyPr>
                      <a:normAutofit/>
                    </a:bodyPr>
                    <a:lstStyle/>
                    <a:p>
                      <a:pPr lvl="0" indent="0" marL="0">
                        <a:buNone/>
                      </a:pPr>
                      <a:r>
                        <a:rPr>
                          <a:latin typeface="Courier"/>
                        </a:rPr>
                        <a:t>wc -l</a:t>
                      </a:r>
                    </a:p>
                  </a:txBody>
                </a:tc>
                <a:tc>
                  <a:txBody>
                    <a:bodyPr>
                      <a:normAutofit/>
                    </a:bodyPr>
                    <a:lstStyle/>
                    <a:p>
                      <a:pPr lvl="0" indent="0" marL="0">
                        <a:buNone/>
                      </a:pPr>
                      <a:r>
                        <a:rPr/>
                        <a:t>count lines (rows in a CSV)</a:t>
                      </a:r>
                    </a:p>
                  </a:txBody>
                </a:tc>
              </a:tr>
              <a:tr h="0">
                <a:tc>
                  <a:txBody>
                    <a:bodyPr>
                      <a:normAutofit/>
                    </a:bodyPr>
                    <a:lstStyle/>
                    <a:p>
                      <a:pPr lvl="0" indent="0" marL="0">
                        <a:buNone/>
                      </a:pPr>
                      <a:r>
                        <a:rPr>
                          <a:latin typeface="Courier"/>
                        </a:rPr>
                        <a:t>grep 'ICU'</a:t>
                      </a:r>
                    </a:p>
                  </a:txBody>
                </a:tc>
                <a:tc>
                  <a:txBody>
                    <a:bodyPr>
                      <a:normAutofit/>
                    </a:bodyPr>
                    <a:lstStyle/>
                    <a:p>
                      <a:pPr lvl="0" indent="0" marL="0">
                        <a:buNone/>
                      </a:pPr>
                      <a:r>
                        <a:rPr/>
                        <a:t>keep the lines that match</a:t>
                      </a:r>
                    </a:p>
                  </a:txBody>
                </a:tc>
              </a:tr>
              <a:tr h="0">
                <a:tc>
                  <a:txBody>
                    <a:bodyPr>
                      <a:normAutofit/>
                    </a:bodyPr>
                    <a:lstStyle/>
                    <a:p>
                      <a:pPr lvl="0" indent="0" marL="0">
                        <a:buNone/>
                      </a:pPr>
                      <a:r>
                        <a:rPr>
                          <a:latin typeface="Courier"/>
                        </a:rPr>
                        <a:t>cut -d, -f2</a:t>
                      </a:r>
                    </a:p>
                  </a:txBody>
                </a:tc>
                <a:tc>
                  <a:txBody>
                    <a:bodyPr>
                      <a:normAutofit/>
                    </a:bodyPr>
                    <a:lstStyle/>
                    <a:p>
                      <a:pPr lvl="0" indent="0" marL="0">
                        <a:buNone/>
                      </a:pPr>
                      <a:r>
                        <a:rPr/>
                        <a:t>keep a column</a:t>
                      </a:r>
                    </a:p>
                  </a:txBody>
                </a:tc>
              </a:tr>
              <a:tr h="0">
                <a:tc>
                  <a:txBody>
                    <a:bodyPr>
                      <a:normAutofit/>
                    </a:bodyPr>
                    <a:lstStyle/>
                    <a:p>
                      <a:pPr lvl="0" indent="0" marL="0">
                        <a:buNone/>
                      </a:pPr>
                      <a:r>
                        <a:rPr>
                          <a:latin typeface="Courier"/>
                        </a:rPr>
                        <a:t>sort</a:t>
                      </a:r>
                      <a:r>
                        <a:rPr/>
                        <a:t> / </a:t>
                      </a:r>
                      <a:r>
                        <a:rPr>
                          <a:latin typeface="Courier"/>
                        </a:rPr>
                        <a:t>uniq -c</a:t>
                      </a:r>
                    </a:p>
                  </a:txBody>
                </a:tc>
                <a:tc>
                  <a:txBody>
                    <a:bodyPr>
                      <a:normAutofit/>
                    </a:bodyPr>
                    <a:lstStyle/>
                    <a:p>
                      <a:pPr lvl="0" indent="0" marL="0">
                        <a:buNone/>
                      </a:pPr>
                      <a:r>
                        <a:rPr/>
                        <a:t>order, and count repeats</a:t>
                      </a:r>
                    </a:p>
                  </a:txBody>
                </a:tc>
              </a:tr>
              <a:tr h="0">
                <a:tc>
                  <a:txBody>
                    <a:bodyPr>
                      <a:normAutofit/>
                    </a:bodyPr>
                    <a:lstStyle/>
                    <a:p>
                      <a:pPr lvl="0" indent="0" marL="0">
                        <a:buNone/>
                      </a:pPr>
                      <a:r>
                        <a:rPr>
                          <a:latin typeface="Courier"/>
                        </a:rPr>
                        <a:t>find . -name '*.csv'</a:t>
                      </a:r>
                    </a:p>
                  </a:txBody>
                </a:tc>
                <a:tc>
                  <a:txBody>
                    <a:bodyPr>
                      <a:normAutofit/>
                    </a:bodyPr>
                    <a:lstStyle/>
                    <a:p>
                      <a:pPr lvl="0" indent="0" marL="0">
                        <a:buNone/>
                      </a:pPr>
                      <a:r>
                        <a:rPr/>
                        <a:t>list files matching a pattern, recursively</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Version control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file is the final one?</a:t>
            </a:r>
          </a:p>
        </p:txBody>
      </p:sp>
      <p:pic>
        <p:nvPicPr>
          <p:cNvPr descr="img/git_w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Creating a snapshot</a:t>
            </a:r>
          </a:p>
        </p:txBody>
      </p:sp>
      <p:pic>
        <p:nvPicPr>
          <p:cNvPr descr="img/git_area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Daily loop</a:t>
            </a:r>
          </a:p>
        </p:txBody>
      </p:sp>
      <p:sp>
        <p:nvSpPr>
          <p:cNvPr id="3" name="Content Placeholder 2"/>
          <p:cNvSpPr>
            <a:spLocks noGrp="1"/>
          </p:cNvSpPr>
          <p:nvPr>
            <p:ph idx="1"/>
          </p:nvPr>
        </p:nvSpPr>
        <p:spPr/>
        <p:txBody>
          <a:bodyPr>
            <a:normAutofit/>
          </a:bodyPr>
          <a:lstStyle/>
          <a:p>
            <a:pPr lvl="0" indent="0">
              <a:buNone/>
            </a:pPr>
            <a:r>
              <a:rPr>
                <a:latin typeface="Courier"/>
              </a:rPr>
              <a:t>$ git init</a:t>
            </a:r>
            <a:br/>
            <a:r>
              <a:rPr>
                <a:latin typeface="Courier"/>
              </a:rPr>
              <a:t>$ git status</a:t>
            </a:r>
            <a:br/>
            <a:r>
              <a:rPr>
                <a:latin typeface="Courier"/>
              </a:rPr>
              <a:t>$ git diff</a:t>
            </a:r>
            <a:br/>
            <a:r>
              <a:rPr>
                <a:latin typeface="Courier"/>
              </a:rPr>
              <a:t>$ git add clean.py</a:t>
            </a:r>
            <a:br/>
            <a:r>
              <a:rPr>
                <a:latin typeface="Courier"/>
              </a:rPr>
              <a:t>$ git commit </a:t>
            </a:r>
            <a:r>
              <a:rPr>
                <a:solidFill>
                  <a:srgbClr val="7D9029"/>
                </a:solidFill>
                <a:latin typeface="Courier"/>
              </a:rPr>
              <a:t>-m</a:t>
            </a:r>
            <a:r>
              <a:rPr>
                <a:latin typeface="Courier"/>
              </a:rPr>
              <a:t> </a:t>
            </a:r>
            <a:r>
              <a:rPr>
                <a:solidFill>
                  <a:srgbClr val="4070A0"/>
                </a:solidFill>
                <a:latin typeface="Courier"/>
              </a:rPr>
              <a:t>"Drop rows without age"</a:t>
            </a:r>
            <a:br/>
            <a:r>
              <a:rPr>
                <a:latin typeface="Courier"/>
              </a:rPr>
              <a:t>$ git log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History and branches</a:t>
            </a:r>
          </a:p>
        </p:txBody>
      </p:sp>
      <p:pic>
        <p:nvPicPr>
          <p:cNvPr descr="img/git_hist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Local and remote</a:t>
            </a:r>
          </a:p>
        </p:txBody>
      </p:sp>
      <p:pic>
        <p:nvPicPr>
          <p:cNvPr descr="img/git_remo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Working with GitHub</a:t>
            </a:r>
          </a:p>
        </p:txBody>
      </p:sp>
      <p:sp>
        <p:nvSpPr>
          <p:cNvPr id="3" name="Content Placeholder 2"/>
          <p:cNvSpPr>
            <a:spLocks noGrp="1"/>
          </p:cNvSpPr>
          <p:nvPr>
            <p:ph idx="1"/>
          </p:nvPr>
        </p:nvSpPr>
        <p:spPr/>
        <p:txBody>
          <a:bodyPr>
            <a:normAutofit/>
          </a:bodyPr>
          <a:lstStyle/>
          <a:p>
            <a:pPr lvl="0" indent="0">
              <a:buNone/>
            </a:pPr>
            <a:r>
              <a:rPr>
                <a:latin typeface="Courier"/>
              </a:rPr>
              <a:t>$ git clone https://github.com/org/repo</a:t>
            </a:r>
            <a:br/>
            <a:r>
              <a:rPr>
                <a:latin typeface="Courier"/>
              </a:rPr>
              <a:t>$ cd repo</a:t>
            </a:r>
            <a:br/>
            <a:br/>
            <a:r>
              <a:rPr i="1">
                <a:solidFill>
                  <a:srgbClr val="60A0B0"/>
                </a:solidFill>
                <a:latin typeface="Courier"/>
              </a:rPr>
              <a:t># ... edit, add, commit ...</a:t>
            </a:r>
            <a:br/>
            <a:br/>
            <a:r>
              <a:rPr i="1">
                <a:solidFill>
                  <a:srgbClr val="60A0B0"/>
                </a:solidFill>
                <a:latin typeface="Courier"/>
              </a:rPr>
              <a:t># get the others' work</a:t>
            </a:r>
            <a:br/>
            <a:r>
              <a:rPr>
                <a:latin typeface="Courier"/>
              </a:rPr>
              <a:t>$ git pull</a:t>
            </a:r>
            <a:br/>
            <a:r>
              <a:rPr i="1">
                <a:solidFill>
                  <a:srgbClr val="60A0B0"/>
                </a:solidFill>
                <a:latin typeface="Courier"/>
              </a:rPr>
              <a:t># publish yours</a:t>
            </a:r>
            <a:br/>
            <a:r>
              <a:rPr>
                <a:latin typeface="Courier"/>
              </a:rPr>
              <a:t>$ git push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to ignore</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.gitignore</a:t>
            </a:r>
            <a:br/>
            <a:r>
              <a:rPr>
                <a:latin typeface="Courier"/>
              </a:rPr>
              <a:t>data/          </a:t>
            </a:r>
            <a:r>
              <a:rPr i="1">
                <a:solidFill>
                  <a:srgbClr val="60A0B0"/>
                </a:solidFill>
                <a:latin typeface="Courier"/>
              </a:rPr>
              <a:t># patient data</a:t>
            </a:r>
            <a:br/>
            <a:r>
              <a:rPr>
                <a:latin typeface="Courier"/>
              </a:rPr>
              <a:t>*.csv</a:t>
            </a:r>
            <a:br/>
            <a:r>
              <a:rPr>
                <a:latin typeface="Courier"/>
              </a:rPr>
              <a:t>.env           </a:t>
            </a:r>
            <a:r>
              <a:rPr i="1">
                <a:solidFill>
                  <a:srgbClr val="60A0B0"/>
                </a:solidFill>
                <a:latin typeface="Courier"/>
              </a:rPr>
              <a:t># passwords, API keys</a:t>
            </a:r>
            <a:br/>
            <a:r>
              <a:rPr>
                <a:latin typeface="Courier"/>
              </a:rPr>
              <a:t>.venv/         </a:t>
            </a:r>
            <a:r>
              <a:rPr i="1">
                <a:solidFill>
                  <a:srgbClr val="60A0B0"/>
                </a:solidFill>
                <a:latin typeface="Courier"/>
              </a:rPr>
              <a:t># re-created by uv sync</a:t>
            </a:r>
            <a:br/>
            <a:r>
              <a:rPr>
                <a:latin typeface="Courier"/>
              </a:rPr>
              <a:t>__pycache__/</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Keeping the code readable: ruff</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style, decided by a tool</a:t>
            </a:r>
          </a:p>
        </p:txBody>
      </p:sp>
      <p:sp>
        <p:nvSpPr>
          <p:cNvPr id="3" name="Content Placeholder 2"/>
          <p:cNvSpPr>
            <a:spLocks noGrp="1"/>
          </p:cNvSpPr>
          <p:nvPr>
            <p:ph idx="1"/>
          </p:nvPr>
        </p:nvSpPr>
        <p:spPr/>
        <p:txBody>
          <a:bodyPr>
            <a:normAutofit/>
          </a:bodyPr>
          <a:lstStyle/>
          <a:p>
            <a:pPr lvl="0" indent="0">
              <a:buNone/>
            </a:pPr>
            <a:r>
              <a:rPr>
                <a:latin typeface="Courier"/>
              </a:rPr>
              <a:t>$ uv venv</a:t>
            </a:r>
            <a:br/>
            <a:r>
              <a:rPr i="1">
                <a:solidFill>
                  <a:srgbClr val="60A0B0"/>
                </a:solidFill>
                <a:latin typeface="Courier"/>
              </a:rPr>
              <a:t># create .venv</a:t>
            </a:r>
            <a:br/>
            <a:r>
              <a:rPr>
                <a:latin typeface="Courier"/>
              </a:rPr>
              <a:t>$ source .venv/bin/activate </a:t>
            </a:r>
            <a:r>
              <a:rPr i="1">
                <a:solidFill>
                  <a:srgbClr val="60A0B0"/>
                </a:solidFill>
                <a:latin typeface="Courier"/>
              </a:rPr>
              <a:t># unix</a:t>
            </a:r>
            <a:br/>
            <a:r>
              <a:rPr>
                <a:solidFill>
                  <a:srgbClr val="666666"/>
                </a:solidFill>
                <a:latin typeface="Courier"/>
              </a:rPr>
              <a:t>&gt;</a:t>
            </a:r>
            <a:r>
              <a:rPr>
                <a:latin typeface="Courier"/>
              </a:rPr>
              <a:t> .venv\Scripts\activate </a:t>
            </a:r>
            <a:r>
              <a:rPr i="1">
                <a:solidFill>
                  <a:srgbClr val="60A0B0"/>
                </a:solidFill>
                <a:latin typeface="Courier"/>
              </a:rPr>
              <a:t># windows</a:t>
            </a:r>
            <a:br/>
            <a:br/>
            <a:r>
              <a:rPr>
                <a:latin typeface="Courier"/>
              </a:rPr>
              <a:t>$ uv pip install ruff</a:t>
            </a:r>
            <a:br/>
            <a:r>
              <a:rPr i="1">
                <a:solidFill>
                  <a:srgbClr val="60A0B0"/>
                </a:solidFill>
                <a:latin typeface="Courier"/>
              </a:rPr>
              <a:t># or: uv add --dev ruff</a:t>
            </a:r>
            <a:br/>
            <a:br/>
            <a:r>
              <a:rPr>
                <a:latin typeface="Courier"/>
              </a:rPr>
              <a:t>$ ruff </a:t>
            </a:r>
            <a:r>
              <a:rPr>
                <a:solidFill>
                  <a:srgbClr val="7D9029"/>
                </a:solidFill>
                <a:latin typeface="Courier"/>
              </a:rPr>
              <a:t>--version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Format, and check</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format one file</a:t>
            </a:r>
            <a:br/>
            <a:r>
              <a:rPr>
                <a:latin typeface="Courier"/>
              </a:rPr>
              <a:t>$ ruff format clean.py</a:t>
            </a:r>
            <a:br/>
            <a:r>
              <a:rPr i="1">
                <a:solidFill>
                  <a:srgbClr val="60A0B0"/>
                </a:solidFill>
                <a:latin typeface="Courier"/>
              </a:rPr>
              <a:t># format everything, recursively</a:t>
            </a:r>
            <a:br/>
            <a:r>
              <a:rPr>
                <a:latin typeface="Courier"/>
              </a:rPr>
              <a:t>$ ruff format .</a:t>
            </a:r>
            <a:br/>
            <a:br/>
            <a:r>
              <a:rPr i="1">
                <a:solidFill>
                  <a:srgbClr val="60A0B0"/>
                </a:solidFill>
                <a:latin typeface="Courier"/>
              </a:rPr>
              <a:t># report, but change nothing</a:t>
            </a:r>
            <a:br/>
            <a:r>
              <a:rPr>
                <a:latin typeface="Courier"/>
              </a:rPr>
              <a:t>$ ruff format </a:t>
            </a:r>
            <a:r>
              <a:rPr>
                <a:solidFill>
                  <a:srgbClr val="7D9029"/>
                </a:solidFill>
                <a:latin typeface="Courier"/>
              </a:rPr>
              <a:t>--check</a:t>
            </a:r>
            <a:r>
              <a:rPr>
                <a:latin typeface="Courier"/>
              </a:rPr>
              <a:t> .</a:t>
            </a:r>
            <a:br/>
            <a:r>
              <a:rPr i="1">
                <a:solidFill>
                  <a:srgbClr val="60A0B0"/>
                </a:solidFill>
                <a:latin typeface="Courier"/>
              </a:rPr>
              <a:t># lint: find likely mistakes</a:t>
            </a:r>
            <a:br/>
            <a:r>
              <a:rPr>
                <a:latin typeface="Courier"/>
              </a:rPr>
              <a:t>$ ruff check .</a:t>
            </a:r>
            <a:br/>
            <a:r>
              <a:rPr i="1">
                <a:solidFill>
                  <a:srgbClr val="60A0B0"/>
                </a:solidFill>
                <a:latin typeface="Courier"/>
              </a:rPr>
              <a:t># lint, and fix what is safe</a:t>
            </a:r>
            <a:br/>
            <a:r>
              <a:rPr>
                <a:latin typeface="Courier"/>
              </a:rPr>
              <a:t>$ ruff check </a:t>
            </a:r>
            <a:r>
              <a:rPr>
                <a:solidFill>
                  <a:srgbClr val="7D9029"/>
                </a:solidFill>
                <a:latin typeface="Courier"/>
              </a:rPr>
              <a:t>--fix</a:t>
            </a:r>
            <a:r>
              <a:rPr>
                <a:latin typeface="Courier"/>
              </a:rPr>
              <a:t>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lint check, safe and unsafe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os</a:t>
            </a:r>
            <a:br/>
            <a:r>
              <a:rPr i="1">
                <a:solidFill>
                  <a:srgbClr val="60A0B0"/>
                </a:solidFill>
                <a:latin typeface="Courier"/>
              </a:rPr>
              <a:t># F401 unused import   -&gt; safe fix</a:t>
            </a:r>
            <a:br/>
            <a:r>
              <a:rPr b="1">
                <a:solidFill>
                  <a:srgbClr val="008000"/>
                </a:solidFill>
                <a:latin typeface="Courier"/>
              </a:rPr>
              <a:t>import</a:t>
            </a:r>
            <a:r>
              <a:rPr>
                <a:latin typeface="Courier"/>
              </a:rPr>
              <a:t> pandas </a:t>
            </a:r>
            <a:r>
              <a:rPr b="1">
                <a:solidFill>
                  <a:srgbClr val="008000"/>
                </a:solidFill>
                <a:latin typeface="Courier"/>
              </a:rPr>
              <a:t>as</a:t>
            </a:r>
            <a:r>
              <a:rPr>
                <a:latin typeface="Courier"/>
              </a:rPr>
              <a:t> pd</a:t>
            </a:r>
            <a:br/>
            <a:br/>
            <a:r>
              <a:rPr b="1">
                <a:solidFill>
                  <a:srgbClr val="007020"/>
                </a:solidFill>
                <a:latin typeface="Courier"/>
              </a:rPr>
              <a:t>def</a:t>
            </a:r>
            <a:r>
              <a:rPr>
                <a:latin typeface="Courier"/>
              </a:rPr>
              <a:t> mean_hr(path):</a:t>
            </a:r>
            <a:br/>
            <a:r>
              <a:rPr>
                <a:latin typeface="Courier"/>
              </a:rPr>
              <a:t>    df </a:t>
            </a:r>
            <a:r>
              <a:rPr>
                <a:solidFill>
                  <a:srgbClr val="666666"/>
                </a:solidFill>
                <a:latin typeface="Courier"/>
              </a:rPr>
              <a:t>=</a:t>
            </a:r>
            <a:r>
              <a:rPr>
                <a:latin typeface="Courier"/>
              </a:rPr>
              <a:t> pd.read_csv(path)</a:t>
            </a:r>
            <a:br/>
            <a:r>
              <a:rPr>
                <a:latin typeface="Courier"/>
              </a:rPr>
              <a:t>    n </a:t>
            </a:r>
            <a:r>
              <a:rPr>
                <a:solidFill>
                  <a:srgbClr val="666666"/>
                </a:solidFill>
                <a:latin typeface="Courier"/>
              </a:rPr>
              <a:t>=</a:t>
            </a:r>
            <a:r>
              <a:rPr>
                <a:latin typeface="Courier"/>
              </a:rPr>
              <a:t> </a:t>
            </a:r>
            <a:r>
              <a:rPr>
                <a:solidFill>
                  <a:srgbClr val="008000"/>
                </a:solidFill>
                <a:latin typeface="Courier"/>
              </a:rPr>
              <a:t>len</a:t>
            </a:r>
            <a:r>
              <a:rPr>
                <a:latin typeface="Courier"/>
              </a:rPr>
              <a:t>(df)</a:t>
            </a:r>
            <a:br/>
            <a:r>
              <a:rPr>
                <a:latin typeface="Courier"/>
              </a:rPr>
              <a:t>    </a:t>
            </a:r>
            <a:r>
              <a:rPr i="1">
                <a:solidFill>
                  <a:srgbClr val="60A0B0"/>
                </a:solidFill>
                <a:latin typeface="Courier"/>
              </a:rPr>
              <a:t># F841 unused variable -&gt; unsafe fix</a:t>
            </a:r>
            <a:br/>
            <a:r>
              <a:rPr>
                <a:latin typeface="Courier"/>
              </a:rPr>
              <a:t>    </a:t>
            </a:r>
            <a:r>
              <a:rPr b="1">
                <a:solidFill>
                  <a:srgbClr val="007020"/>
                </a:solidFill>
                <a:latin typeface="Courier"/>
              </a:rPr>
              <a:t>return</a:t>
            </a:r>
            <a:r>
              <a:rPr>
                <a:latin typeface="Courier"/>
              </a:rPr>
              <a:t> df[</a:t>
            </a:r>
            <a:r>
              <a:rPr>
                <a:solidFill>
                  <a:srgbClr val="4070A0"/>
                </a:solidFill>
                <a:latin typeface="Courier"/>
              </a:rPr>
              <a:t>"hr"</a:t>
            </a:r>
            <a:r>
              <a:rPr>
                <a:latin typeface="Courier"/>
              </a:rPr>
              <a:t>].mean()</a:t>
            </a:r>
          </a:p>
          <a:p>
            <a:pPr lvl="0" indent="0">
              <a:buNone/>
            </a:pPr>
            <a:br/>
            <a:r>
              <a:rPr>
                <a:latin typeface="Courier"/>
              </a:rPr>
              <a:t>$ ruff check vitals.py</a:t>
            </a:r>
            <a:br/>
            <a:r>
              <a:rPr i="1">
                <a:solidFill>
                  <a:srgbClr val="60A0B0"/>
                </a:solidFill>
                <a:latin typeface="Courier"/>
              </a:rPr>
              <a:t># Found 2 errors:</a:t>
            </a:r>
            <a:br/>
            <a:r>
              <a:rPr i="1">
                <a:solidFill>
                  <a:srgbClr val="60A0B0"/>
                </a:solidFill>
                <a:latin typeface="Courier"/>
              </a:rPr>
              <a:t># * 1 fixable with `--fix`</a:t>
            </a:r>
            <a:br/>
            <a:r>
              <a:rPr i="1">
                <a:solidFill>
                  <a:srgbClr val="60A0B0"/>
                </a:solidFill>
                <a:latin typeface="Courier"/>
              </a:rPr>
              <a:t># * 1 unsafe fix available with `--fix --unsafe-fixes`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The Command Line</dc:title>
  <dc:creator>Paul Dubois</dc:creator>
  <cp:keywords/>
  <dcterms:created xsi:type="dcterms:W3CDTF">2026-10-15T19:18:58Z</dcterms:created>
  <dcterms:modified xsi:type="dcterms:W3CDTF">2026-10-15T19:18:58Z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