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notesMaster" Target="notesMasters/notesMaster1.xml" /><Relationship Id="rId22" Type="http://schemas.openxmlformats.org/officeDocument/2006/relationships/viewProps" Target="viewProps.xml" /><Relationship Id="rId21" Type="http://schemas.openxmlformats.org/officeDocument/2006/relationships/presProps" Target="presProps.xml" /><Relationship Id="rId1" Type="http://schemas.openxmlformats.org/officeDocument/2006/relationships/slideMaster" Target="slideMasters/slideMaster1.xml" /><Relationship Id="rId24" Type="http://schemas.openxmlformats.org/officeDocument/2006/relationships/tableStyles" Target="tableStyles.xml" /><Relationship Id="rId2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Rows of machines, and not one keyboard, mouse or monitor in the room. This is the NASA Columbia supercomputer, but it is also every hospital server room, every cloud instance, and every compute cluster you will send a job to. Nobody walks in and clicks. You reach these machines over the network (</a:t>
            </a:r>
            <a:r>
              <a:rPr>
                <a:latin typeface="Courier"/>
              </a:rPr>
              <a:t>ssh</a:t>
            </a:r>
            <a:r>
              <a:rPr/>
              <a:t>), and what answers you is a text prompt. The graphical interface is the exception, available on your laptop and almost nowhere else. So the question is not whether the command line is pleasant. It is the only interface these machines have, and that is where the data and the computing power live. Ask the room: where do you think the imaging archive of a hospital actually sits?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words students use as synonyms for a fortnight. Fixing this early saves a lot of confusion later: “the terminal crashed” and “the shell is bash” and “ls is a program” are three different statements. Emphasise the closing line. Everything that follows (variables, loops, conditionals, functions) is available </a:t>
            </a:r>
            <a:r>
              <a:rPr i="1"/>
              <a:t>because</a:t>
            </a:r>
            <a:r>
              <a:rPr/>
              <a:t> the shell is a language. The prompt is a REPL.</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grammar slide; every command in the notebook obeys it. Two traps to name now, because both will bite in the exercises: (1) a space separates arguments, so a filename with a space is two arguments unless it is quoted. Health data exports are full of </a:t>
            </a:r>
            <a:r>
              <a:rPr>
                <a:latin typeface="Courier"/>
              </a:rPr>
              <a:t>Patient Records 2024.csv</a:t>
            </a:r>
            <a:r>
              <a:rPr/>
              <a:t>. (2) flags are case sensitive and not universal: </a:t>
            </a:r>
            <a:r>
              <a:rPr>
                <a:latin typeface="Courier"/>
              </a:rPr>
              <a:t>-h</a:t>
            </a:r>
            <a:r>
              <a:rPr/>
              <a:t> is “help” in some tools and “human readable” in others. There is no committee.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ideas: there is a single root (no </a:t>
            </a:r>
            <a:r>
              <a:rPr>
                <a:latin typeface="Courier"/>
              </a:rPr>
              <a:t>C:</a:t>
            </a:r>
            <a:r>
              <a:rPr/>
              <a:t> drive), and any file has two names (absolute and relative) that point to the same thing. Rule of thumb for their future scripts: absolute paths for data that lives somewhere fixed, relative paths for anything inside the project, so the project can be moved, shared, or run on the cluster untouched.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Type these live, slowly, in a scratch folder. Let them see the prompt change with </a:t>
            </a:r>
            <a:r>
              <a:rPr>
                <a:latin typeface="Courier"/>
              </a:rPr>
              <a:t>cd</a:t>
            </a:r>
            <a:r>
              <a:rPr/>
              <a:t>. Give the </a:t>
            </a:r>
            <a:r>
              <a:rPr>
                <a:latin typeface="Courier"/>
              </a:rPr>
              <a:t>rm</a:t>
            </a:r>
            <a:r>
              <a:rPr/>
              <a:t> warning its own beat. Then give them the habit that actually protects them: run the dangerous thing as </a:t>
            </a:r>
            <a:r>
              <a:rPr>
                <a:latin typeface="Courier"/>
              </a:rPr>
              <a:t>ls</a:t>
            </a:r>
            <a:r>
              <a:rPr/>
              <a:t> first (</a:t>
            </a:r>
            <a:r>
              <a:rPr>
                <a:latin typeface="Courier"/>
              </a:rPr>
              <a:t>ls *.tmp</a:t>
            </a:r>
            <a:r>
              <a:rPr/>
              <a:t>), look at what matched, then swap </a:t>
            </a:r>
            <a:r>
              <a:rPr>
                <a:latin typeface="Courier"/>
              </a:rPr>
              <a:t>ls</a:t>
            </a:r>
            <a:r>
              <a:rPr/>
              <a:t> for </a:t>
            </a:r>
            <a:r>
              <a:rPr>
                <a:latin typeface="Courier"/>
              </a:rPr>
              <a:t>rm</a:t>
            </a:r>
            <a:r>
              <a:rPr/>
              <a:t>. Never trust a glob you have not printed.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intellectual core of the whole session, and the reason the tools are all small. Each program does one job and speaks the same currency: lines of text. The pipe is what makes them compose. Build the example one stage at a time on screen, showing the intermediate output after each </a:t>
            </a:r>
            <a:r>
              <a:rPr>
                <a:latin typeface="Courier"/>
              </a:rPr>
              <a:t>|</a:t>
            </a:r>
            <a:r>
              <a:rPr/>
              <a:t>. Students remember the shape once they have watched it narrow. Mention that this is exactly </a:t>
            </a:r>
            <a:r>
              <a:rPr>
                <a:latin typeface="Courier"/>
              </a:rPr>
              <a:t>pandas</a:t>
            </a:r>
            <a:r>
              <a:rPr/>
              <a:t> chaining, ten years older and on files it never has to load into memory.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try to teach these exhaustively (the notebook does that). Here just establish that the toolbox is small, and that each one is a verb you can look up. </a:t>
            </a:r>
            <a:r>
              <a:rPr>
                <a:latin typeface="Courier"/>
              </a:rPr>
              <a:t>sort | uniq -c</a:t>
            </a:r>
            <a:r>
              <a:rPr/>
              <a:t> is the shell’s </a:t>
            </a:r>
            <a:r>
              <a:rPr>
                <a:latin typeface="Courier"/>
              </a:rPr>
              <a:t>value_counts()</a:t>
            </a:r>
            <a:r>
              <a:rPr/>
              <a:t>; say that out loud, it converts anyone who already knows pandas.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Everyone in the room has a folder like the one on the left. It fails exactly when it matters: a reviewer asks which version of the script produced Table 2, and nobody knows. git replaces copies with one file and a history. Each change is recorded with who made it, when, and a message that says why. In a regulated setting (a clinical study, a CE-marked device) this traceability is not a nice-to-have: it is what an audit asks for. git is a command-line program: everything from the first two sections applies.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one mental model to get right. You edit files in the working folder as usual. </a:t>
            </a:r>
            <a:r>
              <a:rPr>
                <a:latin typeface="Courier"/>
              </a:rPr>
              <a:t>git add</a:t>
            </a:r>
            <a:r>
              <a:rPr/>
              <a:t> chooses which changes go into the next snapshot (the staging area). </a:t>
            </a:r>
            <a:r>
              <a:rPr>
                <a:latin typeface="Courier"/>
              </a:rPr>
              <a:t>git commit</a:t>
            </a:r>
            <a:r>
              <a:rPr/>
              <a:t> records that snapshot in the repository, the hidden </a:t>
            </a:r>
            <a:r>
              <a:rPr>
                <a:latin typeface="Courier"/>
              </a:rPr>
              <a:t>.git/</a:t>
            </a:r>
            <a:r>
              <a:rPr/>
              <a:t> folder. Why the middle step: you changed three files but only two belong to the same fix. Stage those two, commit, then stage and commit the third with its own message. </a:t>
            </a:r>
            <a:r>
              <a:rPr>
                <a:latin typeface="Courier"/>
              </a:rPr>
              <a:t>git status</a:t>
            </a:r>
            <a:r>
              <a:rPr/>
              <a:t> is the command to type when lost: it says what is in each area, and usually suggests the next command.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Live demo in a scratch folder: </a:t>
            </a:r>
            <a:r>
              <a:rPr>
                <a:latin typeface="Courier"/>
              </a:rPr>
              <a:t>git init</a:t>
            </a:r>
            <a:r>
              <a:rPr/>
              <a:t>, create a file, </a:t>
            </a:r>
            <a:r>
              <a:rPr>
                <a:latin typeface="Courier"/>
              </a:rPr>
              <a:t>status</a:t>
            </a:r>
            <a:r>
              <a:rPr/>
              <a:t>, </a:t>
            </a:r>
            <a:r>
              <a:rPr>
                <a:latin typeface="Courier"/>
              </a:rPr>
              <a:t>add</a:t>
            </a:r>
            <a:r>
              <a:rPr/>
              <a:t>, </a:t>
            </a:r>
            <a:r>
              <a:rPr>
                <a:latin typeface="Courier"/>
              </a:rPr>
              <a:t>status</a:t>
            </a:r>
            <a:r>
              <a:rPr/>
              <a:t>, </a:t>
            </a:r>
            <a:r>
              <a:rPr>
                <a:latin typeface="Courier"/>
              </a:rPr>
              <a:t>commit</a:t>
            </a:r>
            <a:r>
              <a:rPr/>
              <a:t>, edit, </a:t>
            </a:r>
            <a:r>
              <a:rPr>
                <a:latin typeface="Courier"/>
              </a:rPr>
              <a:t>diff</a:t>
            </a:r>
            <a:r>
              <a:rPr/>
              <a:t>, commit again, </a:t>
            </a:r>
            <a:r>
              <a:rPr>
                <a:latin typeface="Courier"/>
              </a:rPr>
              <a:t>log</a:t>
            </a:r>
            <a:r>
              <a:rPr/>
              <a:t>. The first time, git asks who you are: </a:t>
            </a:r>
            <a:r>
              <a:rPr>
                <a:latin typeface="Courier"/>
              </a:rPr>
              <a:t>git config --global user.name "..."</a:t>
            </a:r>
            <a:r>
              <a:rPr/>
              <a:t> and </a:t>
            </a:r>
            <a:r>
              <a:rPr>
                <a:latin typeface="Courier"/>
              </a:rPr>
              <a:t>user.email</a:t>
            </a:r>
            <a:r>
              <a:rPr/>
              <a:t>. Every commit carries that name. A good message completes the sentence “this commit will…”: “Drop rows without age”, not “update” or “fix”. One logical change per commit.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commit has an identifier (a hash, shortened to 7 characters) and points to the commit before it: the history is a chain. A branch is just a name on a commit, moving forward as you commit. </a:t>
            </a:r>
            <a:r>
              <a:rPr>
                <a:latin typeface="Courier"/>
              </a:rPr>
              <a:t>git switch -c new-plot</a:t>
            </a:r>
            <a:r>
              <a:rPr/>
              <a:t> starts one: try an idea without touching </a:t>
            </a:r>
            <a:r>
              <a:rPr>
                <a:latin typeface="Courier"/>
              </a:rPr>
              <a:t>main</a:t>
            </a:r>
            <a:r>
              <a:rPr/>
              <a:t>. If it works, </a:t>
            </a:r>
            <a:r>
              <a:rPr>
                <a:latin typeface="Courier"/>
              </a:rPr>
              <a:t>git merge new-plot</a:t>
            </a:r>
            <a:r>
              <a:rPr/>
              <a:t> brings it back; if not, delete the branch and </a:t>
            </a:r>
            <a:r>
              <a:rPr>
                <a:latin typeface="Courier"/>
              </a:rPr>
              <a:t>main</a:t>
            </a:r>
            <a:r>
              <a:rPr/>
              <a:t> never knew. </a:t>
            </a:r>
            <a:r>
              <a:rPr>
                <a:latin typeface="Courier"/>
              </a:rPr>
              <a:t>git switch</a:t>
            </a:r>
            <a:r>
              <a:rPr/>
              <a:t> / </a:t>
            </a:r>
            <a:r>
              <a:rPr>
                <a:latin typeface="Courier"/>
              </a:rPr>
              <a:t>git checkout &lt;hash&gt;</a:t>
            </a:r>
            <a:r>
              <a:rPr/>
              <a:t> moves HEAD, and the files in the folder change to match that snapshot. Nothing is lost: every commit is still there.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git works entirely on your machine: commit on a train, without network. A remote is another copy of the repository, usually on GitHub (or GitLab, or the hospital’s own server). </a:t>
            </a:r>
            <a:r>
              <a:rPr>
                <a:latin typeface="Courier"/>
              </a:rPr>
              <a:t>git clone</a:t>
            </a:r>
            <a:r>
              <a:rPr/>
              <a:t> makes your copy once; </a:t>
            </a:r>
            <a:r>
              <a:rPr>
                <a:latin typeface="Courier"/>
              </a:rPr>
              <a:t>git push</a:t>
            </a:r>
            <a:r>
              <a:rPr/>
              <a:t> sends your new commits; </a:t>
            </a:r>
            <a:r>
              <a:rPr>
                <a:latin typeface="Courier"/>
              </a:rPr>
              <a:t>git pull</a:t>
            </a:r>
            <a:r>
              <a:rPr/>
              <a:t> fetches the others’ commits and merges them into yours. GitHub adds what git does not have: a web page for the project, issues to track bugs, pull requests to review a change before it is merged. The course material lives there. Two people editing the same lines produce a conflict: git marks both versions in the file, you choose, then commit. It is a normal event, not an error.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everyday collaboration loop: pull before starting, push when done. Authentication: GitHub no longer accepts your password on the command line. Use an SSH key (</a:t>
            </a:r>
            <a:r>
              <a:rPr>
                <a:latin typeface="Courier"/>
              </a:rPr>
              <a:t>ssh-keygen</a:t>
            </a:r>
            <a:r>
              <a:rPr/>
              <a:t>, then paste the public key in GitHub settings) or </a:t>
            </a:r>
            <a:r>
              <a:rPr>
                <a:latin typeface="Courier"/>
              </a:rPr>
              <a:t>gh auth login</a:t>
            </a:r>
            <a:r>
              <a:rPr/>
              <a:t>. This is a good exercise in its own right, and it reuses </a:t>
            </a:r>
            <a:r>
              <a:rPr>
                <a:latin typeface="Courier"/>
              </a:rPr>
              <a:t>ssh</a:t>
            </a:r>
            <a:r>
              <a:rPr/>
              <a:t> from the first section. For a new project: create the empty repository on GitHub, then </a:t>
            </a:r>
            <a:r>
              <a:rPr>
                <a:latin typeface="Courier"/>
              </a:rPr>
              <a:t>git remote add origin &lt;url&gt;</a:t>
            </a:r>
            <a:r>
              <a:rPr/>
              <a:t> and </a:t>
            </a:r>
            <a:r>
              <a:rPr>
                <a:latin typeface="Courier"/>
              </a:rPr>
              <a:t>git push -u origin main</a:t>
            </a:r>
            <a:r>
              <a:rPr/>
              <a:t> from your existing folder.</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health-data rule of this session. A commit is forever: deleting a file in a later commit leaves it in the history, readable by anyone who clones. A patient file pushed to a public GitHub repository is a data breach under GDPR, and must be reported. </a:t>
            </a:r>
            <a:r>
              <a:rPr>
                <a:latin typeface="Courier"/>
              </a:rPr>
              <a:t>.gitignore</a:t>
            </a:r>
            <a:r>
              <a:rPr/>
              <a:t> lists the patterns git must never track: data, secrets, generated files. Write it first, before the first </a:t>
            </a:r>
            <a:r>
              <a:rPr>
                <a:latin typeface="Courier"/>
              </a:rPr>
              <a:t>git add .</a:t>
            </a:r>
            <a:r>
              <a:rPr/>
              <a:t>. The repository holds the code that reads the data, and a README saying where the data lives and who may access it. The data itself stays on the secured server.</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7.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2</a:t>
            </a:r>
            <a:br/>
            <a:r>
              <a:rPr/>
              <a:t>The Command Line</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Digital Health,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1,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Why using a terminal?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Most computers have no screen</a:t>
            </a:r>
          </a:p>
        </p:txBody>
      </p:sp>
      <p:pic>
        <p:nvPicPr>
          <p:cNvPr descr="img/datacenter.jp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Terminal, shell, program, kernel</a:t>
            </a:r>
          </a:p>
        </p:txBody>
      </p:sp>
      <p:pic>
        <p:nvPicPr>
          <p:cNvPr descr="img/terminal_shel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anatomy of a command</a:t>
            </a:r>
          </a:p>
        </p:txBody>
      </p:sp>
      <p:pic>
        <p:nvPicPr>
          <p:cNvPr descr="img/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Moving around, and moving data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filesystem is one tree</a:t>
            </a:r>
          </a:p>
        </p:txBody>
      </p:sp>
      <p:pic>
        <p:nvPicPr>
          <p:cNvPr descr="img/filesyste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Five most usefull commands</a:t>
            </a:r>
          </a:p>
        </p:txBody>
      </p:sp>
      <p:sp>
        <p:nvSpPr>
          <p:cNvPr id="3" name="Content Placeholder 2"/>
          <p:cNvSpPr>
            <a:spLocks noGrp="1"/>
          </p:cNvSpPr>
          <p:nvPr>
            <p:ph idx="1"/>
          </p:nvPr>
        </p:nvSpPr>
        <p:spPr/>
        <p:txBody>
          <a:bodyPr>
            <a:normAutofit/>
          </a:bodyPr>
          <a:lstStyle/>
          <a:p>
            <a:pPr lvl="0" indent="0">
              <a:buNone/>
            </a:pPr>
            <a:r>
              <a:rPr>
                <a:solidFill>
                  <a:srgbClr val="008000"/>
                </a:solidFill>
                <a:latin typeface="Courier"/>
              </a:rPr>
              <a:t>pwd</a:t>
            </a:r>
            <a:r>
              <a:rPr>
                <a:latin typeface="Courier"/>
              </a:rPr>
              <a:t>                     </a:t>
            </a:r>
            <a:r>
              <a:rPr i="1">
                <a:solidFill>
                  <a:srgbClr val="60A0B0"/>
                </a:solidFill>
                <a:latin typeface="Courier"/>
              </a:rPr>
              <a:t># where am I</a:t>
            </a:r>
            <a:br/>
            <a:r>
              <a:rPr>
                <a:solidFill>
                  <a:srgbClr val="008000"/>
                </a:solidFill>
                <a:latin typeface="Courier"/>
              </a:rPr>
              <a:t>cd</a:t>
            </a:r>
            <a:r>
              <a:rPr>
                <a:latin typeface="Courier"/>
              </a:rPr>
              <a:t> data/ecg             </a:t>
            </a:r>
            <a:r>
              <a:rPr i="1">
                <a:solidFill>
                  <a:srgbClr val="60A0B0"/>
                </a:solidFill>
                <a:latin typeface="Courier"/>
              </a:rPr>
              <a:t># go there  (cd ..  goes up, cd  goes home)</a:t>
            </a:r>
            <a:br/>
            <a:r>
              <a:rPr>
                <a:solidFill>
                  <a:srgbClr val="06287E"/>
                </a:solidFill>
                <a:latin typeface="Courier"/>
              </a:rPr>
              <a:t>ls</a:t>
            </a:r>
            <a:r>
              <a:rPr>
                <a:latin typeface="Courier"/>
              </a:rPr>
              <a:t> </a:t>
            </a:r>
            <a:r>
              <a:rPr>
                <a:solidFill>
                  <a:srgbClr val="7D9029"/>
                </a:solidFill>
                <a:latin typeface="Courier"/>
              </a:rPr>
              <a:t>-lh</a:t>
            </a:r>
            <a:r>
              <a:rPr>
                <a:latin typeface="Courier"/>
              </a:rPr>
              <a:t>                  </a:t>
            </a:r>
            <a:r>
              <a:rPr i="1">
                <a:solidFill>
                  <a:srgbClr val="60A0B0"/>
                </a:solidFill>
                <a:latin typeface="Courier"/>
              </a:rPr>
              <a:t># what is here, with sizes</a:t>
            </a:r>
            <a:br/>
            <a:r>
              <a:rPr>
                <a:solidFill>
                  <a:srgbClr val="06287E"/>
                </a:solidFill>
                <a:latin typeface="Courier"/>
              </a:rPr>
              <a:t>mkdir</a:t>
            </a:r>
            <a:r>
              <a:rPr>
                <a:latin typeface="Courier"/>
              </a:rPr>
              <a:t> </a:t>
            </a:r>
            <a:r>
              <a:rPr>
                <a:solidFill>
                  <a:srgbClr val="7D9029"/>
                </a:solidFill>
                <a:latin typeface="Courier"/>
              </a:rPr>
              <a:t>-p</a:t>
            </a:r>
            <a:r>
              <a:rPr>
                <a:latin typeface="Courier"/>
              </a:rPr>
              <a:t> results/2026   </a:t>
            </a:r>
            <a:r>
              <a:rPr i="1">
                <a:solidFill>
                  <a:srgbClr val="60A0B0"/>
                </a:solidFill>
                <a:latin typeface="Courier"/>
              </a:rPr>
              <a:t># make a folder (and its parents)</a:t>
            </a:r>
            <a:br/>
            <a:r>
              <a:rPr>
                <a:solidFill>
                  <a:srgbClr val="06287E"/>
                </a:solidFill>
                <a:latin typeface="Courier"/>
              </a:rPr>
              <a:t>cp</a:t>
            </a:r>
            <a:r>
              <a:rPr>
                <a:latin typeface="Courier"/>
              </a:rPr>
              <a:t> a.csv backup/        </a:t>
            </a:r>
            <a:r>
              <a:rPr i="1">
                <a:solidFill>
                  <a:srgbClr val="60A0B0"/>
                </a:solidFill>
                <a:latin typeface="Courier"/>
              </a:rPr>
              <a:t># copy      (mv = move / rename, rm = delete)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Text in, text out</a:t>
            </a:r>
          </a:p>
        </p:txBody>
      </p:sp>
      <p:pic>
        <p:nvPicPr>
          <p:cNvPr descr="img/pipelin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More commands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normAutofit/>
                    </a:bodyPr>
                    <a:lstStyle/>
                    <a:p>
                      <a:pPr lvl="0" indent="0" marL="0">
                        <a:buNone/>
                      </a:pPr>
                      <a:r>
                        <a:rPr/>
                        <a:t>Command</a:t>
                      </a:r>
                    </a:p>
                  </a:txBody>
                  <a:tcPr/>
                </a:tc>
                <a:tc>
                  <a:txBody>
                    <a:bodyPr>
                      <a:normAutofit/>
                    </a:bodyPr>
                    <a:lstStyle/>
                    <a:p>
                      <a:pPr lvl="0" indent="0" marL="0">
                        <a:buNone/>
                      </a:pPr>
                      <a:r>
                        <a:rPr/>
                        <a:t>Does</a:t>
                      </a:r>
                    </a:p>
                  </a:txBody>
                  <a:tcPr/>
                </a:tc>
              </a:tr>
              <a:tr h="0">
                <a:tc>
                  <a:txBody>
                    <a:bodyPr>
                      <a:normAutofit/>
                    </a:bodyPr>
                    <a:lstStyle/>
                    <a:p>
                      <a:pPr lvl="0" indent="0" marL="0">
                        <a:buNone/>
                      </a:pPr>
                      <a:r>
                        <a:rPr>
                          <a:latin typeface="Courier"/>
                        </a:rPr>
                        <a:t>cat</a:t>
                      </a:r>
                      <a:r>
                        <a:rPr/>
                        <a:t> / </a:t>
                      </a:r>
                      <a:r>
                        <a:rPr>
                          <a:latin typeface="Courier"/>
                        </a:rPr>
                        <a:t>head</a:t>
                      </a:r>
                      <a:r>
                        <a:rPr/>
                        <a:t> / </a:t>
                      </a:r>
                      <a:r>
                        <a:rPr>
                          <a:latin typeface="Courier"/>
                        </a:rPr>
                        <a:t>tail</a:t>
                      </a:r>
                    </a:p>
                  </a:txBody>
                </a:tc>
                <a:tc>
                  <a:txBody>
                    <a:bodyPr>
                      <a:normAutofit/>
                    </a:bodyPr>
                    <a:lstStyle/>
                    <a:p>
                      <a:pPr lvl="0" indent="0" marL="0">
                        <a:buNone/>
                      </a:pPr>
                      <a:r>
                        <a:rPr/>
                        <a:t>print a file, its first, its last lines</a:t>
                      </a:r>
                    </a:p>
                  </a:txBody>
                </a:tc>
              </a:tr>
              <a:tr h="0">
                <a:tc>
                  <a:txBody>
                    <a:bodyPr>
                      <a:normAutofit/>
                    </a:bodyPr>
                    <a:lstStyle/>
                    <a:p>
                      <a:pPr lvl="0" indent="0" marL="0">
                        <a:buNone/>
                      </a:pPr>
                      <a:r>
                        <a:rPr>
                          <a:latin typeface="Courier"/>
                        </a:rPr>
                        <a:t>wc -l</a:t>
                      </a:r>
                    </a:p>
                  </a:txBody>
                </a:tc>
                <a:tc>
                  <a:txBody>
                    <a:bodyPr>
                      <a:normAutofit/>
                    </a:bodyPr>
                    <a:lstStyle/>
                    <a:p>
                      <a:pPr lvl="0" indent="0" marL="0">
                        <a:buNone/>
                      </a:pPr>
                      <a:r>
                        <a:rPr/>
                        <a:t>count lines (rows in a CSV)</a:t>
                      </a:r>
                    </a:p>
                  </a:txBody>
                </a:tc>
              </a:tr>
              <a:tr h="0">
                <a:tc>
                  <a:txBody>
                    <a:bodyPr>
                      <a:normAutofit/>
                    </a:bodyPr>
                    <a:lstStyle/>
                    <a:p>
                      <a:pPr lvl="0" indent="0" marL="0">
                        <a:buNone/>
                      </a:pPr>
                      <a:r>
                        <a:rPr>
                          <a:latin typeface="Courier"/>
                        </a:rPr>
                        <a:t>grep 'ICU'</a:t>
                      </a:r>
                    </a:p>
                  </a:txBody>
                </a:tc>
                <a:tc>
                  <a:txBody>
                    <a:bodyPr>
                      <a:normAutofit/>
                    </a:bodyPr>
                    <a:lstStyle/>
                    <a:p>
                      <a:pPr lvl="0" indent="0" marL="0">
                        <a:buNone/>
                      </a:pPr>
                      <a:r>
                        <a:rPr/>
                        <a:t>keep the lines that match</a:t>
                      </a:r>
                    </a:p>
                  </a:txBody>
                </a:tc>
              </a:tr>
              <a:tr h="0">
                <a:tc>
                  <a:txBody>
                    <a:bodyPr>
                      <a:normAutofit/>
                    </a:bodyPr>
                    <a:lstStyle/>
                    <a:p>
                      <a:pPr lvl="0" indent="0" marL="0">
                        <a:buNone/>
                      </a:pPr>
                      <a:r>
                        <a:rPr>
                          <a:latin typeface="Courier"/>
                        </a:rPr>
                        <a:t>cut -d, -f2</a:t>
                      </a:r>
                    </a:p>
                  </a:txBody>
                </a:tc>
                <a:tc>
                  <a:txBody>
                    <a:bodyPr>
                      <a:normAutofit/>
                    </a:bodyPr>
                    <a:lstStyle/>
                    <a:p>
                      <a:pPr lvl="0" indent="0" marL="0">
                        <a:buNone/>
                      </a:pPr>
                      <a:r>
                        <a:rPr/>
                        <a:t>keep a column</a:t>
                      </a:r>
                    </a:p>
                  </a:txBody>
                </a:tc>
              </a:tr>
              <a:tr h="0">
                <a:tc>
                  <a:txBody>
                    <a:bodyPr>
                      <a:normAutofit/>
                    </a:bodyPr>
                    <a:lstStyle/>
                    <a:p>
                      <a:pPr lvl="0" indent="0" marL="0">
                        <a:buNone/>
                      </a:pPr>
                      <a:r>
                        <a:rPr>
                          <a:latin typeface="Courier"/>
                        </a:rPr>
                        <a:t>sort</a:t>
                      </a:r>
                      <a:r>
                        <a:rPr/>
                        <a:t> / </a:t>
                      </a:r>
                      <a:r>
                        <a:rPr>
                          <a:latin typeface="Courier"/>
                        </a:rPr>
                        <a:t>uniq -c</a:t>
                      </a:r>
                    </a:p>
                  </a:txBody>
                </a:tc>
                <a:tc>
                  <a:txBody>
                    <a:bodyPr>
                      <a:normAutofit/>
                    </a:bodyPr>
                    <a:lstStyle/>
                    <a:p>
                      <a:pPr lvl="0" indent="0" marL="0">
                        <a:buNone/>
                      </a:pPr>
                      <a:r>
                        <a:rPr/>
                        <a:t>order, and count repeats</a:t>
                      </a:r>
                    </a:p>
                  </a:txBody>
                </a:tc>
              </a:tr>
              <a:tr h="0">
                <a:tc>
                  <a:txBody>
                    <a:bodyPr>
                      <a:normAutofit/>
                    </a:bodyPr>
                    <a:lstStyle/>
                    <a:p>
                      <a:pPr lvl="0" indent="0" marL="0">
                        <a:buNone/>
                      </a:pPr>
                      <a:r>
                        <a:rPr>
                          <a:latin typeface="Courier"/>
                        </a:rPr>
                        <a:t>find . -name '*.csv'</a:t>
                      </a:r>
                    </a:p>
                  </a:txBody>
                </a:tc>
                <a:tc>
                  <a:txBody>
                    <a:bodyPr>
                      <a:normAutofit/>
                    </a:bodyPr>
                    <a:lstStyle/>
                    <a:p>
                      <a:pPr lvl="0" indent="0" marL="0">
                        <a:buNone/>
                      </a:pPr>
                      <a:r>
                        <a:rPr/>
                        <a:t>list files matching a pattern, recursively</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Version control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Which file is the final one?</a:t>
            </a:r>
          </a:p>
        </p:txBody>
      </p:sp>
      <p:pic>
        <p:nvPicPr>
          <p:cNvPr descr="img/git_wh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Creating a snapshot</a:t>
            </a:r>
          </a:p>
        </p:txBody>
      </p:sp>
      <p:pic>
        <p:nvPicPr>
          <p:cNvPr descr="img/git_area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Daily loop</a:t>
            </a:r>
          </a:p>
        </p:txBody>
      </p:sp>
      <p:sp>
        <p:nvSpPr>
          <p:cNvPr id="3" name="Content Placeholder 2"/>
          <p:cNvSpPr>
            <a:spLocks noGrp="1"/>
          </p:cNvSpPr>
          <p:nvPr>
            <p:ph idx="1"/>
          </p:nvPr>
        </p:nvSpPr>
        <p:spPr/>
        <p:txBody>
          <a:bodyPr>
            <a:normAutofit/>
          </a:bodyPr>
          <a:lstStyle/>
          <a:p>
            <a:pPr lvl="0" indent="0">
              <a:buNone/>
            </a:pPr>
            <a:r>
              <a:rPr>
                <a:solidFill>
                  <a:srgbClr val="06287E"/>
                </a:solidFill>
                <a:latin typeface="Courier"/>
              </a:rPr>
              <a:t>git</a:t>
            </a:r>
            <a:r>
              <a:rPr>
                <a:latin typeface="Courier"/>
              </a:rPr>
              <a:t> init              </a:t>
            </a:r>
            <a:r>
              <a:rPr i="1">
                <a:solidFill>
                  <a:srgbClr val="60A0B0"/>
                </a:solidFill>
                <a:latin typeface="Courier"/>
              </a:rPr>
              <a:t># once per project</a:t>
            </a:r>
            <a:br/>
            <a:r>
              <a:rPr>
                <a:solidFill>
                  <a:srgbClr val="06287E"/>
                </a:solidFill>
                <a:latin typeface="Courier"/>
              </a:rPr>
              <a:t>git</a:t>
            </a:r>
            <a:r>
              <a:rPr>
                <a:latin typeface="Courier"/>
              </a:rPr>
              <a:t> status            </a:t>
            </a:r>
            <a:r>
              <a:rPr i="1">
                <a:solidFill>
                  <a:srgbClr val="60A0B0"/>
                </a:solidFill>
                <a:latin typeface="Courier"/>
              </a:rPr>
              <a:t># what changed?</a:t>
            </a:r>
            <a:br/>
            <a:r>
              <a:rPr>
                <a:solidFill>
                  <a:srgbClr val="06287E"/>
                </a:solidFill>
                <a:latin typeface="Courier"/>
              </a:rPr>
              <a:t>git</a:t>
            </a:r>
            <a:r>
              <a:rPr>
                <a:latin typeface="Courier"/>
              </a:rPr>
              <a:t> diff              </a:t>
            </a:r>
            <a:r>
              <a:rPr i="1">
                <a:solidFill>
                  <a:srgbClr val="60A0B0"/>
                </a:solidFill>
                <a:latin typeface="Courier"/>
              </a:rPr>
              <a:t># show the changes</a:t>
            </a:r>
            <a:br/>
            <a:r>
              <a:rPr>
                <a:solidFill>
                  <a:srgbClr val="06287E"/>
                </a:solidFill>
                <a:latin typeface="Courier"/>
              </a:rPr>
              <a:t>git</a:t>
            </a:r>
            <a:r>
              <a:rPr>
                <a:latin typeface="Courier"/>
              </a:rPr>
              <a:t> add clean.py      </a:t>
            </a:r>
            <a:r>
              <a:rPr i="1">
                <a:solidFill>
                  <a:srgbClr val="60A0B0"/>
                </a:solidFill>
                <a:latin typeface="Courier"/>
              </a:rPr>
              <a:t># stage a file</a:t>
            </a:r>
            <a:br/>
            <a:r>
              <a:rPr>
                <a:solidFill>
                  <a:srgbClr val="06287E"/>
                </a:solidFill>
                <a:latin typeface="Courier"/>
              </a:rPr>
              <a:t>git</a:t>
            </a:r>
            <a:r>
              <a:rPr>
                <a:latin typeface="Courier"/>
              </a:rPr>
              <a:t> commit </a:t>
            </a:r>
            <a:r>
              <a:rPr>
                <a:solidFill>
                  <a:srgbClr val="7D9029"/>
                </a:solidFill>
                <a:latin typeface="Courier"/>
              </a:rPr>
              <a:t>-m</a:t>
            </a:r>
            <a:r>
              <a:rPr>
                <a:latin typeface="Courier"/>
              </a:rPr>
              <a:t> </a:t>
            </a:r>
            <a:r>
              <a:rPr>
                <a:solidFill>
                  <a:srgbClr val="4070A0"/>
                </a:solidFill>
                <a:latin typeface="Courier"/>
              </a:rPr>
              <a:t>"Drop rows without age"</a:t>
            </a:r>
            <a:br/>
            <a:r>
              <a:rPr>
                <a:solidFill>
                  <a:srgbClr val="06287E"/>
                </a:solidFill>
                <a:latin typeface="Courier"/>
              </a:rPr>
              <a:t>git</a:t>
            </a:r>
            <a:r>
              <a:rPr>
                <a:latin typeface="Courier"/>
              </a:rPr>
              <a:t> log </a:t>
            </a:r>
            <a:r>
              <a:rPr>
                <a:solidFill>
                  <a:srgbClr val="7D9029"/>
                </a:solidFill>
                <a:latin typeface="Courier"/>
              </a:rPr>
              <a:t>--oneline</a:t>
            </a:r>
            <a:r>
              <a:rPr>
                <a:latin typeface="Courier"/>
              </a:rPr>
              <a:t>     </a:t>
            </a:r>
            <a:r>
              <a:rPr i="1">
                <a:solidFill>
                  <a:srgbClr val="60A0B0"/>
                </a:solidFill>
                <a:latin typeface="Courier"/>
              </a:rPr>
              <a:t># the history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History and branches</a:t>
            </a:r>
          </a:p>
        </p:txBody>
      </p:sp>
      <p:pic>
        <p:nvPicPr>
          <p:cNvPr descr="img/git_histo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Local and remote</a:t>
            </a:r>
          </a:p>
        </p:txBody>
      </p:sp>
      <p:pic>
        <p:nvPicPr>
          <p:cNvPr descr="img/git_remot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Working with GitHub</a:t>
            </a:r>
          </a:p>
        </p:txBody>
      </p:sp>
      <p:sp>
        <p:nvSpPr>
          <p:cNvPr id="3" name="Content Placeholder 2"/>
          <p:cNvSpPr>
            <a:spLocks noGrp="1"/>
          </p:cNvSpPr>
          <p:nvPr>
            <p:ph idx="1"/>
          </p:nvPr>
        </p:nvSpPr>
        <p:spPr/>
        <p:txBody>
          <a:bodyPr>
            <a:normAutofit/>
          </a:bodyPr>
          <a:lstStyle/>
          <a:p>
            <a:pPr lvl="0" indent="0">
              <a:buNone/>
            </a:pPr>
            <a:r>
              <a:rPr>
                <a:solidFill>
                  <a:srgbClr val="06287E"/>
                </a:solidFill>
                <a:latin typeface="Courier"/>
              </a:rPr>
              <a:t>git</a:t>
            </a:r>
            <a:r>
              <a:rPr>
                <a:latin typeface="Courier"/>
              </a:rPr>
              <a:t> clone https://github.com/org/repo</a:t>
            </a:r>
            <a:br/>
            <a:r>
              <a:rPr>
                <a:solidFill>
                  <a:srgbClr val="008000"/>
                </a:solidFill>
                <a:latin typeface="Courier"/>
              </a:rPr>
              <a:t>cd</a:t>
            </a:r>
            <a:r>
              <a:rPr>
                <a:latin typeface="Courier"/>
              </a:rPr>
              <a:t> repo</a:t>
            </a:r>
            <a:br/>
            <a:r>
              <a:rPr i="1">
                <a:solidFill>
                  <a:srgbClr val="60A0B0"/>
                </a:solidFill>
                <a:latin typeface="Courier"/>
              </a:rPr>
              <a:t># ... edit, add, commit ...</a:t>
            </a:r>
            <a:br/>
            <a:r>
              <a:rPr>
                <a:solidFill>
                  <a:srgbClr val="06287E"/>
                </a:solidFill>
                <a:latin typeface="Courier"/>
              </a:rPr>
              <a:t>git</a:t>
            </a:r>
            <a:r>
              <a:rPr>
                <a:latin typeface="Courier"/>
              </a:rPr>
              <a:t> pull            </a:t>
            </a:r>
            <a:r>
              <a:rPr i="1">
                <a:solidFill>
                  <a:srgbClr val="60A0B0"/>
                </a:solidFill>
                <a:latin typeface="Courier"/>
              </a:rPr>
              <a:t># get the others' work</a:t>
            </a:r>
            <a:br/>
            <a:r>
              <a:rPr>
                <a:solidFill>
                  <a:srgbClr val="06287E"/>
                </a:solidFill>
                <a:latin typeface="Courier"/>
              </a:rPr>
              <a:t>git</a:t>
            </a:r>
            <a:r>
              <a:rPr>
                <a:latin typeface="Courier"/>
              </a:rPr>
              <a:t> push            </a:t>
            </a:r>
            <a:r>
              <a:rPr i="1">
                <a:solidFill>
                  <a:srgbClr val="60A0B0"/>
                </a:solidFill>
                <a:latin typeface="Courier"/>
              </a:rPr>
              <a:t># publish yours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to ignore</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.gitignore</a:t>
            </a:r>
            <a:br/>
            <a:r>
              <a:rPr>
                <a:latin typeface="Courier"/>
              </a:rPr>
              <a:t>data/          </a:t>
            </a:r>
            <a:r>
              <a:rPr i="1">
                <a:solidFill>
                  <a:srgbClr val="60A0B0"/>
                </a:solidFill>
                <a:latin typeface="Courier"/>
              </a:rPr>
              <a:t># patient data</a:t>
            </a:r>
            <a:br/>
            <a:r>
              <a:rPr>
                <a:latin typeface="Courier"/>
              </a:rPr>
              <a:t>*.csv</a:t>
            </a:r>
            <a:br/>
            <a:r>
              <a:rPr>
                <a:latin typeface="Courier"/>
              </a:rPr>
              <a:t>.env           </a:t>
            </a:r>
            <a:r>
              <a:rPr i="1">
                <a:solidFill>
                  <a:srgbClr val="60A0B0"/>
                </a:solidFill>
                <a:latin typeface="Courier"/>
              </a:rPr>
              <a:t># passwords, API keys</a:t>
            </a:r>
            <a:br/>
            <a:r>
              <a:rPr>
                <a:latin typeface="Courier"/>
              </a:rPr>
              <a:t>.venv/         </a:t>
            </a:r>
            <a:r>
              <a:rPr i="1">
                <a:solidFill>
                  <a:srgbClr val="60A0B0"/>
                </a:solidFill>
                <a:latin typeface="Courier"/>
              </a:rPr>
              <a:t># re-created by uv sync</a:t>
            </a:r>
            <a:br/>
            <a:r>
              <a:rPr>
                <a:latin typeface="Courier"/>
              </a:rPr>
              <a:t>__pycache__/</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The Command Line</dc:title>
  <dc:creator>Paul Dubois</dc:creator>
  <cp:keywords/>
  <dcterms:created xsi:type="dcterms:W3CDTF">2026-10-13T12:20:16Z</dcterms:created>
  <dcterms:modified xsi:type="dcterms:W3CDTF">2026-10-13T12:20:16Z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1, Lecture</vt:lpwstr>
  </property>
  <property fmtid="{D5CDD505-2E9C-101B-9397-08002B2CF9AE}" pid="3" name="subtitle">
    <vt:lpwstr>Digital Health, Mastère Spécialisé · 2026</vt:lpwstr>
  </property>
</Properties>
</file>