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Avant tout figure, il y a un tableau : un export du système d’information hospitalier, un feuille de calcul d’un collègue, les résultats d’une requête. pandas est la bibliothèque qui le lit et vous donne un objet, le DataFrame. Vocabulaire, que chaque message d’erreur utilise. Le DataFrame est la table entière. Chaque colonne a un nom et un type (</a:t>
            </a:r>
            <a:r>
              <a:rPr>
                <a:latin typeface="Courier"/>
              </a:rPr>
              <a:t>df.dtypes</a:t>
            </a:r>
            <a:r>
              <a:rPr/>
              <a:t>) ; une seule colonne est une Series. Chaque ligne a une étiquette, l’index, qui par défaut est juste sa position. La colonne âge se lit comme </a:t>
            </a:r>
            <a:r>
              <a:rPr>
                <a:latin typeface="Courier"/>
              </a:rPr>
              <a:t>float64</a:t>
            </a:r>
            <a:r>
              <a:rPr/>
              <a:t> et non comme un entier en raison de la valeur manquante : </a:t>
            </a:r>
            <a:r>
              <a:rPr>
                <a:latin typeface="Courier"/>
              </a:rPr>
              <a:t>NaN</a:t>
            </a:r>
            <a:r>
              <a:rPr/>
              <a:t> n’existe que pour les flottants, donc une cellule vide fait flotter toute la colonne. C’est le première surprise de toute véritable exportation. </a:t>
            </a:r>
            <a:r>
              <a:rPr>
                <a:latin typeface="Courier"/>
              </a:rPr>
              <a:t>df.head()</a:t>
            </a:r>
            <a:r>
              <a:rPr/>
              <a:t>, </a:t>
            </a:r>
            <a:r>
              <a:rPr>
                <a:latin typeface="Courier"/>
              </a:rPr>
              <a:t>df.shape</a:t>
            </a:r>
            <a:r>
              <a:rPr/>
              <a:t>, </a:t>
            </a:r>
            <a:r>
              <a:rPr>
                <a:latin typeface="Courier"/>
              </a:rPr>
              <a:t>df.info()</a:t>
            </a:r>
            <a:r>
              <a:rPr/>
              <a:t> : les trois commandes à exécuter sur n’importe quelle table que vous recevez, avant toute autre chose.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tableau numpy (session 3) contient un type et des positions. </a:t>
            </a:r>
            <a:r>
              <a:rPr>
                <a:latin typeface="Courier"/>
              </a:rPr>
              <a:t>a[:, 1]</a:t>
            </a:r>
            <a:r>
              <a:rPr/>
              <a:t> est la deuxième colonne, et rien dans le tableau ne dit ce qu’était la deuxième colonne : vous la gardez dans votre tête, ou dans un commentez, et un jour vous vous trompez. Un DataFrame conserve les noms et autorise un type par colonne, donc le texte (</a:t>
            </a:r>
            <a:r>
              <a:rPr>
                <a:latin typeface="Courier"/>
              </a:rPr>
              <a:t>ward</a:t>
            </a:r>
            <a:r>
              <a:rPr/>
              <a:t>, </a:t>
            </a:r>
            <a:r>
              <a:rPr>
                <a:latin typeface="Courier"/>
              </a:rPr>
              <a:t>outcome</a:t>
            </a:r>
            <a:r>
              <a:rPr/>
              <a:t>) et les nombres vivent dans le même tableau. </a:t>
            </a:r>
            <a:r>
              <a:rPr>
                <a:latin typeface="Courier"/>
              </a:rPr>
              <a:t>clean["age"]</a:t>
            </a:r>
            <a:r>
              <a:rPr/>
              <a:t> ne peut pas être la mauvaise colonne. La règle de ce cours : des pandas à charger, nettoyer et sélectionner ; numpy à l’intérieur, pour le calcul; matplotlib à la fin, pour la figure. Une colonne est un tableau numpy en dessous, donc </a:t>
            </a:r>
            <a:r>
              <a:rPr>
                <a:latin typeface="Courier"/>
              </a:rPr>
              <a:t>ax.plot(df["age"], df["los_days"])</a:t>
            </a:r>
            <a:r>
              <a:rPr/>
              <a:t> fonctionne.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pd.read_csv</a:t>
            </a:r>
            <a:r>
              <a:rPr/>
              <a:t> est une ligne pour ce qui a nécessité une boucle </a:t>
            </a:r>
            <a:r>
              <a:rPr>
                <a:latin typeface="Courier"/>
              </a:rPr>
              <a:t>csv.DictReader</a:t>
            </a:r>
            <a:r>
              <a:rPr/>
              <a:t>, une liste de dictés et un conversion manuelle de chaque champ. Il lit également Excel (</a:t>
            </a:r>
            <a:r>
              <a:rPr>
                <a:latin typeface="Courier"/>
              </a:rPr>
              <a:t>read_excel</a:t>
            </a:r>
            <a:r>
              <a:rPr/>
              <a:t>), JSON, SQL et autres, avec la même forme d’appel. Arguments utiles lorsque l’export ne coopère pas : </a:t>
            </a:r>
            <a:r>
              <a:rPr>
                <a:latin typeface="Courier"/>
              </a:rPr>
              <a:t>sep=";"</a:t>
            </a:r>
            <a:r>
              <a:rPr/>
              <a:t> (la valeur par défaut d’Excel français), </a:t>
            </a:r>
            <a:r>
              <a:rPr>
                <a:latin typeface="Courier"/>
              </a:rPr>
              <a:t>decimal=","</a:t>
            </a:r>
            <a:r>
              <a:rPr/>
              <a:t>, </a:t>
            </a:r>
            <a:r>
              <a:rPr>
                <a:latin typeface="Courier"/>
              </a:rPr>
              <a:t>na_values=["", "NA", "NR"]</a:t>
            </a:r>
            <a:r>
              <a:rPr/>
              <a:t>, </a:t>
            </a:r>
            <a:r>
              <a:rPr>
                <a:latin typeface="Courier"/>
              </a:rPr>
              <a:t>parse_dates=["admission"]</a:t>
            </a:r>
            <a:r>
              <a:rPr/>
              <a:t>, </a:t>
            </a:r>
            <a:r>
              <a:rPr>
                <a:latin typeface="Courier"/>
              </a:rPr>
              <a:t>encoding="latin-1"</a:t>
            </a:r>
            <a:r>
              <a:rPr/>
              <a:t>. </a:t>
            </a:r>
            <a:r>
              <a:rPr>
                <a:latin typeface="Courier"/>
              </a:rPr>
              <a:t>df.info()</a:t>
            </a:r>
            <a:r>
              <a:rPr/>
              <a:t> est celui qui vous indique combien de valeurs sont réellement présentes par colonne, donc combien en manquent.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isna()</a:t>
            </a:r>
            <a:r>
              <a:rPr/>
              <a:t> donne un tableau de Vrai/Faux, et </a:t>
            </a:r>
            <a:r>
              <a:rPr>
                <a:latin typeface="Courier"/>
              </a:rPr>
              <a:t>.sum()</a:t>
            </a:r>
            <a:r>
              <a:rPr/>
              <a:t> compte les Vrai par colonne : les manquants rapport de la valeur de l’export, sur une seule ligne. </a:t>
            </a:r>
            <a:r>
              <a:rPr>
                <a:latin typeface="Courier"/>
              </a:rPr>
              <a:t>dropna()</a:t>
            </a:r>
            <a:r>
              <a:rPr/>
              <a:t> supprime chaque ligne avec au moins une valeur manquante. C’est le choix le plus simple, pas toujours la bonne : ici cela coûte 8 patients sur 240. </a:t>
            </a:r>
            <a:r>
              <a:rPr>
                <a:latin typeface="Courier"/>
              </a:rPr>
              <a:t>dropna(subset=["age"])</a:t>
            </a:r>
            <a:r>
              <a:rPr/>
              <a:t> tombe uniquement sur la colonne qui compte, et </a:t>
            </a:r>
            <a:r>
              <a:rPr>
                <a:latin typeface="Courier"/>
              </a:rPr>
              <a:t>fillna(value)</a:t>
            </a:r>
            <a:r>
              <a:rPr/>
              <a:t> remplace au lieu de supprimer. Quoi que vous choisissiez, dites-le dans la section méthodes. Une fois les NaN partis, </a:t>
            </a:r>
            <a:r>
              <a:rPr>
                <a:latin typeface="Courier"/>
              </a:rPr>
              <a:t>astype("int64")</a:t>
            </a:r>
            <a:r>
              <a:rPr/>
              <a:t> redonne un âge réel entier. </a:t>
            </a:r>
            <a:r>
              <a:rPr>
                <a:latin typeface="Courier"/>
              </a:rPr>
              <a:t>"category"</a:t>
            </a:r>
            <a:r>
              <a:rPr/>
              <a:t> est pour une colonne avec peu de valeurs distinctes (la salle, le résultat) : moins de mémoire, et elle dit que ce sont des groupes. </a:t>
            </a:r>
            <a:r>
              <a:rPr>
                <a:latin typeface="Courier"/>
              </a:rPr>
              <a:t>pd.to_datetime</a:t>
            </a:r>
            <a:r>
              <a:rPr/>
              <a:t> transforme le texte d’admission en dates réelles, qui peuvent être soustrait et trié.</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nom entre crochets donne une Series, qui porte les statistiques habituelles comme méthodes : </a:t>
            </a:r>
            <a:r>
              <a:rPr>
                <a:latin typeface="Courier"/>
              </a:rPr>
              <a:t>mean</a:t>
            </a:r>
            <a:r>
              <a:rPr/>
              <a:t>, </a:t>
            </a:r>
            <a:r>
              <a:rPr>
                <a:latin typeface="Courier"/>
              </a:rPr>
              <a:t>median</a:t>
            </a:r>
            <a:r>
              <a:rPr/>
              <a:t>, </a:t>
            </a:r>
            <a:r>
              <a:rPr>
                <a:latin typeface="Courier"/>
              </a:rPr>
              <a:t>std</a:t>
            </a:r>
            <a:r>
              <a:rPr/>
              <a:t>, </a:t>
            </a:r>
            <a:r>
              <a:rPr>
                <a:latin typeface="Courier"/>
              </a:rPr>
              <a:t>min</a:t>
            </a:r>
            <a:r>
              <a:rPr/>
              <a:t>, </a:t>
            </a:r>
            <a:r>
              <a:rPr>
                <a:latin typeface="Courier"/>
              </a:rPr>
              <a:t>max</a:t>
            </a:r>
            <a:r>
              <a:rPr/>
              <a:t>, </a:t>
            </a:r>
            <a:r>
              <a:rPr>
                <a:latin typeface="Courier"/>
              </a:rPr>
              <a:t>describe</a:t>
            </a:r>
            <a:r>
              <a:rPr/>
              <a:t>. </a:t>
            </a:r>
            <a:r>
              <a:rPr>
                <a:latin typeface="Courier"/>
              </a:rPr>
              <a:t>value_counts()</a:t>
            </a:r>
            <a:r>
              <a:rPr/>
              <a:t> est celui que vous utiliserez en permanence sur les colonnes catégorielles : le nombre de patients par service, par résultat, par sexe, triés, en un seul appel. Une liste de noms entre crochets donne un DataFrame avec ces colonnes, dans cet ordre. D’où les doubles parenthèses : les extérieures sont la sélection, les intérieures sont la liste. La sélection de lignes au lieu de colonnes est une condition : </a:t>
            </a:r>
            <a:r>
              <a:rPr>
                <a:latin typeface="Courier"/>
              </a:rPr>
              <a:t>clean[clean["ward"] == "ICU"]</a:t>
            </a:r>
            <a:r>
              <a:rPr/>
              <a:t>, exactement les masques booléens de la Session 3, appliqués à un tableau.</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ajouter </a:t>
            </a:r>
            <a:r>
              <a:rPr>
                <a:latin typeface="Courier"/>
              </a:rPr>
              <a:t>summary["age_group"] = summary["age"].apply(lambda a: "minor" if a &lt; 18 else "adult")</a:t>
            </a:r>
            <a:r>
              <a:rPr/>
              <a:t> ?</a:t>
            </a:r>
          </a:p>
          <a:p>
            <a:pPr lvl="0" indent="0" marL="0">
              <a:buNone/>
            </a:pPr>
          </a:p>
          <a:p>
            <a:pPr lvl="0" indent="0" marL="0">
              <a:buNone/>
            </a:pPr>
            <a:r>
              <a:rPr>
                <a:latin typeface="Courier"/>
              </a:rPr>
              <a:t>.apply(f)</a:t>
            </a:r>
            <a:r>
              <a:rPr/>
              <a:t> appelle </a:t>
            </a:r>
            <a:r>
              <a:rPr>
                <a:latin typeface="Courier"/>
              </a:rPr>
              <a:t>f</a:t>
            </a:r>
            <a:r>
              <a:rPr/>
              <a:t> sur chaque valeur de la colonne et renvoie une nouvelle colonne de résultats. Le est une fonction Python ordinaire (Session 2), donc n’importe quelle règle que vous pouvez écrire, vous pouvez appliquer : un seuil clinique, un recodage, une analyse d’un champ de texte libre. L’attribution à </a:t>
            </a:r>
            <a:r>
              <a:rPr>
                <a:latin typeface="Courier"/>
              </a:rPr>
              <a:t>summary["stay"]</a:t>
            </a:r>
            <a:r>
              <a:rPr/>
              <a:t> avec un nom qui n’existe pas encore crée la colonne. Pour l’arithmétique, n’utilisez pas </a:t>
            </a:r>
            <a:r>
              <a:rPr>
                <a:latin typeface="Courier"/>
              </a:rPr>
              <a:t>apply</a:t>
            </a:r>
            <a:r>
              <a:rPr/>
              <a:t> : </a:t>
            </a:r>
            <a:r>
              <a:rPr>
                <a:latin typeface="Courier"/>
              </a:rPr>
              <a:t>clean["weight"] / clean["height"] ** 2</a:t>
            </a:r>
            <a:r>
              <a:rPr/>
              <a:t> fonctionne sur l’ensemble colonnes à la fois, et est beaucoup plus rapide car numpy fait la boucle. Gardez </a:t>
            </a:r>
            <a:r>
              <a:rPr>
                <a:latin typeface="Courier"/>
              </a:rPr>
              <a:t>apply</a:t>
            </a:r>
            <a:r>
              <a:rPr/>
              <a:t> pour quoi ne peut pas être écrit sous forme de formule.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to_csv</a:t>
            </a:r>
            <a:r>
              <a:rPr/>
              <a:t> réécrit la table sur le disque et </a:t>
            </a:r>
            <a:r>
              <a:rPr>
                <a:latin typeface="Courier"/>
              </a:rPr>
              <a:t>index=False</a:t>
            </a:r>
            <a:r>
              <a:rPr/>
              <a:t> conserve les étiquettes de ligne hors du fichier. Sans cela, vous obtenez une première colonne sans nom de 0, 1, 2, que le prochain lecteur (souvent vous, le mois prochain) doit faire le ménage à nouveau. Autres formats, même appel : </a:t>
            </a:r>
            <a:r>
              <a:rPr>
                <a:latin typeface="Courier"/>
              </a:rPr>
              <a:t>to_excel</a:t>
            </a:r>
            <a:r>
              <a:rPr/>
              <a:t> lorsqu’un collègue le demande, </a:t>
            </a:r>
            <a:r>
              <a:rPr>
                <a:latin typeface="Courier"/>
              </a:rPr>
              <a:t>to_parquet</a:t>
            </a:r>
            <a:r>
              <a:rPr/>
              <a:t> pour un grand table qui reste à l’intérieur du projet (plus petite et plus rapide, et elle conserve les types). N’économisez jamais sur l’exportation brute. Le fichier brut reste intact, le script reconstruit tout sinon : c’est ce qui rend l’analyse reproductible.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la forme de presque tous les scripts d’analyse : charger, nettoyer, sélectionner, calculer, enregistrer et puis tracez. Chaque étape renvoie une nouvelle table au lieu de changer l’ancienne, donc les noms des variables (</a:t>
            </a:r>
            <a:r>
              <a:rPr>
                <a:latin typeface="Courier"/>
              </a:rPr>
              <a:t>df</a:t>
            </a:r>
            <a:r>
              <a:rPr/>
              <a:t>, </a:t>
            </a:r>
            <a:r>
              <a:rPr>
                <a:latin typeface="Courier"/>
              </a:rPr>
              <a:t>clean</a:t>
            </a:r>
            <a:r>
              <a:rPr/>
              <a:t>, </a:t>
            </a:r>
            <a:r>
              <a:rPr>
                <a:latin typeface="Courier"/>
              </a:rPr>
              <a:t>summary</a:t>
            </a:r>
            <a:r>
              <a:rPr/>
              <a:t>) enregistrez l’état des données à chaque étape et réexécutez une cellule ne peut pas corrompre ce qui a précédé. La suite de cette session est la dernière flèche, les figures, avec matplotlib. Les colonnes que vous vous venez de sélectionner ce que vous êtes sur le point de tracer.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quatuor d’Anscombe (1973). Quatre ensembles de données de 11 points : même moyenne, même variance, même corrélation, même droite de régression, à deux décimales. Un tableau de statistiques récapitulatives indique qu’ils sont identiques. Les tracés indiquent : une relation linéaire bruyante, une courbe, une ligne parfaite avec une valeur aberrante, et non relation du tout sauf un point extrême. L’habitude à prendre : tracer les données brutes avant toute statistique. Dans les données cliniques, le tracé est où vous trouvez les âges impossibles, l’unité change (kg vs lb), les lignes dupliquées et l’appareil qui a été débranché.</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Vocabulaire Matplotlib, utilisé par chaque message d’erreur et chaque réponse Stack Overflow. La Figure est le canevas : le fichier que vous enregistrez. Un Axes (avec un e, Axes pluriel) est un graphique zone avec ses propres coordonnées : une figure peut en contenir plusieurs. Tout le reste (ligne, titre, étiquettes, graduations, légende) appartient à un axe et est défini par une méthode de cet axe. Ne confondez pas les axes (la zone de tracé) avec les axes (la règle x ou y d’un axe).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patron de chaque figure de ce cours : créer la figure et ses axes, dessiner sur le axes, étiquetez les axes, enregistrez la figure. </a:t>
            </a:r>
            <a:r>
              <a:rPr>
                <a:latin typeface="Courier"/>
              </a:rPr>
              <a:t>plt.subplots()</a:t>
            </a:r>
            <a:r>
              <a:rPr/>
              <a:t> renvoie deux choses, décompressées dans </a:t>
            </a:r>
            <a:r>
              <a:rPr>
                <a:latin typeface="Courier"/>
              </a:rPr>
              <a:t>fig</a:t>
            </a:r>
            <a:r>
              <a:rPr/>
              <a:t> et </a:t>
            </a:r>
            <a:r>
              <a:rPr>
                <a:latin typeface="Courier"/>
              </a:rPr>
              <a:t>ax</a:t>
            </a:r>
            <a:r>
              <a:rPr/>
              <a:t> (décompression de tuple, de Séance 1). Vous verrez également le style court </a:t>
            </a:r>
            <a:r>
              <a:rPr>
                <a:latin typeface="Courier"/>
              </a:rPr>
              <a:t>plt.plot(...)</a:t>
            </a:r>
            <a:r>
              <a:rPr/>
              <a:t>, </a:t>
            </a:r>
            <a:r>
              <a:rPr>
                <a:latin typeface="Courier"/>
              </a:rPr>
              <a:t>plt.xlabel(...)</a:t>
            </a:r>
            <a:r>
              <a:rPr/>
              <a:t> : il s’appuie sur “le axes actuels”. C’est bien pour un aperçu rapide, mais dès qu’il y a deux graphiques, cela devient ambigu. Utilisez </a:t>
            </a:r>
            <a:r>
              <a:rPr>
                <a:latin typeface="Courier"/>
              </a:rPr>
              <a:t>fig, ax</a:t>
            </a:r>
            <a:r>
              <a:rPr/>
              <a:t> partout et vous n’aurez jamais à vous poser de questions. Dans un cahier, le figure est affiché à la fin de la cellule ; dans un script, appelez </a:t>
            </a:r>
            <a:r>
              <a:rPr>
                <a:latin typeface="Courier"/>
              </a:rPr>
              <a:t>plt.show()</a:t>
            </a:r>
            <a:r>
              <a:rPr/>
              <a:t> ou enregistrez-le simplement.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plt.subplots(2, 3)</a:t>
            </a:r>
            <a:r>
              <a:rPr/>
              <a:t> renvoie un tableau numpy d’axes, de forme </a:t>
            </a:r>
            <a:r>
              <a:rPr>
                <a:latin typeface="Courier"/>
              </a:rPr>
              <a:t>(2, 3)</a:t>
            </a:r>
            <a:r>
              <a:rPr/>
              <a:t>, indexé exactement comme les tableaux de la session 1 : </a:t>
            </a:r>
            <a:r>
              <a:rPr>
                <a:latin typeface="Courier"/>
              </a:rPr>
              <a:t>axes[1, 2]</a:t>
            </a:r>
            <a:r>
              <a:rPr/>
              <a:t> est celui en bas à droite. Avec une seule ligne ou colonne, le tableau est 1D : </a:t>
            </a:r>
            <a:r>
              <a:rPr>
                <a:latin typeface="Courier"/>
              </a:rPr>
              <a:t>axes[0]</a:t>
            </a:r>
            <a:r>
              <a:rPr/>
              <a:t>, </a:t>
            </a:r>
            <a:r>
              <a:rPr>
                <a:latin typeface="Courier"/>
              </a:rPr>
              <a:t>axes[1]</a:t>
            </a:r>
            <a:r>
              <a:rPr/>
              <a:t>. </a:t>
            </a:r>
            <a:r>
              <a:rPr>
                <a:latin typeface="Courier"/>
              </a:rPr>
              <a:t>axes.flat</a:t>
            </a:r>
            <a:r>
              <a:rPr/>
              <a:t> parcourt chacun d’entre eux, pour appliquer le même paramètre partout. </a:t>
            </a:r>
            <a:r>
              <a:rPr>
                <a:latin typeface="Courier"/>
              </a:rPr>
              <a:t>sharex=True</a:t>
            </a:r>
            <a:r>
              <a:rPr/>
              <a:t> donne à tous les tracés le même axe x (essentiel pour les signes vitaux au fil du temps). </a:t>
            </a:r>
            <a:r>
              <a:rPr>
                <a:latin typeface="Courier"/>
              </a:rPr>
              <a:t>fig.tight_layout()</a:t>
            </a:r>
            <a:r>
              <a:rPr/>
              <a:t> corrige les étiquettes qui se chevauchent : appelez-le juste avant de sauvegarder.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Choisissez le tracé à partir de la question, pas à partir des données. Comment évolue une valeur : </a:t>
            </a:r>
            <a:r>
              <a:rPr>
                <a:latin typeface="Courier"/>
              </a:rPr>
              <a:t>plot</a:t>
            </a:r>
            <a:r>
              <a:rPr/>
              <a:t>, une ligne, x est le temps. Deux mesures sont-elles liées : </a:t>
            </a:r>
            <a:r>
              <a:rPr>
                <a:latin typeface="Courier"/>
              </a:rPr>
              <a:t>scatter</a:t>
            </a:r>
            <a:r>
              <a:rPr/>
              <a:t>, un point par patient. Comment est distribuée une mesure : </a:t>
            </a:r>
            <a:r>
              <a:rPr>
                <a:latin typeface="Courier"/>
              </a:rPr>
              <a:t>hist</a:t>
            </a:r>
            <a:r>
              <a:rPr/>
              <a:t>. Combien patients dans chaque groupe : </a:t>
            </a:r>
            <a:r>
              <a:rPr>
                <a:latin typeface="Courier"/>
              </a:rPr>
              <a:t>bar</a:t>
            </a:r>
            <a:r>
              <a:rPr/>
              <a:t>. Comment une mesure se compare-t-elle entre les groupes : </a:t>
            </a:r>
            <a:r>
              <a:rPr>
                <a:latin typeface="Courier"/>
              </a:rPr>
              <a:t>boxplot</a:t>
            </a:r>
            <a:r>
              <a:rPr/>
              <a:t>. À quoi ressemble un tableau 2D : </a:t>
            </a:r>
            <a:r>
              <a:rPr>
                <a:latin typeface="Courier"/>
              </a:rPr>
              <a:t>imshow</a:t>
            </a:r>
            <a:r>
              <a:rPr/>
              <a:t>. Chacun d’entre eux est une méthode de </a:t>
            </a:r>
            <a:r>
              <a:rPr>
                <a:latin typeface="Courier"/>
              </a:rPr>
              <a:t>ax</a:t>
            </a:r>
            <a:r>
              <a:rPr/>
              <a:t>, et chacun prend des tableaux numpy.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lignes correspondent aux valeurs x ordonnées : temps, dose, âge. Si les valeurs x ne sont pas ordonnées (patients), une ligne entre eux ne veut rien dire : utilisez un scatter. Deux mesures avec des unités différentes obtiennent deux axes partageant x, pas un seul axe avec deux échelles mélangées. </a:t>
            </a:r>
            <a:r>
              <a:rPr>
                <a:latin typeface="Courier"/>
              </a:rPr>
              <a:t>marker</a:t>
            </a:r>
            <a:r>
              <a:rPr/>
              <a:t> indique où se trouvent les mesures réelles : avec une valeur par heure, la ligne entre deux points sont une interpolation, pas des données. </a:t>
            </a:r>
            <a:r>
              <a:rPr>
                <a:latin typeface="Courier"/>
              </a:rPr>
              <a:t>ax.axhline(38)</a:t>
            </a:r>
            <a:r>
              <a:rPr/>
              <a:t> et </a:t>
            </a:r>
            <a:r>
              <a:rPr>
                <a:latin typeface="Courier"/>
              </a:rPr>
              <a:t>ax.fill_between(t, 36.5, 37.5, alpha=0.15)</a:t>
            </a:r>
            <a:r>
              <a:rPr/>
              <a:t> mettent la référence clinique (seuil, plage normale) sur le graphique, afin que le lecteur n’ait pas à s’en souvenir.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point par patient, deux mesures comme coordonnées. Une troisième variable peut aller dans la couleur. Une catégorie : un </a:t>
            </a:r>
            <a:r>
              <a:rPr>
                <a:latin typeface="Courier"/>
              </a:rPr>
              <a:t>scatter</a:t>
            </a:r>
            <a:r>
              <a:rPr/>
              <a:t> appel par groupe, chacun avec un </a:t>
            </a:r>
            <a:r>
              <a:rPr>
                <a:latin typeface="Courier"/>
              </a:rPr>
              <a:t>label</a:t>
            </a:r>
            <a:r>
              <a:rPr/>
              <a:t> et </a:t>
            </a:r>
            <a:r>
              <a:rPr>
                <a:latin typeface="Courier"/>
              </a:rPr>
              <a:t>ax.legend()</a:t>
            </a:r>
            <a:r>
              <a:rPr/>
              <a:t>. Un numéro : </a:t>
            </a:r>
            <a:r>
              <a:rPr>
                <a:latin typeface="Courier"/>
              </a:rPr>
              <a:t>c=values</a:t>
            </a:r>
            <a:r>
              <a:rPr/>
              <a:t> avec une carte de couleurs, et </a:t>
            </a:r>
            <a:r>
              <a:rPr>
                <a:latin typeface="Courier"/>
              </a:rPr>
              <a:t>fig.colorbar</a:t>
            </a:r>
            <a:r>
              <a:rPr/>
              <a:t> pour relisez-le. Avec des milliers de points, réduisez </a:t>
            </a:r>
            <a:r>
              <a:rPr>
                <a:latin typeface="Courier"/>
              </a:rPr>
              <a:t>s</a:t>
            </a:r>
            <a:r>
              <a:rPr/>
              <a:t> (taille) et ajoutez </a:t>
            </a:r>
            <a:r>
              <a:rPr>
                <a:latin typeface="Courier"/>
              </a:rPr>
              <a:t>alpha</a:t>
            </a:r>
            <a:r>
              <a:rPr/>
              <a:t> (transparence) pour que le les régions deviennent visibles au lieu d’une tache uniforme.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histogramme compte les valeurs dans les bacs. Le nombre de bacs change la donne : trop peu cachent le forme, trop d’entre eux ne montrent que du bruit. Essayez-en plusieurs et dites lequel vous avez gardé. </a:t>
            </a:r>
            <a:r>
              <a:rPr>
                <a:latin typeface="Courier"/>
              </a:rPr>
              <a:t>bins</a:t>
            </a:r>
            <a:r>
              <a:rPr/>
              <a:t> accepte également les bords eux-mêmes, par ex. </a:t>
            </a:r>
            <a:r>
              <a:rPr>
                <a:latin typeface="Courier"/>
              </a:rPr>
              <a:t>bins=np.arange(10, 45, 1)</a:t>
            </a:r>
            <a:r>
              <a:rPr/>
              <a:t> : une barre par IMC unité, comparable entre les figures. </a:t>
            </a:r>
            <a:r>
              <a:rPr>
                <a:latin typeface="Courier"/>
              </a:rPr>
              <a:t>density=True</a:t>
            </a:r>
            <a:r>
              <a:rPr/>
              <a:t> divise par le total, pour comparer des groupes de tailles différentes.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barre est pour un décompte ou un total par groupe : sa hauteur est l’information, donc l’axe y doit commencer à 0. Pour comparer une mesure entre groupes, une barre de moyenne cache tout ; une boîte à moustaches montre la médiane (ligne), les 50 % du milieu (encadré), la plage (moustaches) et les valeurs aberrantes (cercles). La durée du séjour est la variable asymétrique classique : la plupart des séjours sont courts, quelques-uns sont très longs. C’est eux qui tireraient la moyenne ; le boxplot le montre immédiatement.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imshow</a:t>
            </a:r>
            <a:r>
              <a:rPr/>
              <a:t> transforme chaque valeur d’un tableau 2D en pixel, via une carte de couleurs. Une coupe CT est juste un ensemble numpy d’unités Hounsfield : -1000 correspond à l’air, 0 à l’eau, environ 40 aux tissus mous, plusieurs cent pour l’os. </a:t>
            </a:r>
            <a:r>
              <a:rPr>
                <a:latin typeface="Courier"/>
              </a:rPr>
              <a:t>vmin</a:t>
            </a:r>
            <a:r>
              <a:rPr/>
              <a:t> et </a:t>
            </a:r>
            <a:r>
              <a:rPr>
                <a:latin typeface="Courier"/>
              </a:rPr>
              <a:t>vmax</a:t>
            </a:r>
            <a:r>
              <a:rPr/>
              <a:t> choisissent les valeurs qui couvrent la carte des couleurs : c’est la « fenêtre » des radiologues changer toute la journée. Le même tableau montre les poumons ou les tissus mous selon la fenêtre. Découper le tableau recadre l’image : tout ce qui concerne la session 1 s’applique aux images. Ajoutez toujours une barre de couleurs avec l’unité : sans elle, les niveaux de gris ne veulent rien dire.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carte de couleurs code un nombre ; l’œil doit le lire comme un nombre. Les cartes séquentielles (viridis, la valeur par défaut ou grise) passent du foncé au clair : la luminosité augmente avec la valeur, même imprimée en noir et blanc, et pour les lecteurs daltoniens (environ 1 homme en 12). Les cartes divergentes (RdBu) concernent les données avec un centre significatif : changement par rapport à la ligne de base, corrélation. Réglez </a:t>
            </a:r>
            <a:r>
              <a:rPr>
                <a:latin typeface="Courier"/>
              </a:rPr>
              <a:t>vmin=-v, vmax=v</a:t>
            </a:r>
            <a:r>
              <a:rPr/>
              <a:t> pour que le centre soit blanc. jet (arc-en-ciel) crée des bandes qui ne sont pas dans les données, et sa luminosité augmente et diminue : il figure encore dans de nombreux logiciels médicaux et ne devrait pas figurer dans vos figures.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 champ lisse (pensez à une carte de perfusion, mL/100 g/min), une fenêtre (</a:t>
            </a:r>
            <a:r>
              <a:rPr>
                <a:latin typeface="Courier"/>
              </a:rPr>
              <a:t>vmin=0, vmax=80</a:t>
            </a:r>
            <a:r>
              <a:rPr/>
              <a:t>) : tout ce qui change entre ces huit panneaux c’est la couleur carte, tout comme tout ce que le lecteur voit. Les données n’ont aucun avantage nulle part ; chaque sonnerie et chaque bande ci-dessous a été ajoutée par la carte des couleurs. le gris est la convention pour la tomodensitométrie, l’IRM et les rayons X : les radiologues lisent les niveaux de gris et un la tranche colorée ne leur semble pas bonne. l’os est la même idée avec une teinte froide. viridis et magma sont les choix par défaut pour une quantité mesurée (perfusion, dose, activation, une matrice de corrélation) : la luminosité augmente avec la valeur, donc ils survivent impression en noir et blanc et daltonisme. RdBu_r et coolwarm font la différence : post moins pré, patient moins atlas, a corrélation. Ils ont besoin de </a:t>
            </a:r>
            <a:r>
              <a:rPr>
                <a:latin typeface="Courier"/>
              </a:rPr>
              <a:t>vmin=-v, vmax=v</a:t>
            </a:r>
            <a:r>
              <a:rPr/>
              <a:t> pour que le blanc soit exactement 0. Sur les données brutes, où aucune valeur n’est spéciale, ils inventent un centre qui n’existe pas, c’est ce que vous voyez ici. jet et nipy_spectral placent des bandes et des points lumineux là où les données sont fluides. Ils sont encore la valeur par défaut dans de nombreux logiciels médicaux ; changez-les. Règle générale : une quantité croissante, séquentielle (gris, viridis) ; une différence signée, divergent centré sur 0 ; catégories (étiquettes de segmentation), une carte qualitative telle que tab10 avec </a:t>
            </a:r>
            <a:r>
              <a:rPr>
                <a:latin typeface="Courier"/>
              </a:rPr>
              <a:t>imshow</a:t>
            </a:r>
            <a:r>
              <a:rPr/>
              <a:t> et pas de barre de couleurs.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format est choisi par l’extension. PNG est une image : choisissez un </a:t>
            </a:r>
            <a:r>
              <a:rPr>
                <a:latin typeface="Courier"/>
              </a:rPr>
              <a:t>dpi</a:t>
            </a:r>
            <a:r>
              <a:rPr/>
              <a:t> assez haut pour le taille finale (300 pour l’impression). PDF et SVG sont des formats vectoriels : les lignes et le texte restent nets n’importe quel zoom, et les journaux les demandent. Sauver du code, jamais avec une capture d’écran : la figure est alors reproductible, et régénérante après une correction des données, c’est une commande. Dans une boucle qui fait un figure par patient, </a:t>
            </a:r>
            <a:r>
              <a:rPr>
                <a:latin typeface="Courier"/>
              </a:rPr>
              <a:t>plt.close(fig)</a:t>
            </a:r>
            <a:r>
              <a:rPr/>
              <a:t> libère la mémoire ; sinon matplotlib les conserve tous et prévient après 20.</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image" Target="../media/image1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3.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14.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Séance 4</a:t>
            </a:r>
            <a:br/>
            <a:r>
              <a:rPr/>
              <a:t>Tableaux avec pandas, tracés avec Matplotlib</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Santé numérique,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Semaine 1, cours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Données</a:t>
            </a:r>
          </a:p>
        </p:txBody>
      </p:sp>
      <p:pic>
        <p:nvPicPr>
          <p:cNvPr descr="img/datafram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Table ou tableau ?</a:t>
            </a:r>
          </a:p>
        </p:txBody>
      </p:sp>
      <p:pic>
        <p:nvPicPr>
          <p:cNvPr descr="img/table_vs_arra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Chargement d’une table</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br/>
            <a:r>
              <a:rPr>
                <a:latin typeface="Courier"/>
              </a:rPr>
              <a:t>df </a:t>
            </a:r>
            <a:r>
              <a:rPr>
                <a:solidFill>
                  <a:srgbClr val="666666"/>
                </a:solidFill>
                <a:latin typeface="Courier"/>
              </a:rPr>
              <a:t>=</a:t>
            </a:r>
            <a:r>
              <a:rPr>
                <a:latin typeface="Courier"/>
              </a:rPr>
              <a:t> pd.read_csv(</a:t>
            </a:r>
            <a:r>
              <a:rPr>
                <a:solidFill>
                  <a:srgbClr val="4070A0"/>
                </a:solidFill>
                <a:latin typeface="Courier"/>
              </a:rPr>
              <a:t>"../data/patients.csv"</a:t>
            </a:r>
            <a:r>
              <a:rPr>
                <a:latin typeface="Courier"/>
              </a:rPr>
              <a:t>)</a:t>
            </a:r>
            <a:br/>
            <a:r>
              <a:rPr>
                <a:latin typeface="Courier"/>
              </a:rPr>
              <a:t>df.head()</a:t>
            </a:r>
            <a:br/>
            <a:r>
              <a:rPr>
                <a:latin typeface="Courier"/>
              </a:rPr>
              <a:t>df.shape      </a:t>
            </a:r>
            <a:r>
              <a:rPr i="1">
                <a:solidFill>
                  <a:srgbClr val="60A0B0"/>
                </a:solidFill>
                <a:latin typeface="Courier"/>
              </a:rPr>
              <a:t># (240, 7)</a:t>
            </a:r>
            <a:br/>
            <a:r>
              <a:rPr>
                <a:latin typeface="Courier"/>
              </a:rPr>
              <a:t>df.dtypes     </a:t>
            </a:r>
            <a:r>
              <a:rPr i="1">
                <a:solidFill>
                  <a:srgbClr val="60A0B0"/>
                </a:solidFill>
                <a:latin typeface="Courier"/>
              </a:rPr>
              <a:t># one type per column</a:t>
            </a:r>
            <a:br/>
            <a:r>
              <a:rPr>
                <a:latin typeface="Courier"/>
              </a:rPr>
              <a:t>df.info()     </a:t>
            </a:r>
            <a:r>
              <a:rPr i="1">
                <a:solidFill>
                  <a:srgbClr val="60A0B0"/>
                </a:solidFill>
                <a:latin typeface="Courier"/>
              </a:rPr>
              <a:t># types and the number of values present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Valeurs et types manquants</a:t>
            </a:r>
          </a:p>
        </p:txBody>
      </p:sp>
      <p:sp>
        <p:nvSpPr>
          <p:cNvPr id="3" name="Content Placeholder 2"/>
          <p:cNvSpPr>
            <a:spLocks noGrp="1"/>
          </p:cNvSpPr>
          <p:nvPr>
            <p:ph idx="1"/>
          </p:nvPr>
        </p:nvSpPr>
        <p:spPr/>
        <p:txBody>
          <a:bodyPr>
            <a:normAutofit/>
          </a:bodyPr>
          <a:lstStyle/>
          <a:p>
            <a:pPr lvl="0" indent="0">
              <a:buNone/>
            </a:pPr>
            <a:r>
              <a:rPr>
                <a:latin typeface="Courier"/>
              </a:rPr>
              <a:t>df.isna().</a:t>
            </a:r>
            <a:r>
              <a:rPr>
                <a:solidFill>
                  <a:srgbClr val="008000"/>
                </a:solidFill>
                <a:latin typeface="Courier"/>
              </a:rPr>
              <a:t>sum</a:t>
            </a:r>
            <a:r>
              <a:rPr>
                <a:latin typeface="Courier"/>
              </a:rPr>
              <a:t>()                  </a:t>
            </a:r>
            <a:r>
              <a:rPr i="1">
                <a:solidFill>
                  <a:srgbClr val="60A0B0"/>
                </a:solidFill>
                <a:latin typeface="Courier"/>
              </a:rPr>
              <a:t># how many NaN per column</a:t>
            </a:r>
            <a:br/>
            <a:br/>
            <a:r>
              <a:rPr>
                <a:latin typeface="Courier"/>
              </a:rPr>
              <a:t>clean </a:t>
            </a:r>
            <a:r>
              <a:rPr>
                <a:solidFill>
                  <a:srgbClr val="666666"/>
                </a:solidFill>
                <a:latin typeface="Courier"/>
              </a:rPr>
              <a:t>=</a:t>
            </a:r>
            <a:r>
              <a:rPr>
                <a:latin typeface="Courier"/>
              </a:rPr>
              <a:t> df.dropna()              </a:t>
            </a:r>
            <a:r>
              <a:rPr i="1">
                <a:solidFill>
                  <a:srgbClr val="60A0B0"/>
                </a:solidFill>
                <a:latin typeface="Courier"/>
              </a:rPr>
              <a:t># keep only the complete rows</a:t>
            </a:r>
            <a:br/>
            <a:r>
              <a:rPr>
                <a:solidFill>
                  <a:srgbClr val="008000"/>
                </a:solidFill>
                <a:latin typeface="Courier"/>
              </a:rPr>
              <a:t>len</a:t>
            </a:r>
            <a:r>
              <a:rPr>
                <a:latin typeface="Courier"/>
              </a:rPr>
              <a:t>(df), </a:t>
            </a:r>
            <a:r>
              <a:rPr>
                <a:solidFill>
                  <a:srgbClr val="008000"/>
                </a:solidFill>
                <a:latin typeface="Courier"/>
              </a:rPr>
              <a:t>len</a:t>
            </a:r>
            <a:r>
              <a:rPr>
                <a:latin typeface="Courier"/>
              </a:rPr>
              <a:t>(clean)              </a:t>
            </a:r>
            <a:r>
              <a:rPr i="1">
                <a:solidFill>
                  <a:srgbClr val="60A0B0"/>
                </a:solidFill>
                <a:latin typeface="Courier"/>
              </a:rPr>
              <a:t># 240, 232</a:t>
            </a:r>
            <a:br/>
            <a:br/>
            <a:r>
              <a:rPr>
                <a:latin typeface="Courier"/>
              </a:rPr>
              <a:t>clean[</a:t>
            </a:r>
            <a:r>
              <a:rPr>
                <a:solidFill>
                  <a:srgbClr val="4070A0"/>
                </a:solidFill>
                <a:latin typeface="Courier"/>
              </a:rPr>
              <a:t>"age"</a:t>
            </a:r>
            <a:r>
              <a:rPr>
                <a:latin typeface="Courier"/>
              </a:rPr>
              <a:t>] </a:t>
            </a:r>
            <a:r>
              <a:rPr>
                <a:solidFill>
                  <a:srgbClr val="666666"/>
                </a:solidFill>
                <a:latin typeface="Courier"/>
              </a:rPr>
              <a:t>=</a:t>
            </a:r>
            <a:r>
              <a:rPr>
                <a:latin typeface="Courier"/>
              </a:rPr>
              <a:t> clean[</a:t>
            </a:r>
            <a:r>
              <a:rPr>
                <a:solidFill>
                  <a:srgbClr val="4070A0"/>
                </a:solidFill>
                <a:latin typeface="Courier"/>
              </a:rPr>
              <a:t>"age"</a:t>
            </a:r>
            <a:r>
              <a:rPr>
                <a:latin typeface="Courier"/>
              </a:rPr>
              <a:t>].astype(</a:t>
            </a:r>
            <a:r>
              <a:rPr>
                <a:solidFill>
                  <a:srgbClr val="4070A0"/>
                </a:solidFill>
                <a:latin typeface="Courier"/>
              </a:rPr>
              <a:t>"int64"</a:t>
            </a:r>
            <a:r>
              <a:rPr>
                <a:latin typeface="Courier"/>
              </a:rPr>
              <a:t>)</a:t>
            </a:r>
            <a:br/>
            <a:r>
              <a:rPr>
                <a:latin typeface="Courier"/>
              </a:rPr>
              <a:t>clean[</a:t>
            </a:r>
            <a:r>
              <a:rPr>
                <a:solidFill>
                  <a:srgbClr val="4070A0"/>
                </a:solidFill>
                <a:latin typeface="Courier"/>
              </a:rPr>
              <a:t>"ward"</a:t>
            </a:r>
            <a:r>
              <a:rPr>
                <a:latin typeface="Courier"/>
              </a:rPr>
              <a:t>] </a:t>
            </a:r>
            <a:r>
              <a:rPr>
                <a:solidFill>
                  <a:srgbClr val="666666"/>
                </a:solidFill>
                <a:latin typeface="Courier"/>
              </a:rPr>
              <a:t>=</a:t>
            </a:r>
            <a:r>
              <a:rPr>
                <a:latin typeface="Courier"/>
              </a:rPr>
              <a:t> clean[</a:t>
            </a:r>
            <a:r>
              <a:rPr>
                <a:solidFill>
                  <a:srgbClr val="4070A0"/>
                </a:solidFill>
                <a:latin typeface="Courier"/>
              </a:rPr>
              <a:t>"ward"</a:t>
            </a:r>
            <a:r>
              <a:rPr>
                <a:latin typeface="Courier"/>
              </a:rPr>
              <a:t>].astype(</a:t>
            </a:r>
            <a:r>
              <a:rPr>
                <a:solidFill>
                  <a:srgbClr val="4070A0"/>
                </a:solidFill>
                <a:latin typeface="Courier"/>
              </a:rPr>
              <a:t>"category"</a:t>
            </a:r>
            <a:r>
              <a:rPr>
                <a:latin typeface="Courier"/>
              </a:rPr>
              <a:t>)</a:t>
            </a:r>
            <a:br/>
            <a:r>
              <a:rPr>
                <a:latin typeface="Courier"/>
              </a:rPr>
              <a:t>clean[</a:t>
            </a:r>
            <a:r>
              <a:rPr>
                <a:solidFill>
                  <a:srgbClr val="4070A0"/>
                </a:solidFill>
                <a:latin typeface="Courier"/>
              </a:rPr>
              <a:t>"admission"</a:t>
            </a:r>
            <a:r>
              <a:rPr>
                <a:latin typeface="Courier"/>
              </a:rPr>
              <a:t>] </a:t>
            </a:r>
            <a:r>
              <a:rPr>
                <a:solidFill>
                  <a:srgbClr val="666666"/>
                </a:solidFill>
                <a:latin typeface="Courier"/>
              </a:rPr>
              <a:t>=</a:t>
            </a:r>
            <a:r>
              <a:rPr>
                <a:latin typeface="Courier"/>
              </a:rPr>
              <a:t> pd.to_datetime(clean[</a:t>
            </a:r>
            <a:r>
              <a:rPr>
                <a:solidFill>
                  <a:srgbClr val="4070A0"/>
                </a:solidFill>
                <a:latin typeface="Courier"/>
              </a:rPr>
              <a:t>"admission"</a:t>
            </a:r>
            <a:r>
              <a:rPr>
                <a:latin typeface="Courie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Sélection</a:t>
            </a:r>
          </a:p>
        </p:txBody>
      </p:sp>
      <p:sp>
        <p:nvSpPr>
          <p:cNvPr id="3" name="Content Placeholder 2"/>
          <p:cNvSpPr>
            <a:spLocks noGrp="1"/>
          </p:cNvSpPr>
          <p:nvPr>
            <p:ph idx="1"/>
          </p:nvPr>
        </p:nvSpPr>
        <p:spPr/>
        <p:txBody>
          <a:bodyPr>
            <a:normAutofit/>
          </a:bodyPr>
          <a:lstStyle/>
          <a:p>
            <a:pPr lvl="0" indent="0">
              <a:buNone/>
            </a:pPr>
            <a:r>
              <a:rPr>
                <a:latin typeface="Courier"/>
              </a:rPr>
              <a:t>clean[</a:t>
            </a:r>
            <a:r>
              <a:rPr>
                <a:solidFill>
                  <a:srgbClr val="4070A0"/>
                </a:solidFill>
                <a:latin typeface="Courier"/>
              </a:rPr>
              <a:t>"age"</a:t>
            </a:r>
            <a:r>
              <a:rPr>
                <a:latin typeface="Courier"/>
              </a:rPr>
              <a:t>]                     </a:t>
            </a:r>
            <a:r>
              <a:rPr i="1">
                <a:solidFill>
                  <a:srgbClr val="60A0B0"/>
                </a:solidFill>
                <a:latin typeface="Courier"/>
              </a:rPr>
              <a:t># one column, a Series</a:t>
            </a:r>
            <a:br/>
            <a:r>
              <a:rPr>
                <a:latin typeface="Courier"/>
              </a:rPr>
              <a:t>clean[</a:t>
            </a:r>
            <a:r>
              <a:rPr>
                <a:solidFill>
                  <a:srgbClr val="4070A0"/>
                </a:solidFill>
                <a:latin typeface="Courier"/>
              </a:rPr>
              <a:t>"age"</a:t>
            </a:r>
            <a:r>
              <a:rPr>
                <a:latin typeface="Courier"/>
              </a:rPr>
              <a:t>].mean()              </a:t>
            </a:r>
            <a:r>
              <a:rPr i="1">
                <a:solidFill>
                  <a:srgbClr val="60A0B0"/>
                </a:solidFill>
                <a:latin typeface="Courier"/>
              </a:rPr>
              <a:t># 50.9</a:t>
            </a:r>
            <a:br/>
            <a:r>
              <a:rPr>
                <a:latin typeface="Courier"/>
              </a:rPr>
              <a:t>clean[</a:t>
            </a:r>
            <a:r>
              <a:rPr>
                <a:solidFill>
                  <a:srgbClr val="4070A0"/>
                </a:solidFill>
                <a:latin typeface="Courier"/>
              </a:rPr>
              <a:t>"ward"</a:t>
            </a:r>
            <a:r>
              <a:rPr>
                <a:latin typeface="Courier"/>
              </a:rPr>
              <a:t>].value_counts()     </a:t>
            </a:r>
            <a:r>
              <a:rPr i="1">
                <a:solidFill>
                  <a:srgbClr val="60A0B0"/>
                </a:solidFill>
                <a:latin typeface="Courier"/>
              </a:rPr>
              <a:t># how many patients per ward</a:t>
            </a:r>
            <a:br/>
            <a:br/>
            <a:r>
              <a:rPr>
                <a:latin typeface="Courier"/>
              </a:rPr>
              <a:t>summary </a:t>
            </a:r>
            <a:r>
              <a:rPr>
                <a:solidFill>
                  <a:srgbClr val="666666"/>
                </a:solidFill>
                <a:latin typeface="Courier"/>
              </a:rPr>
              <a:t>=</a:t>
            </a:r>
            <a:r>
              <a:rPr>
                <a:latin typeface="Courier"/>
              </a:rPr>
              <a:t> clean[[</a:t>
            </a:r>
            <a:r>
              <a:rPr>
                <a:solidFill>
                  <a:srgbClr val="4070A0"/>
                </a:solidFill>
                <a:latin typeface="Courier"/>
              </a:rPr>
              <a:t>"patient_id"</a:t>
            </a:r>
            <a:r>
              <a:rPr>
                <a:latin typeface="Courier"/>
              </a:rPr>
              <a:t>, </a:t>
            </a:r>
            <a:r>
              <a:rPr>
                <a:solidFill>
                  <a:srgbClr val="4070A0"/>
                </a:solidFill>
                <a:latin typeface="Courier"/>
              </a:rPr>
              <a:t>"age"</a:t>
            </a:r>
            <a:r>
              <a:rPr>
                <a:latin typeface="Courier"/>
              </a:rPr>
              <a:t>]]  </a:t>
            </a:r>
            <a:r>
              <a:rPr i="1">
                <a:solidFill>
                  <a:srgbClr val="60A0B0"/>
                </a:solidFill>
                <a:latin typeface="Courier"/>
              </a:rPr>
              <a:t># a smaller DataFrame</a:t>
            </a:r>
            <a:br/>
            <a:br/>
            <a:r>
              <a:rPr>
                <a:solidFill>
                  <a:srgbClr val="008000"/>
                </a:solidFill>
                <a:latin typeface="Courier"/>
              </a:rPr>
              <a:t>type</a:t>
            </a:r>
            <a:r>
              <a:rPr>
                <a:latin typeface="Courier"/>
              </a:rPr>
              <a:t>(clean[</a:t>
            </a:r>
            <a:r>
              <a:rPr>
                <a:solidFill>
                  <a:srgbClr val="4070A0"/>
                </a:solidFill>
                <a:latin typeface="Courier"/>
              </a:rPr>
              <a:t>"age"</a:t>
            </a:r>
            <a:r>
              <a:rPr>
                <a:latin typeface="Courier"/>
              </a:rPr>
              <a:t>])               </a:t>
            </a:r>
            <a:r>
              <a:rPr i="1">
                <a:solidFill>
                  <a:srgbClr val="60A0B0"/>
                </a:solidFill>
                <a:latin typeface="Courier"/>
              </a:rPr>
              <a:t># Series</a:t>
            </a:r>
            <a:br/>
            <a:r>
              <a:rPr>
                <a:solidFill>
                  <a:srgbClr val="008000"/>
                </a:solidFill>
                <a:latin typeface="Courier"/>
              </a:rPr>
              <a:t>type</a:t>
            </a:r>
            <a:r>
              <a:rPr>
                <a:latin typeface="Courier"/>
              </a:rPr>
              <a:t>(clean[[</a:t>
            </a:r>
            <a:r>
              <a:rPr>
                <a:solidFill>
                  <a:srgbClr val="4070A0"/>
                </a:solidFill>
                <a:latin typeface="Courier"/>
              </a:rPr>
              <a:t>"age"</a:t>
            </a:r>
            <a:r>
              <a:rPr>
                <a:latin typeface="Courier"/>
              </a:rPr>
              <a:t>]])             </a:t>
            </a:r>
            <a:r>
              <a:rPr i="1">
                <a:solidFill>
                  <a:srgbClr val="60A0B0"/>
                </a:solidFill>
                <a:latin typeface="Courier"/>
              </a:rPr>
              <a:t># DataFrame, one column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Une nouvelle colonne avec .apply</a:t>
            </a:r>
          </a:p>
        </p:txBody>
      </p:sp>
      <p:sp>
        <p:nvSpPr>
          <p:cNvPr id="3" name="Content Placeholder 2"/>
          <p:cNvSpPr>
            <a:spLocks noGrp="1"/>
          </p:cNvSpPr>
          <p:nvPr>
            <p:ph idx="1"/>
          </p:nvPr>
        </p:nvSpPr>
        <p:spPr/>
        <p:txBody>
          <a:bodyPr>
            <a:normAutofit/>
          </a:bodyPr>
          <a:lstStyle/>
          <a:p>
            <a:pPr lvl="0" indent="0">
              <a:buNone/>
            </a:pPr>
            <a:r>
              <a:rPr b="1">
                <a:solidFill>
                  <a:srgbClr val="007020"/>
                </a:solidFill>
                <a:latin typeface="Courier"/>
              </a:rPr>
              <a:t>def</a:t>
            </a:r>
            <a:r>
              <a:rPr>
                <a:latin typeface="Courier"/>
              </a:rPr>
              <a:t> stay_length(days):</a:t>
            </a:r>
            <a:br/>
            <a:r>
              <a:rPr>
                <a:latin typeface="Courier"/>
              </a:rPr>
              <a:t>    </a:t>
            </a:r>
            <a:r>
              <a:rPr b="1">
                <a:solidFill>
                  <a:srgbClr val="007020"/>
                </a:solidFill>
                <a:latin typeface="Courier"/>
              </a:rPr>
              <a:t>if</a:t>
            </a:r>
            <a:r>
              <a:rPr>
                <a:latin typeface="Courier"/>
              </a:rPr>
              <a:t> days </a:t>
            </a:r>
            <a:r>
              <a:rPr>
                <a:solidFill>
                  <a:srgbClr val="666666"/>
                </a:solidFill>
                <a:latin typeface="Courier"/>
              </a:rPr>
              <a:t>&lt;</a:t>
            </a:r>
            <a:r>
              <a:rPr>
                <a:latin typeface="Courier"/>
              </a:rPr>
              <a:t> </a:t>
            </a:r>
            <a:r>
              <a:rPr>
                <a:solidFill>
                  <a:srgbClr val="40A070"/>
                </a:solidFill>
                <a:latin typeface="Courier"/>
              </a:rPr>
              <a:t>3</a:t>
            </a:r>
            <a:r>
              <a:rPr>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"short"</a:t>
            </a:r>
            <a:br/>
            <a:r>
              <a:rPr>
                <a:latin typeface="Courier"/>
              </a:rPr>
              <a:t>    </a:t>
            </a:r>
            <a:r>
              <a:rPr b="1">
                <a:solidFill>
                  <a:srgbClr val="007020"/>
                </a:solidFill>
                <a:latin typeface="Courier"/>
              </a:rPr>
              <a:t>if</a:t>
            </a:r>
            <a:r>
              <a:rPr>
                <a:latin typeface="Courier"/>
              </a:rPr>
              <a:t> days </a:t>
            </a:r>
            <a:r>
              <a:rPr>
                <a:solidFill>
                  <a:srgbClr val="666666"/>
                </a:solidFill>
                <a:latin typeface="Courier"/>
              </a:rPr>
              <a:t>&gt;</a:t>
            </a:r>
            <a:r>
              <a:rPr>
                <a:latin typeface="Courier"/>
              </a:rPr>
              <a:t> </a:t>
            </a:r>
            <a:r>
              <a:rPr>
                <a:solidFill>
                  <a:srgbClr val="40A070"/>
                </a:solidFill>
                <a:latin typeface="Courier"/>
              </a:rPr>
              <a:t>10</a:t>
            </a:r>
            <a:r>
              <a:rPr>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"long"</a:t>
            </a:r>
            <a:br/>
            <a:r>
              <a:rPr>
                <a:latin typeface="Courier"/>
              </a:rPr>
              <a:t>    </a:t>
            </a:r>
            <a:r>
              <a:rPr b="1">
                <a:solidFill>
                  <a:srgbClr val="007020"/>
                </a:solidFill>
                <a:latin typeface="Courier"/>
              </a:rPr>
              <a:t>return</a:t>
            </a:r>
            <a:r>
              <a:rPr>
                <a:latin typeface="Courier"/>
              </a:rPr>
              <a:t> </a:t>
            </a:r>
            <a:r>
              <a:rPr>
                <a:solidFill>
                  <a:srgbClr val="4070A0"/>
                </a:solidFill>
                <a:latin typeface="Courier"/>
              </a:rPr>
              <a:t>"medium"</a:t>
            </a:r>
            <a:br/>
            <a:br/>
            <a:r>
              <a:rPr>
                <a:latin typeface="Courier"/>
              </a:rPr>
              <a:t>summary[</a:t>
            </a:r>
            <a:r>
              <a:rPr>
                <a:solidFill>
                  <a:srgbClr val="4070A0"/>
                </a:solidFill>
                <a:latin typeface="Courier"/>
              </a:rPr>
              <a:t>"stay"</a:t>
            </a:r>
            <a:r>
              <a:rPr>
                <a:latin typeface="Courier"/>
              </a:rPr>
              <a:t>] </a:t>
            </a:r>
            <a:r>
              <a:rPr>
                <a:solidFill>
                  <a:srgbClr val="666666"/>
                </a:solidFill>
                <a:latin typeface="Courier"/>
              </a:rPr>
              <a:t>=</a:t>
            </a:r>
            <a:r>
              <a:rPr>
                <a:latin typeface="Courier"/>
              </a:rPr>
              <a:t> summary[</a:t>
            </a:r>
            <a:r>
              <a:rPr>
                <a:solidFill>
                  <a:srgbClr val="4070A0"/>
                </a:solidFill>
                <a:latin typeface="Courier"/>
              </a:rPr>
              <a:t>"los_days"</a:t>
            </a:r>
            <a:r>
              <a:rPr>
                <a:latin typeface="Courier"/>
              </a:rPr>
              <a:t>].</a:t>
            </a:r>
            <a:r>
              <a:rPr>
                <a:solidFill>
                  <a:srgbClr val="008000"/>
                </a:solidFill>
                <a:latin typeface="Courier"/>
              </a:rPr>
              <a:t>apply</a:t>
            </a:r>
            <a:r>
              <a:rPr>
                <a:latin typeface="Courier"/>
              </a:rPr>
              <a:t>(stay_length)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Enregistrer une table</a:t>
            </a:r>
          </a:p>
        </p:txBody>
      </p:sp>
      <p:sp>
        <p:nvSpPr>
          <p:cNvPr id="3" name="Content Placeholder 2"/>
          <p:cNvSpPr>
            <a:spLocks noGrp="1"/>
          </p:cNvSpPr>
          <p:nvPr>
            <p:ph idx="1"/>
          </p:nvPr>
        </p:nvSpPr>
        <p:spPr/>
        <p:txBody>
          <a:bodyPr>
            <a:normAutofit/>
          </a:bodyPr>
          <a:lstStyle/>
          <a:p>
            <a:pPr lvl="0" indent="0">
              <a:buNone/>
            </a:pPr>
            <a:r>
              <a:rPr>
                <a:latin typeface="Courier"/>
              </a:rPr>
              <a:t>summary.to_csv(</a:t>
            </a:r>
            <a:r>
              <a:rPr>
                <a:solidFill>
                  <a:srgbClr val="4070A0"/>
                </a:solidFill>
                <a:latin typeface="Courier"/>
              </a:rPr>
              <a:t>"patients_summary.csv"</a:t>
            </a:r>
            <a:r>
              <a:rPr>
                <a:latin typeface="Courier"/>
              </a:rPr>
              <a:t>, index</a:t>
            </a:r>
            <a:r>
              <a:rPr>
                <a:solidFill>
                  <a:srgbClr val="666666"/>
                </a:solidFill>
                <a:latin typeface="Courier"/>
              </a:rPr>
              <a:t>=</a:t>
            </a:r>
            <a:r>
              <a:rPr>
                <a:solidFill>
                  <a:srgbClr val="19177C"/>
                </a:solidFill>
                <a:latin typeface="Courier"/>
              </a:rPr>
              <a:t>False</a:t>
            </a:r>
            <a:r>
              <a:rPr>
                <a:latin typeface="Courier"/>
              </a:rPr>
              <a:t>)</a:t>
            </a:r>
            <a:br/>
            <a:br/>
            <a:r>
              <a:rPr>
                <a:latin typeface="Courier"/>
              </a:rPr>
              <a:t>back </a:t>
            </a:r>
            <a:r>
              <a:rPr>
                <a:solidFill>
                  <a:srgbClr val="666666"/>
                </a:solidFill>
                <a:latin typeface="Courier"/>
              </a:rPr>
              <a:t>=</a:t>
            </a:r>
            <a:r>
              <a:rPr>
                <a:latin typeface="Courier"/>
              </a:rPr>
              <a:t> pd.read_csv(</a:t>
            </a:r>
            <a:r>
              <a:rPr>
                <a:solidFill>
                  <a:srgbClr val="4070A0"/>
                </a:solidFill>
                <a:latin typeface="Courier"/>
              </a:rPr>
              <a:t>"patients_summary.csv"</a:t>
            </a:r>
            <a:r>
              <a:rPr>
                <a:latin typeface="Courier"/>
              </a:rPr>
              <a:t>)</a:t>
            </a:r>
            <a:br/>
            <a:r>
              <a:rPr>
                <a:latin typeface="Courier"/>
              </a:rPr>
              <a:t>back.shape        </a:t>
            </a:r>
            <a:r>
              <a:rPr i="1">
                <a:solidFill>
                  <a:srgbClr val="60A0B0"/>
                </a:solidFill>
                <a:latin typeface="Courier"/>
              </a:rPr>
              <a:t># (232, 6)</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Flux de travail complet</a:t>
            </a:r>
          </a:p>
        </p:txBody>
      </p:sp>
      <p:pic>
        <p:nvPicPr>
          <p:cNvPr descr="img/pandas_fl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Comprendre avec un graphique</a:t>
            </a:r>
          </a:p>
        </p:txBody>
      </p:sp>
      <p:pic>
        <p:nvPicPr>
          <p:cNvPr descr="img/anscomb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Anatomie d’une figure</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Premier figure</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fig, ax </a:t>
            </a:r>
            <a:r>
              <a:rPr>
                <a:solidFill>
                  <a:srgbClr val="666666"/>
                </a:solidFill>
                <a:latin typeface="Courier"/>
              </a:rPr>
              <a:t>=</a:t>
            </a:r>
            <a:r>
              <a:rPr>
                <a:latin typeface="Courier"/>
              </a:rPr>
              <a:t> plt.subplots()</a:t>
            </a:r>
            <a:br/>
            <a:r>
              <a:rPr>
                <a:latin typeface="Courier"/>
              </a:rPr>
              <a:t>ax.plot(t, temp, label</a:t>
            </a:r>
            <a:r>
              <a:rPr>
                <a:solidFill>
                  <a:srgbClr val="666666"/>
                </a:solidFill>
                <a:latin typeface="Courier"/>
              </a:rPr>
              <a:t>=</a:t>
            </a:r>
            <a:r>
              <a:rPr>
                <a:solidFill>
                  <a:srgbClr val="4070A0"/>
                </a:solidFill>
                <a:latin typeface="Courier"/>
              </a:rPr>
              <a:t>"temperature"</a:t>
            </a:r>
            <a:r>
              <a:rPr>
                <a:latin typeface="Courier"/>
              </a:rPr>
              <a:t>)</a:t>
            </a:r>
            <a:br/>
            <a:r>
              <a:rPr>
                <a:latin typeface="Courier"/>
              </a:rPr>
              <a:t>ax.axhline(</a:t>
            </a:r>
            <a:r>
              <a:rPr>
                <a:solidFill>
                  <a:srgbClr val="40A070"/>
                </a:solidFill>
                <a:latin typeface="Courier"/>
              </a:rPr>
              <a:t>38</a:t>
            </a:r>
            <a:r>
              <a:rPr>
                <a:latin typeface="Courier"/>
              </a:rPr>
              <a:t>, ls</a:t>
            </a:r>
            <a:r>
              <a:rPr>
                <a:solidFill>
                  <a:srgbClr val="666666"/>
                </a:solidFill>
                <a:latin typeface="Courier"/>
              </a:rPr>
              <a:t>=</a:t>
            </a:r>
            <a:r>
              <a:rPr>
                <a:solidFill>
                  <a:srgbClr val="4070A0"/>
                </a:solidFill>
                <a:latin typeface="Courier"/>
              </a:rPr>
              <a:t>"--"</a:t>
            </a:r>
            <a:r>
              <a:rPr>
                <a:latin typeface="Courier"/>
              </a:rPr>
              <a:t>, label</a:t>
            </a:r>
            <a:r>
              <a:rPr>
                <a:solidFill>
                  <a:srgbClr val="666666"/>
                </a:solidFill>
                <a:latin typeface="Courier"/>
              </a:rPr>
              <a:t>=</a:t>
            </a:r>
            <a:r>
              <a:rPr>
                <a:solidFill>
                  <a:srgbClr val="4070A0"/>
                </a:solidFill>
                <a:latin typeface="Courier"/>
              </a:rPr>
              <a:t>"fever"</a:t>
            </a:r>
            <a:r>
              <a:rPr>
                <a:latin typeface="Courier"/>
              </a:rPr>
              <a:t>)</a:t>
            </a:r>
            <a:br/>
            <a:r>
              <a:rPr>
                <a:latin typeface="Courier"/>
              </a:rPr>
              <a:t>ax.set_xlabel(</a:t>
            </a:r>
            <a:r>
              <a:rPr>
                <a:solidFill>
                  <a:srgbClr val="4070A0"/>
                </a:solidFill>
                <a:latin typeface="Courier"/>
              </a:rPr>
              <a:t>"time (h)"</a:t>
            </a:r>
            <a:r>
              <a:rPr>
                <a:latin typeface="Courier"/>
              </a:rPr>
              <a:t>)</a:t>
            </a:r>
            <a:br/>
            <a:r>
              <a:rPr>
                <a:latin typeface="Courier"/>
              </a:rPr>
              <a:t>ax.set_ylabel(</a:t>
            </a:r>
            <a:r>
              <a:rPr>
                <a:solidFill>
                  <a:srgbClr val="4070A0"/>
                </a:solidFill>
                <a:latin typeface="Courier"/>
              </a:rPr>
              <a:t>"temperature (°C)"</a:t>
            </a:r>
            <a:r>
              <a:rPr>
                <a:latin typeface="Courier"/>
              </a:rPr>
              <a:t>)</a:t>
            </a:r>
            <a:br/>
            <a:r>
              <a:rPr>
                <a:latin typeface="Courier"/>
              </a:rPr>
              <a:t>ax.set_title(</a:t>
            </a:r>
            <a:r>
              <a:rPr>
                <a:solidFill>
                  <a:srgbClr val="4070A0"/>
                </a:solidFill>
                <a:latin typeface="Courier"/>
              </a:rPr>
              <a:t>"Patient P0001"</a:t>
            </a:r>
            <a:r>
              <a:rPr>
                <a:latin typeface="Courier"/>
              </a:rPr>
              <a:t>)</a:t>
            </a:r>
            <a:br/>
            <a:r>
              <a:rPr>
                <a:latin typeface="Courier"/>
              </a:rPr>
              <a:t>ax.legend()</a:t>
            </a:r>
            <a:br/>
            <a:r>
              <a:rPr>
                <a:latin typeface="Courier"/>
              </a:rPr>
              <a:t>fig.savefig(</a:t>
            </a:r>
            <a:r>
              <a:rPr>
                <a:solidFill>
                  <a:srgbClr val="4070A0"/>
                </a:solidFill>
                <a:latin typeface="Courier"/>
              </a:rPr>
              <a:t>"temp.png"</a:t>
            </a:r>
            <a:r>
              <a:rPr>
                <a:latin typeface="Courier"/>
              </a:rPr>
              <a:t>, dpi</a:t>
            </a:r>
            <a:r>
              <a:rPr>
                <a:solidFill>
                  <a:srgbClr val="666666"/>
                </a:solidFill>
                <a:latin typeface="Courier"/>
              </a:rPr>
              <a:t>=</a:t>
            </a:r>
            <a:r>
              <a:rPr>
                <a:solidFill>
                  <a:srgbClr val="40A070"/>
                </a:solidFill>
                <a:latin typeface="Courier"/>
              </a:rPr>
              <a:t>200</a:t>
            </a:r>
            <a:r>
              <a:rPr>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Plusieurs tracés dans une seule figure</a:t>
            </a:r>
          </a:p>
        </p:txBody>
      </p:sp>
      <p:pic>
        <p:nvPicPr>
          <p:cNvPr descr="img/subplots_gri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Quelle graphique ?</a:t>
            </a:r>
          </a:p>
        </p:txBody>
      </p:sp>
      <p:pic>
        <p:nvPicPr>
          <p:cNvPr descr="img/plot_typ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Tracés linéaires : évolution</a:t>
            </a:r>
          </a:p>
        </p:txBody>
      </p:sp>
      <p:pic>
        <p:nvPicPr>
          <p:cNvPr descr="img/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Nuages de points : relations</a:t>
            </a:r>
          </a:p>
        </p:txBody>
      </p:sp>
      <p:pic>
        <p:nvPicPr>
          <p:cNvPr descr="img/scatter.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Histogrammes : distributions</a:t>
            </a:r>
          </a:p>
        </p:txBody>
      </p:sp>
      <p:pic>
        <p:nvPicPr>
          <p:cNvPr descr="img/hist_bi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Barres et box : groupes</a:t>
            </a:r>
          </a:p>
        </p:txBody>
      </p:sp>
      <p:pic>
        <p:nvPicPr>
          <p:cNvPr descr="img/bar_box.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Images : tableaux 2D</a:t>
            </a:r>
          </a:p>
        </p:txBody>
      </p:sp>
      <p:pic>
        <p:nvPicPr>
          <p:cNvPr descr="img/imsh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Cartes de couleurs</a:t>
            </a:r>
          </a:p>
        </p:txBody>
      </p:sp>
      <p:pic>
        <p:nvPicPr>
          <p:cNvPr descr="img/colormap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Cartes de couleurs</a:t>
            </a:r>
          </a:p>
        </p:txBody>
      </p:sp>
      <p:pic>
        <p:nvPicPr>
          <p:cNvPr descr="img/colormap_choi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Sauvegarde</a:t>
            </a:r>
          </a:p>
        </p:txBody>
      </p:sp>
      <p:sp>
        <p:nvSpPr>
          <p:cNvPr id="3" name="Content Placeholder 2"/>
          <p:cNvSpPr>
            <a:spLocks noGrp="1"/>
          </p:cNvSpPr>
          <p:nvPr>
            <p:ph idx="1"/>
          </p:nvPr>
        </p:nvSpPr>
        <p:spPr/>
        <p:txBody>
          <a:bodyPr>
            <a:normAutofit/>
          </a:bodyPr>
          <a:lstStyle/>
          <a:p>
            <a:pPr lvl="0" indent="0">
              <a:buNone/>
            </a:pPr>
            <a:r>
              <a:rPr>
                <a:latin typeface="Courier"/>
              </a:rPr>
              <a:t>fig.tight_layout()</a:t>
            </a:r>
            <a:br/>
            <a:r>
              <a:rPr>
                <a:latin typeface="Courier"/>
              </a:rPr>
              <a:t>fig.savefig(</a:t>
            </a:r>
            <a:r>
              <a:rPr>
                <a:solidFill>
                  <a:srgbClr val="4070A0"/>
                </a:solidFill>
                <a:latin typeface="Courier"/>
              </a:rPr>
              <a:t>"fig1.png"</a:t>
            </a:r>
            <a:r>
              <a:rPr>
                <a:latin typeface="Courier"/>
              </a:rPr>
              <a:t>, dpi</a:t>
            </a:r>
            <a:r>
              <a:rPr>
                <a:solidFill>
                  <a:srgbClr val="666666"/>
                </a:solidFill>
                <a:latin typeface="Courier"/>
              </a:rPr>
              <a:t>=</a:t>
            </a:r>
            <a:r>
              <a:rPr>
                <a:solidFill>
                  <a:srgbClr val="40A070"/>
                </a:solidFill>
                <a:latin typeface="Courier"/>
              </a:rPr>
              <a:t>300</a:t>
            </a:r>
            <a:r>
              <a:rPr>
                <a:latin typeface="Courier"/>
              </a:rPr>
              <a:t>)</a:t>
            </a:r>
            <a:br/>
            <a:r>
              <a:rPr>
                <a:latin typeface="Courier"/>
              </a:rPr>
              <a:t>fig.savefig(</a:t>
            </a:r>
            <a:r>
              <a:rPr>
                <a:solidFill>
                  <a:srgbClr val="4070A0"/>
                </a:solidFill>
                <a:latin typeface="Courier"/>
              </a:rPr>
              <a:t>"fig1.pdf"</a:t>
            </a:r>
            <a:r>
              <a:rPr>
                <a:latin typeface="Courier"/>
              </a:rPr>
              <a:t>)</a:t>
            </a:r>
            <a:br/>
            <a:r>
              <a:rPr>
                <a:latin typeface="Courier"/>
              </a:rPr>
              <a:t>fig.savefig(</a:t>
            </a:r>
            <a:r>
              <a:rPr>
                <a:solidFill>
                  <a:srgbClr val="4070A0"/>
                </a:solidFill>
                <a:latin typeface="Courier"/>
              </a:rPr>
              <a:t>"fig1.svg"</a:t>
            </a:r>
            <a:r>
              <a:rPr>
                <a:latin typeface="Courier"/>
              </a:rPr>
              <a:t>)</a:t>
            </a:r>
            <a:br/>
            <a:br/>
            <a:r>
              <a:rPr>
                <a:latin typeface="Courier"/>
              </a:rPr>
              <a:t>plt.close(fig)    </a:t>
            </a:r>
            <a:r>
              <a:rPr i="1">
                <a:solidFill>
                  <a:srgbClr val="60A0B0"/>
                </a:solidFill>
                <a:latin typeface="Courier"/>
              </a:rPr>
              <a:t># in loops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4 Tableaux avec pandas, tracés avec Matplotlib</dc:title>
  <dc:creator>Paul Dubois</dc:creator>
  <cp:keywords/>
  <dcterms:created xsi:type="dcterms:W3CDTF">2026-10-16T11:44:20Z</dcterms:created>
  <dcterms:modified xsi:type="dcterms:W3CDTF">2026-10-16T11:44:20Z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Semaine 1, cours</vt:lpwstr>
  </property>
  <property fmtid="{D5CDD505-2E9C-101B-9397-08002B2CF9AE}" pid="3" name="subtitle">
    <vt:lpwstr>Santé numérique, Mastère Spécialisé · 2026</vt:lpwstr>
  </property>
</Properties>
</file>