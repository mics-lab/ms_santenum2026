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notesMaster" Target="notesMasters/notesMaster1.xml" /><Relationship Id="rId23" Type="http://schemas.openxmlformats.org/officeDocument/2006/relationships/viewProps" Target="viewProps.xml" /><Relationship Id="rId22" Type="http://schemas.openxmlformats.org/officeDocument/2006/relationships/presProps" Target="presProps.xml" /><Relationship Id="rId1" Type="http://schemas.openxmlformats.org/officeDocument/2006/relationships/slideMaster" Target="slideMasters/slideMaster1.xml" /><Relationship Id="rId25" Type="http://schemas.openxmlformats.org/officeDocument/2006/relationships/tableStyles" Target="tableStyles.xml" /><Relationship Id="rId2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language is a level of description. Machine code is what the processor runs: numbers. Assembly is the same thing with names, one instruction per line. C, C++ and Rust let you write expressions, but you still decide where every byte lives. Python lets you write the thing you meant, and decides the rest for you. Low level buys control and speed, and costs lines of code and bugs (every buffer and every pointer is yours to get right). High level buys time, and costs some control. Nothing here is “better”: they sit at different points of the same trade.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reasons, in order of how much they matter to you this year. 1. Popular: it is the most used language in data and in health research. Practically every question you will have has been asked and answered already, and every library you need has a Python interface. 2. High level: little syntax to learn, so the time goes into the data and not into the language. You will be productive in weeks, not years. 3. Still fast: the heavy loops are not run by Python. numpy, pandas and torch are thin Python surfaces over compiled C, Fortran, Rust and CUDA. You write the 20 lines that describe the computation, and compiled code performs the billion operations. The honest limit: pure Python loops over millions of rows are slow. The whole skill is letting the libraries do the loop.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a table, draw a figure, multiply two matrices: every project in the room needs these, and none of them is as simple as it looks. Reading a CSV means separators, quoting, encodings, missing values and dates. Drawing a figure means axes, ticks, labels and an export. Multiplying matrices means cache blocking, threads and vector instructions. Because everybody needs them, they are written once, by people who specialise in exactly that, and tested by millions of users. That is what a library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uv</a:t>
            </a:r>
            <a:r>
              <a:rPr/>
              <a:t> is a single program, written in Rust by Astral (the people behind </a:t>
            </a:r>
            <a:r>
              <a:rPr>
                <a:latin typeface="Courier"/>
              </a:rPr>
              <a:t>ruff</a:t>
            </a:r>
            <a:r>
              <a:rPr/>
              <a:t>), first released in 2024. It does the jobs of five separate tools with one command and one mental model. Important reassurance: the commands are the ones they already learned. </a:t>
            </a:r>
            <a:r>
              <a:rPr>
                <a:latin typeface="Courier"/>
              </a:rPr>
              <a:t>uv pip install pandas</a:t>
            </a:r>
            <a:r>
              <a:rPr/>
              <a:t> does what </a:t>
            </a:r>
            <a:r>
              <a:rPr>
                <a:latin typeface="Courier"/>
              </a:rPr>
              <a:t>pip install pandas</a:t>
            </a:r>
            <a:r>
              <a:rPr/>
              <a:t> does.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0</a:t>
            </a:r>
            <a:br/>
            <a:r>
              <a:rPr/>
              <a:t>Libraries, Environments, and uv</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Primer</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0. Why Python?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Low level, high level</a:t>
            </a:r>
          </a:p>
        </p:txBody>
      </p:sp>
      <p:pic>
        <p:nvPicPr>
          <p:cNvPr descr="img/level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Python</a:t>
            </a:r>
          </a:p>
        </p:txBody>
      </p:sp>
      <p:pic>
        <p:nvPicPr>
          <p:cNvPr descr="img/why_pyth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Libraries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Shared tasks in many projects</a:t>
            </a:r>
          </a:p>
        </p:txBody>
      </p:sp>
      <p:pic>
        <p:nvPicPr>
          <p:cNvPr descr="img/common_task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Reusing code</a:t>
            </a:r>
          </a:p>
        </p:txBody>
      </p:sp>
      <p:pic>
        <p:nvPicPr>
          <p:cNvPr descr="img/library_valu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Libraries</a:t>
            </a:r>
          </a:p>
        </p:txBody>
      </p:sp>
      <p:sp>
        <p:nvSpPr>
          <p:cNvPr id="3" name="Content Placeholder 2"/>
          <p:cNvSpPr>
            <a:spLocks noGrp="1"/>
          </p:cNvSpPr>
          <p:nvPr>
            <p:ph idx="1"/>
          </p:nvPr>
        </p:nvSpPr>
        <p:spPr/>
        <p:txBody>
          <a:bodyPr>
            <a:normAutofit/>
          </a:bodyPr>
          <a:lstStyle/>
          <a:p>
            <a:pPr lvl="0"/>
            <a:r>
              <a:rPr/>
              <a:t>Standard libraries</a:t>
            </a:r>
          </a:p>
          <a:p>
            <a:pPr lvl="1"/>
            <a:r>
              <a:rPr>
                <a:latin typeface="Courier"/>
              </a:rPr>
              <a:t>tkinter</a:t>
            </a:r>
            <a:r>
              <a:rPr/>
              <a:t> (basic GUI)</a:t>
            </a:r>
          </a:p>
          <a:p>
            <a:pPr lvl="1"/>
            <a:r>
              <a:rPr>
                <a:latin typeface="Courier"/>
              </a:rPr>
              <a:t>re</a:t>
            </a:r>
            <a:r>
              <a:rPr/>
              <a:t> (regular expressions)</a:t>
            </a:r>
          </a:p>
          <a:p>
            <a:pPr lvl="1"/>
            <a:r>
              <a:rPr>
                <a:latin typeface="Courier"/>
              </a:rPr>
              <a:t>json</a:t>
            </a:r>
            <a:r>
              <a:rPr/>
              <a:t> (reading json files)</a:t>
            </a:r>
          </a:p>
          <a:p>
            <a:pPr lvl="0"/>
            <a:r>
              <a:rPr/>
              <a:t>Installed libraries:</a:t>
            </a:r>
          </a:p>
          <a:p>
            <a:pPr lvl="1"/>
            <a:r>
              <a:rPr>
                <a:latin typeface="Courier"/>
              </a:rPr>
              <a:t>numpy</a:t>
            </a:r>
            <a:r>
              <a:rPr/>
              <a:t> (arrays)</a:t>
            </a:r>
          </a:p>
          <a:p>
            <a:pPr lvl="1"/>
            <a:r>
              <a:rPr>
                <a:latin typeface="Courier"/>
              </a:rPr>
              <a:t>matplotlib</a:t>
            </a:r>
            <a:r>
              <a:rPr/>
              <a:t>/</a:t>
            </a:r>
            <a:r>
              <a:rPr>
                <a:latin typeface="Courier"/>
              </a:rPr>
              <a:t>seaborn</a:t>
            </a:r>
            <a:r>
              <a:rPr/>
              <a:t> (plots)</a:t>
            </a:r>
          </a:p>
          <a:p>
            <a:pPr lvl="1"/>
            <a:r>
              <a:rPr>
                <a:latin typeface="Courier"/>
              </a:rPr>
              <a:t>pandas</a:t>
            </a:r>
            <a:r>
              <a:rPr/>
              <a:t> (data)</a:t>
            </a:r>
          </a:p>
          <a:p>
            <a:pPr lvl="1"/>
            <a:r>
              <a:rPr>
                <a:latin typeface="Courier"/>
              </a:rPr>
              <a:t>scikit-learn</a:t>
            </a:r>
            <a:r>
              <a:rPr/>
              <a:t> (machine learning)</a:t>
            </a:r>
          </a:p>
          <a:p>
            <a:pPr lvl="1"/>
            <a:r>
              <a:rPr>
                <a:latin typeface="Courier"/>
              </a:rPr>
              <a:t>pytorch</a:t>
            </a:r>
            <a:r>
              <a:rPr/>
              <a:t> (neurale networks)</a:t>
            </a:r>
          </a:p>
          <a:p>
            <a:pPr lvl="1"/>
            <a:r>
              <a:rPr>
                <a:latin typeface="Courier"/>
              </a:rPr>
              <a:t>pydicom</a:t>
            </a:r>
            <a:r>
              <a:rPr/>
              <a:t>, </a:t>
            </a:r>
            <a:r>
              <a:rPr>
                <a:latin typeface="Courier"/>
              </a:rPr>
              <a:t>nibabel</a:t>
            </a:r>
            <a:r>
              <a:rPr/>
              <a:t> (DICOM/NifTi images)</a:t>
            </a:r>
            <a:br/>
          </a:p>
          <a:p>
            <a:pPr lvl="0"/>
            <a:r>
              <a:rPr/>
              <a:t>Your own files</a:t>
            </a:r>
          </a:p>
          <a:p>
            <a:pPr lvl="1"/>
            <a:r>
              <a:rPr/>
              <a:t>e.g.: a neural network architecture you want to reuse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Versions, and why environments exist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Libraries move</a:t>
            </a:r>
          </a:p>
        </p:txBody>
      </p:sp>
      <p:pic>
        <p:nvPicPr>
          <p:cNvPr descr="img/version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Projects versions clash</a:t>
            </a:r>
          </a:p>
        </p:txBody>
      </p:sp>
      <p:pic>
        <p:nvPicPr>
          <p:cNvPr descr="img/conflic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Virtual environment is a folder</a:t>
            </a:r>
          </a:p>
        </p:txBody>
      </p:sp>
      <p:pic>
        <p:nvPicPr>
          <p:cNvPr descr="img/venv_anatom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Making a virtual environment</a:t>
            </a:r>
          </a:p>
        </p:txBody>
      </p:sp>
      <p:sp>
        <p:nvSpPr>
          <p:cNvPr id="3" name="Content Placeholder 2"/>
          <p:cNvSpPr>
            <a:spLocks noGrp="1"/>
          </p:cNvSpPr>
          <p:nvPr>
            <p:ph idx="1"/>
          </p:nvPr>
        </p:nvSpPr>
        <p:spPr/>
        <p:txBody>
          <a:bodyPr>
            <a:normAutofit/>
          </a:bodyPr>
          <a:lstStyle/>
          <a:p>
            <a:pPr lvl="0" indent="0">
              <a:buNone/>
            </a:pPr>
            <a:r>
              <a:rPr>
                <a:latin typeface="Courier"/>
              </a:rPr>
              <a:t>python3 </a:t>
            </a:r>
            <a:r>
              <a:rPr>
                <a:solidFill>
                  <a:srgbClr val="7D9029"/>
                </a:solidFill>
                <a:latin typeface="Courier"/>
              </a:rPr>
              <a:t>-m</a:t>
            </a:r>
            <a:r>
              <a:rPr>
                <a:latin typeface="Courier"/>
              </a:rPr>
              <a:t> venv .venv          </a:t>
            </a:r>
            <a:r>
              <a:rPr i="1">
                <a:solidFill>
                  <a:srgbClr val="60A0B0"/>
                </a:solidFill>
                <a:latin typeface="Courier"/>
              </a:rPr>
              <a:t># create it</a:t>
            </a:r>
            <a:br/>
            <a:r>
              <a:rPr>
                <a:solidFill>
                  <a:srgbClr val="008000"/>
                </a:solidFill>
                <a:latin typeface="Courier"/>
              </a:rPr>
              <a:t>source</a:t>
            </a:r>
            <a:r>
              <a:rPr>
                <a:latin typeface="Courier"/>
              </a:rPr>
              <a:t> .venv/bin/activate      </a:t>
            </a:r>
            <a:r>
              <a:rPr i="1">
                <a:solidFill>
                  <a:srgbClr val="60A0B0"/>
                </a:solidFill>
                <a:latin typeface="Courier"/>
              </a:rPr>
              <a:t># Windows: .venv\Scripts\activate</a:t>
            </a:r>
            <a:br/>
            <a:br/>
            <a:r>
              <a:rPr>
                <a:solidFill>
                  <a:srgbClr val="06287E"/>
                </a:solidFill>
                <a:latin typeface="Courier"/>
              </a:rPr>
              <a:t>which</a:t>
            </a:r>
            <a:r>
              <a:rPr>
                <a:latin typeface="Courier"/>
              </a:rPr>
              <a:t> python3                  </a:t>
            </a:r>
            <a:r>
              <a:rPr i="1">
                <a:solidFill>
                  <a:srgbClr val="60A0B0"/>
                </a:solidFill>
                <a:latin typeface="Courier"/>
              </a:rPr>
              <a:t># my-project/.venv/bin/python3</a:t>
            </a:r>
            <a:br/>
            <a:r>
              <a:rPr>
                <a:latin typeface="Courier"/>
              </a:rPr>
              <a:t>python3 </a:t>
            </a:r>
            <a:r>
              <a:rPr>
                <a:solidFill>
                  <a:srgbClr val="7D9029"/>
                </a:solidFill>
                <a:latin typeface="Courier"/>
              </a:rPr>
              <a:t>-m</a:t>
            </a:r>
            <a:r>
              <a:rPr>
                <a:latin typeface="Courier"/>
              </a:rPr>
              <a:t> pip install pandas  </a:t>
            </a:r>
            <a:r>
              <a:rPr i="1">
                <a:solidFill>
                  <a:srgbClr val="60A0B0"/>
                </a:solidFill>
                <a:latin typeface="Courier"/>
              </a:rPr>
              <a:t># into .venv, not into the system</a:t>
            </a:r>
            <a:br/>
            <a:br/>
            <a:r>
              <a:rPr>
                <a:latin typeface="Courier"/>
              </a:rPr>
              <a:t>deactivate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pip</a:t>
            </a:r>
          </a:p>
        </p:txBody>
      </p:sp>
      <p:pic>
        <p:nvPicPr>
          <p:cNvPr descr="img/pip_flow.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Freezing an environment</a:t>
            </a:r>
          </a:p>
        </p:txBody>
      </p:sp>
      <p:sp>
        <p:nvSpPr>
          <p:cNvPr id="3" name="Content Placeholder 2"/>
          <p:cNvSpPr>
            <a:spLocks noGrp="1"/>
          </p:cNvSpPr>
          <p:nvPr>
            <p:ph idx="1"/>
          </p:nvPr>
        </p:nvSpPr>
        <p:spPr/>
        <p:txBody>
          <a:bodyPr>
            <a:normAutofit/>
          </a:bodyPr>
          <a:lstStyle/>
          <a:p>
            <a:pPr lvl="0" indent="0">
              <a:buNone/>
            </a:pPr>
            <a:r>
              <a:rPr>
                <a:latin typeface="Courier"/>
              </a:rPr>
              <a:t>python3 </a:t>
            </a:r>
            <a:r>
              <a:rPr>
                <a:solidFill>
                  <a:srgbClr val="7D9029"/>
                </a:solidFill>
                <a:latin typeface="Courier"/>
              </a:rPr>
              <a:t>-m</a:t>
            </a:r>
            <a:r>
              <a:rPr>
                <a:latin typeface="Courier"/>
              </a:rPr>
              <a:t> pip freeze </a:t>
            </a:r>
            <a:r>
              <a:rPr>
                <a:solidFill>
                  <a:srgbClr val="666666"/>
                </a:solidFill>
                <a:latin typeface="Courier"/>
              </a:rPr>
              <a:t>&gt;</a:t>
            </a:r>
            <a:r>
              <a:rPr>
                <a:latin typeface="Courier"/>
              </a:rPr>
              <a:t> requirements.txt    </a:t>
            </a:r>
            <a:r>
              <a:rPr i="1">
                <a:solidFill>
                  <a:srgbClr val="60A0B0"/>
                </a:solidFill>
                <a:latin typeface="Courier"/>
              </a:rPr>
              <a:t># pandas==2.2.3, numpy==2.1.3, ...</a:t>
            </a:r>
            <a:br/>
            <a:br/>
            <a:r>
              <a:rPr i="1">
                <a:solidFill>
                  <a:srgbClr val="60A0B0"/>
                </a:solidFill>
                <a:latin typeface="Courier"/>
              </a:rPr>
              <a:t># on another machine, in a fresh environment:</a:t>
            </a:r>
            <a:br/>
            <a:r>
              <a:rPr>
                <a:latin typeface="Courier"/>
              </a:rPr>
              <a:t>python3 </a:t>
            </a:r>
            <a:r>
              <a:rPr>
                <a:solidFill>
                  <a:srgbClr val="7D9029"/>
                </a:solidFill>
                <a:latin typeface="Courier"/>
              </a:rPr>
              <a:t>-m</a:t>
            </a:r>
            <a:r>
              <a:rPr>
                <a:latin typeface="Courier"/>
              </a:rPr>
              <a:t> pip install </a:t>
            </a:r>
            <a:r>
              <a:rPr>
                <a:solidFill>
                  <a:srgbClr val="7D9029"/>
                </a:solidFill>
                <a:latin typeface="Courier"/>
              </a:rPr>
              <a:t>-r</a:t>
            </a:r>
            <a:r>
              <a:rPr>
                <a:latin typeface="Courier"/>
              </a:rPr>
              <a:t> requirements.txt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uv</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is uv?</a:t>
            </a:r>
          </a:p>
        </p:txBody>
      </p:sp>
      <p:pic>
        <p:nvPicPr>
          <p:cNvPr descr="img/uv_tool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Speed</a:t>
            </a:r>
          </a:p>
        </p:txBody>
      </p:sp>
      <p:pic>
        <p:nvPicPr>
          <p:cNvPr descr="img/uv_wh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uv in practice</a:t>
            </a:r>
          </a:p>
        </p:txBody>
      </p:sp>
      <p:sp>
        <p:nvSpPr>
          <p:cNvPr id="3" name="Content Placeholder 2"/>
          <p:cNvSpPr>
            <a:spLocks noGrp="1"/>
          </p:cNvSpPr>
          <p:nvPr>
            <p:ph idx="1"/>
          </p:nvPr>
        </p:nvSpPr>
        <p:spPr/>
        <p:txBody>
          <a:bodyPr>
            <a:normAutofit/>
          </a:bodyPr>
          <a:lstStyle/>
          <a:p>
            <a:pPr lvl="0" indent="0">
              <a:buNone/>
            </a:pPr>
            <a:r>
              <a:rPr>
                <a:latin typeface="Courier"/>
              </a:rPr>
              <a:t>curl </a:t>
            </a:r>
            <a:r>
              <a:rPr>
                <a:solidFill>
                  <a:srgbClr val="7D9029"/>
                </a:solidFill>
                <a:latin typeface="Courier"/>
              </a:rPr>
              <a:t>-LsSf</a:t>
            </a:r>
            <a:r>
              <a:rPr>
                <a:latin typeface="Courier"/>
              </a:rPr>
              <a:t> https://astral.sh/uv/install.sh </a:t>
            </a:r>
            <a:r>
              <a:rPr b="1">
                <a:solidFill>
                  <a:srgbClr val="007020"/>
                </a:solidFill>
                <a:latin typeface="Courier"/>
              </a:rPr>
              <a:t>|</a:t>
            </a:r>
            <a:r>
              <a:rPr>
                <a:latin typeface="Courier"/>
              </a:rPr>
              <a:t> </a:t>
            </a:r>
            <a:r>
              <a:rPr>
                <a:solidFill>
                  <a:srgbClr val="06287E"/>
                </a:solidFill>
                <a:latin typeface="Courier"/>
              </a:rPr>
              <a:t>sh</a:t>
            </a:r>
            <a:br/>
            <a:r>
              <a:rPr i="1">
                <a:solidFill>
                  <a:srgbClr val="60A0B0"/>
                </a:solidFill>
                <a:latin typeface="Courier"/>
              </a:rPr>
              <a:t># no Python required</a:t>
            </a:r>
            <a:br/>
            <a:br/>
            <a:r>
              <a:rPr>
                <a:latin typeface="Courier"/>
              </a:rPr>
              <a:t>uv venv</a:t>
            </a:r>
            <a:br/>
            <a:r>
              <a:rPr>
                <a:latin typeface="Courier"/>
              </a:rPr>
              <a:t>uv pip install pandas</a:t>
            </a:r>
            <a:br/>
            <a:br/>
            <a:r>
              <a:rPr>
                <a:latin typeface="Courier"/>
              </a:rPr>
              <a:t>uv add pandas </a:t>
            </a:r>
            <a:r>
              <a:rPr i="1">
                <a:solidFill>
                  <a:srgbClr val="60A0B0"/>
                </a:solidFill>
                <a:latin typeface="Courier"/>
              </a:rPr>
              <a:t># adds library to lock file</a:t>
            </a:r>
            <a:br/>
            <a:r>
              <a:rPr>
                <a:latin typeface="Courier"/>
              </a:rPr>
              <a:t>uv sync </a:t>
            </a:r>
            <a:r>
              <a:rPr i="1">
                <a:solidFill>
                  <a:srgbClr val="60A0B0"/>
                </a:solidFill>
                <a:latin typeface="Courier"/>
              </a:rPr>
              <a:t># install dependencies in the lock file</a:t>
            </a:r>
            <a:br/>
            <a:r>
              <a:rPr>
                <a:latin typeface="Courier"/>
              </a:rPr>
              <a:t>uv run analysis.py </a:t>
            </a:r>
            <a:r>
              <a:rPr i="1">
                <a:solidFill>
                  <a:srgbClr val="60A0B0"/>
                </a:solidFill>
                <a:latin typeface="Courier"/>
              </a:rPr>
              <a:t># uses uv venv</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0 Libraries, Environments, and uv</dc:title>
  <dc:creator>Paul Dubois</dc:creator>
  <cp:keywords/>
  <dcterms:created xsi:type="dcterms:W3CDTF">2026-10-11T18:32:19Z</dcterms:created>
  <dcterms:modified xsi:type="dcterms:W3CDTF">2026-10-11T18:32:19Z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Primer</vt:lpwstr>
  </property>
  <property fmtid="{D5CDD505-2E9C-101B-9397-08002B2CF9AE}" pid="3" name="subtitle">
    <vt:lpwstr>Digital Health, Mastère Spécialisé · 2026</vt:lpwstr>
  </property>
</Properties>
</file>