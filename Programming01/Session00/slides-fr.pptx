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notesMaster" Target="notesMasters/notesMaster1.xml" /><Relationship Id="rId23" Type="http://schemas.openxmlformats.org/officeDocument/2006/relationships/viewProps" Target="viewProps.xml" /><Relationship Id="rId22" Type="http://schemas.openxmlformats.org/officeDocument/2006/relationships/presProps" Target="presProps.xml" /><Relationship Id="rId1" Type="http://schemas.openxmlformats.org/officeDocument/2006/relationships/slideMaster" Target="slideMasters/slideMaster1.xml" /><Relationship Id="rId25" Type="http://schemas.openxmlformats.org/officeDocument/2006/relationships/tableStyles" Target="tableStyles.xml" /><Relationship Id="rId2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langue est un niveau de description. Le code machine est ce que le processeur exécute : des nombres. L’assemblage est la même chose avec les noms, une instruction par ligne. C, C++ et Rust vous permettent écrivez des expressions, mais vous décidez toujours où se trouve chaque octet. Python vous permet d’écrire le ce que vous vouliez dire, et décide du reste pour vous. Un niveau bas achète du contrôle et de la vitesse, et coûte des lignes de code et des bugs (chaque tampon et chaque le pointeur est à vous pour bien faire). Un niveau élevé fait gagner du temps et coûte un certain contrôle. Rien ici n’est « meilleur » : ils siègent à différents points d’un même métier.</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Trois raisons, par ordre d’importance pour vous cette année. 1. Populaire : c’est le langage le plus utilisé dans les données et dans la recherche en santé. Pratiquement chaque la question que vous vous poserez a déjà été posée et répondue, et chaque bibliothèque dont vous avez besoin a une interface Python. 2. Haut niveau : peu de syntaxe à apprendre, donc le temps passe dans les données et non dans le langue. Vous serez productif en quelques semaines, pas en années. 3. Toujours rapide : les boucles lourdes ne sont pas exécutées par Python. numpy, les pandas et la torche sont minces Python fait surface sur C, Fortran, Rust et CUDA compilés. Vous écrivez les 20 lignes qui décrire le calcul et le code compilé effectue le milliard d’opérations. La limite honnête : les boucles Python pures sur des millions de lignes sont lentes. Toute la compétence est laisser les bibliothèques faire la boucle.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Lire un tableau, dessiner une figure, multiplier deux matrices : chaque projet dans la salle en a besoin, et aucun d’entre eux n’est aussi simple qu’il y paraît. Lire un CSV signifie des séparateurs, des citations, encodages, valeurs manquantes et dates. Dessiner une figure signifie des axes, des graduations, des étiquettes et un exporter. Multiplier les matrices signifie bloquer le cache, les threads et les instructions vectorielles. Parce que tout le monde en a besoin, ils sont rédigés une seule fois, par des personnes spécialisées exactement dans ce domaine. cela, et testé par des millions d’utilisateurs. Voilà ce qu’est une bibliothèque.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uv</a:t>
            </a:r>
            <a:r>
              <a:rPr/>
              <a:t> est un programme unique, écrit en Rust par Astral (les gens derrière </a:t>
            </a:r>
            <a:r>
              <a:rPr>
                <a:latin typeface="Courier"/>
              </a:rPr>
              <a:t>ruff</a:t>
            </a:r>
            <a:r>
              <a:rPr/>
              <a:t>), d’abord sorti en 2024. Il fait le travail de cinq outils distincts avec une commande et un modèle mental. Rassurement important : les commandes sont celles qu’ils ont déjà apprises. </a:t>
            </a:r>
            <a:r>
              <a:rPr>
                <a:latin typeface="Courier"/>
              </a:rPr>
              <a:t>uv pip install pandas</a:t>
            </a:r>
            <a:r>
              <a:rPr/>
              <a:t> does what </a:t>
            </a:r>
            <a:r>
              <a:rPr>
                <a:latin typeface="Courier"/>
              </a:rPr>
              <a:t>pip install pandas</a:t>
            </a:r>
            <a:r>
              <a:rPr/>
              <a:t> le fait.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Séance 0</a:t>
            </a:r>
            <a:br/>
            <a:r>
              <a:rPr/>
              <a:t>Bibliothèques, environnements et UV</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Santé numérique,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Semaine 1, introduction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0. Pourquoi Python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Niveau bas, niveau haut</a:t>
            </a:r>
          </a:p>
        </p:txBody>
      </p:sp>
      <p:pic>
        <p:nvPicPr>
          <p:cNvPr descr="img/level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Python</a:t>
            </a:r>
          </a:p>
        </p:txBody>
      </p:sp>
      <p:pic>
        <p:nvPicPr>
          <p:cNvPr descr="img/why_pyth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Bibliothèques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Tâches partagées dans de nombreux projets</a:t>
            </a:r>
          </a:p>
        </p:txBody>
      </p:sp>
      <p:pic>
        <p:nvPicPr>
          <p:cNvPr descr="img/common_task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Réutilisation du code</a:t>
            </a:r>
          </a:p>
        </p:txBody>
      </p:sp>
      <p:pic>
        <p:nvPicPr>
          <p:cNvPr descr="img/library_valu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Bibliothèques</a:t>
            </a:r>
          </a:p>
        </p:txBody>
      </p:sp>
      <p:sp>
        <p:nvSpPr>
          <p:cNvPr id="3" name="Content Placeholder 2"/>
          <p:cNvSpPr>
            <a:spLocks noGrp="1"/>
          </p:cNvSpPr>
          <p:nvPr>
            <p:ph idx="1"/>
          </p:nvPr>
        </p:nvSpPr>
        <p:spPr/>
        <p:txBody>
          <a:bodyPr>
            <a:normAutofit/>
          </a:bodyPr>
          <a:lstStyle/>
          <a:p>
            <a:pPr lvl="0"/>
            <a:r>
              <a:rPr/>
              <a:t>Bibliothèques standards</a:t>
            </a:r>
          </a:p>
          <a:p>
            <a:pPr lvl="1"/>
            <a:r>
              <a:rPr>
                <a:latin typeface="Courier"/>
              </a:rPr>
              <a:t>tkinter</a:t>
            </a:r>
            <a:r>
              <a:rPr/>
              <a:t> (interface graphique de base)</a:t>
            </a:r>
          </a:p>
          <a:p>
            <a:pPr lvl="1"/>
            <a:r>
              <a:rPr>
                <a:latin typeface="Courier"/>
              </a:rPr>
              <a:t>re</a:t>
            </a:r>
            <a:r>
              <a:rPr/>
              <a:t> (expressions régulières)</a:t>
            </a:r>
          </a:p>
          <a:p>
            <a:pPr lvl="1"/>
            <a:r>
              <a:rPr>
                <a:latin typeface="Courier"/>
              </a:rPr>
              <a:t>json</a:t>
            </a:r>
            <a:r>
              <a:rPr/>
              <a:t> (lecture des fichiers json)</a:t>
            </a:r>
          </a:p>
          <a:p>
            <a:pPr lvl="0"/>
            <a:r>
              <a:rPr/>
              <a:t>Bibliothèques installées :</a:t>
            </a:r>
          </a:p>
          <a:p>
            <a:pPr lvl="1"/>
            <a:r>
              <a:rPr>
                <a:latin typeface="Courier"/>
              </a:rPr>
              <a:t>numpy</a:t>
            </a:r>
            <a:r>
              <a:rPr/>
              <a:t> (tableaux)</a:t>
            </a:r>
          </a:p>
          <a:p>
            <a:pPr lvl="1"/>
            <a:r>
              <a:rPr>
                <a:latin typeface="Courier"/>
              </a:rPr>
              <a:t>matplotlib</a:t>
            </a:r>
            <a:r>
              <a:rPr/>
              <a:t>/</a:t>
            </a:r>
            <a:r>
              <a:rPr>
                <a:latin typeface="Courier"/>
              </a:rPr>
              <a:t>seaborn</a:t>
            </a:r>
            <a:r>
              <a:rPr/>
              <a:t> (parcelles)</a:t>
            </a:r>
          </a:p>
          <a:p>
            <a:pPr lvl="1"/>
            <a:r>
              <a:rPr>
                <a:latin typeface="Courier"/>
              </a:rPr>
              <a:t>pandas</a:t>
            </a:r>
            <a:r>
              <a:rPr/>
              <a:t> (données)</a:t>
            </a:r>
          </a:p>
          <a:p>
            <a:pPr lvl="1"/>
            <a:r>
              <a:rPr>
                <a:latin typeface="Courier"/>
              </a:rPr>
              <a:t>scikit-learn</a:t>
            </a:r>
            <a:r>
              <a:rPr/>
              <a:t> (apprentissage automatique)</a:t>
            </a:r>
          </a:p>
          <a:p>
            <a:pPr lvl="1"/>
            <a:r>
              <a:rPr>
                <a:latin typeface="Courier"/>
              </a:rPr>
              <a:t>pytorch</a:t>
            </a:r>
            <a:r>
              <a:rPr/>
              <a:t> (réseaux de neurones)</a:t>
            </a:r>
          </a:p>
          <a:p>
            <a:pPr lvl="1"/>
            <a:r>
              <a:rPr>
                <a:latin typeface="Courier"/>
              </a:rPr>
              <a:t>pydicom</a:t>
            </a:r>
            <a:r>
              <a:rPr/>
              <a:t>, </a:t>
            </a:r>
            <a:r>
              <a:rPr>
                <a:latin typeface="Courier"/>
              </a:rPr>
              <a:t>nibabel</a:t>
            </a:r>
            <a:r>
              <a:rPr/>
              <a:t> (images DICOM/NifTi)</a:t>
            </a:r>
            <a:br/>
          </a:p>
          <a:p>
            <a:pPr lvl="0"/>
            <a:r>
              <a:rPr/>
              <a:t>Vos propres fichiers</a:t>
            </a:r>
          </a:p>
          <a:p>
            <a:pPr lvl="1"/>
            <a:r>
              <a:rPr/>
              <a:t>ex : une architecture de réseau de neurones que vous souhaitez réutiliser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Versions et pourquoi les environnements existent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Les bibliothèques déménagent</a:t>
            </a:r>
          </a:p>
        </p:txBody>
      </p:sp>
      <p:pic>
        <p:nvPicPr>
          <p:cNvPr descr="img/version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Conflit entre les versions des projets</a:t>
            </a:r>
          </a:p>
        </p:txBody>
      </p:sp>
      <p:pic>
        <p:nvPicPr>
          <p:cNvPr descr="img/conflict.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L’environnement virtuel est un dossier</a:t>
            </a:r>
          </a:p>
        </p:txBody>
      </p:sp>
      <p:pic>
        <p:nvPicPr>
          <p:cNvPr descr="img/venv_anatomy.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Créer un environnement virtuel</a:t>
            </a:r>
          </a:p>
        </p:txBody>
      </p:sp>
      <p:sp>
        <p:nvSpPr>
          <p:cNvPr id="3" name="Content Placeholder 2"/>
          <p:cNvSpPr>
            <a:spLocks noGrp="1"/>
          </p:cNvSpPr>
          <p:nvPr>
            <p:ph idx="1"/>
          </p:nvPr>
        </p:nvSpPr>
        <p:spPr/>
        <p:txBody>
          <a:bodyPr>
            <a:normAutofit/>
          </a:bodyPr>
          <a:lstStyle/>
          <a:p>
            <a:pPr lvl="0" indent="0">
              <a:buNone/>
            </a:pPr>
            <a:r>
              <a:rPr>
                <a:latin typeface="Courier"/>
              </a:rPr>
              <a:t>python3 </a:t>
            </a:r>
            <a:r>
              <a:rPr>
                <a:solidFill>
                  <a:srgbClr val="7D9029"/>
                </a:solidFill>
                <a:latin typeface="Courier"/>
              </a:rPr>
              <a:t>-m</a:t>
            </a:r>
            <a:r>
              <a:rPr>
                <a:latin typeface="Courier"/>
              </a:rPr>
              <a:t> venv .venv          </a:t>
            </a:r>
            <a:r>
              <a:rPr i="1">
                <a:solidFill>
                  <a:srgbClr val="60A0B0"/>
                </a:solidFill>
                <a:latin typeface="Courier"/>
              </a:rPr>
              <a:t># create it</a:t>
            </a:r>
            <a:br/>
            <a:r>
              <a:rPr>
                <a:solidFill>
                  <a:srgbClr val="008000"/>
                </a:solidFill>
                <a:latin typeface="Courier"/>
              </a:rPr>
              <a:t>source</a:t>
            </a:r>
            <a:r>
              <a:rPr>
                <a:latin typeface="Courier"/>
              </a:rPr>
              <a:t> .venv/bin/activate      </a:t>
            </a:r>
            <a:r>
              <a:rPr i="1">
                <a:solidFill>
                  <a:srgbClr val="60A0B0"/>
                </a:solidFill>
                <a:latin typeface="Courier"/>
              </a:rPr>
              <a:t># Windows: .venv\Scripts\activate</a:t>
            </a:r>
            <a:br/>
            <a:br/>
            <a:r>
              <a:rPr>
                <a:solidFill>
                  <a:srgbClr val="06287E"/>
                </a:solidFill>
                <a:latin typeface="Courier"/>
              </a:rPr>
              <a:t>which</a:t>
            </a:r>
            <a:r>
              <a:rPr>
                <a:latin typeface="Courier"/>
              </a:rPr>
              <a:t> python3                  </a:t>
            </a:r>
            <a:r>
              <a:rPr i="1">
                <a:solidFill>
                  <a:srgbClr val="60A0B0"/>
                </a:solidFill>
                <a:latin typeface="Courier"/>
              </a:rPr>
              <a:t># my-project/.venv/bin/python3</a:t>
            </a:r>
            <a:br/>
            <a:r>
              <a:rPr>
                <a:latin typeface="Courier"/>
              </a:rPr>
              <a:t>python3 </a:t>
            </a:r>
            <a:r>
              <a:rPr>
                <a:solidFill>
                  <a:srgbClr val="7D9029"/>
                </a:solidFill>
                <a:latin typeface="Courier"/>
              </a:rPr>
              <a:t>-m</a:t>
            </a:r>
            <a:r>
              <a:rPr>
                <a:latin typeface="Courier"/>
              </a:rPr>
              <a:t> pip install pandas  </a:t>
            </a:r>
            <a:r>
              <a:rPr i="1">
                <a:solidFill>
                  <a:srgbClr val="60A0B0"/>
                </a:solidFill>
                <a:latin typeface="Courier"/>
              </a:rPr>
              <a:t># into .venv, not into the system</a:t>
            </a:r>
            <a:br/>
            <a:br/>
            <a:r>
              <a:rPr>
                <a:latin typeface="Courier"/>
              </a:rPr>
              <a:t>deactivate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pip</a:t>
            </a:r>
          </a:p>
        </p:txBody>
      </p:sp>
      <p:pic>
        <p:nvPicPr>
          <p:cNvPr descr="img/pip_flow.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Geler un environnement</a:t>
            </a:r>
          </a:p>
        </p:txBody>
      </p:sp>
      <p:sp>
        <p:nvSpPr>
          <p:cNvPr id="3" name="Content Placeholder 2"/>
          <p:cNvSpPr>
            <a:spLocks noGrp="1"/>
          </p:cNvSpPr>
          <p:nvPr>
            <p:ph idx="1"/>
          </p:nvPr>
        </p:nvSpPr>
        <p:spPr/>
        <p:txBody>
          <a:bodyPr>
            <a:normAutofit/>
          </a:bodyPr>
          <a:lstStyle/>
          <a:p>
            <a:pPr lvl="0" indent="0">
              <a:buNone/>
            </a:pPr>
            <a:r>
              <a:rPr>
                <a:latin typeface="Courier"/>
              </a:rPr>
              <a:t>python3 </a:t>
            </a:r>
            <a:r>
              <a:rPr>
                <a:solidFill>
                  <a:srgbClr val="7D9029"/>
                </a:solidFill>
                <a:latin typeface="Courier"/>
              </a:rPr>
              <a:t>-m</a:t>
            </a:r>
            <a:r>
              <a:rPr>
                <a:latin typeface="Courier"/>
              </a:rPr>
              <a:t> pip freeze </a:t>
            </a:r>
            <a:r>
              <a:rPr>
                <a:solidFill>
                  <a:srgbClr val="666666"/>
                </a:solidFill>
                <a:latin typeface="Courier"/>
              </a:rPr>
              <a:t>&gt;</a:t>
            </a:r>
            <a:r>
              <a:rPr>
                <a:latin typeface="Courier"/>
              </a:rPr>
              <a:t> requirements.txt    </a:t>
            </a:r>
            <a:r>
              <a:rPr i="1">
                <a:solidFill>
                  <a:srgbClr val="60A0B0"/>
                </a:solidFill>
                <a:latin typeface="Courier"/>
              </a:rPr>
              <a:t># pandas==2.2.3, numpy==2.1.3, ...</a:t>
            </a:r>
            <a:br/>
            <a:br/>
            <a:r>
              <a:rPr i="1">
                <a:solidFill>
                  <a:srgbClr val="60A0B0"/>
                </a:solidFill>
                <a:latin typeface="Courier"/>
              </a:rPr>
              <a:t># on another machine, in a fresh environment:</a:t>
            </a:r>
            <a:br/>
            <a:r>
              <a:rPr>
                <a:latin typeface="Courier"/>
              </a:rPr>
              <a:t>python3 </a:t>
            </a:r>
            <a:r>
              <a:rPr>
                <a:solidFill>
                  <a:srgbClr val="7D9029"/>
                </a:solidFill>
                <a:latin typeface="Courier"/>
              </a:rPr>
              <a:t>-m</a:t>
            </a:r>
            <a:r>
              <a:rPr>
                <a:latin typeface="Courier"/>
              </a:rPr>
              <a:t> pip install </a:t>
            </a:r>
            <a:r>
              <a:rPr>
                <a:solidFill>
                  <a:srgbClr val="7D9029"/>
                </a:solidFill>
                <a:latin typeface="Courier"/>
              </a:rPr>
              <a:t>-r</a:t>
            </a:r>
            <a:r>
              <a:rPr>
                <a:latin typeface="Courier"/>
              </a:rPr>
              <a:t> requirements.txt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UV</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Qu’est-ce que les UV ?</a:t>
            </a:r>
          </a:p>
        </p:txBody>
      </p:sp>
      <p:pic>
        <p:nvPicPr>
          <p:cNvPr descr="img/uv_tool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Vitesse</a:t>
            </a:r>
          </a:p>
        </p:txBody>
      </p:sp>
      <p:pic>
        <p:nvPicPr>
          <p:cNvPr descr="img/uv_why.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uv en pratique</a:t>
            </a:r>
          </a:p>
        </p:txBody>
      </p:sp>
      <p:sp>
        <p:nvSpPr>
          <p:cNvPr id="3" name="Content Placeholder 2"/>
          <p:cNvSpPr>
            <a:spLocks noGrp="1"/>
          </p:cNvSpPr>
          <p:nvPr>
            <p:ph idx="1"/>
          </p:nvPr>
        </p:nvSpPr>
        <p:spPr/>
        <p:txBody>
          <a:bodyPr>
            <a:normAutofit/>
          </a:bodyPr>
          <a:lstStyle/>
          <a:p>
            <a:pPr lvl="0" indent="0">
              <a:buNone/>
            </a:pPr>
            <a:r>
              <a:rPr>
                <a:latin typeface="Courier"/>
              </a:rPr>
              <a:t>curl </a:t>
            </a:r>
            <a:r>
              <a:rPr>
                <a:solidFill>
                  <a:srgbClr val="7D9029"/>
                </a:solidFill>
                <a:latin typeface="Courier"/>
              </a:rPr>
              <a:t>-LsSf</a:t>
            </a:r>
            <a:r>
              <a:rPr>
                <a:latin typeface="Courier"/>
              </a:rPr>
              <a:t> https://astral.sh/uv/install.sh </a:t>
            </a:r>
            <a:r>
              <a:rPr b="1">
                <a:solidFill>
                  <a:srgbClr val="007020"/>
                </a:solidFill>
                <a:latin typeface="Courier"/>
              </a:rPr>
              <a:t>|</a:t>
            </a:r>
            <a:r>
              <a:rPr>
                <a:latin typeface="Courier"/>
              </a:rPr>
              <a:t> </a:t>
            </a:r>
            <a:r>
              <a:rPr>
                <a:solidFill>
                  <a:srgbClr val="06287E"/>
                </a:solidFill>
                <a:latin typeface="Courier"/>
              </a:rPr>
              <a:t>sh</a:t>
            </a:r>
            <a:br/>
            <a:r>
              <a:rPr i="1">
                <a:solidFill>
                  <a:srgbClr val="60A0B0"/>
                </a:solidFill>
                <a:latin typeface="Courier"/>
              </a:rPr>
              <a:t># no Python required</a:t>
            </a:r>
            <a:br/>
            <a:br/>
            <a:r>
              <a:rPr>
                <a:latin typeface="Courier"/>
              </a:rPr>
              <a:t>uv venv</a:t>
            </a:r>
            <a:br/>
            <a:r>
              <a:rPr>
                <a:latin typeface="Courier"/>
              </a:rPr>
              <a:t>uv pip install pandas</a:t>
            </a:r>
            <a:br/>
            <a:br/>
            <a:r>
              <a:rPr>
                <a:latin typeface="Courier"/>
              </a:rPr>
              <a:t>uv add pandas </a:t>
            </a:r>
            <a:r>
              <a:rPr i="1">
                <a:solidFill>
                  <a:srgbClr val="60A0B0"/>
                </a:solidFill>
                <a:latin typeface="Courier"/>
              </a:rPr>
              <a:t># adds library to lock file</a:t>
            </a:r>
            <a:br/>
            <a:r>
              <a:rPr>
                <a:latin typeface="Courier"/>
              </a:rPr>
              <a:t>uv sync </a:t>
            </a:r>
            <a:r>
              <a:rPr i="1">
                <a:solidFill>
                  <a:srgbClr val="60A0B0"/>
                </a:solidFill>
                <a:latin typeface="Courier"/>
              </a:rPr>
              <a:t># install dependencies in the lock file</a:t>
            </a:r>
            <a:br/>
            <a:r>
              <a:rPr>
                <a:latin typeface="Courier"/>
              </a:rPr>
              <a:t>uv run analysis.py </a:t>
            </a:r>
            <a:r>
              <a:rPr i="1">
                <a:solidFill>
                  <a:srgbClr val="60A0B0"/>
                </a:solidFill>
                <a:latin typeface="Courier"/>
              </a:rPr>
              <a:t># uses uv venv</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 Bibliothèques, environnements et UV</dc:title>
  <dc:creator>Paul Dubois</dc:creator>
  <cp:keywords/>
  <dcterms:created xsi:type="dcterms:W3CDTF">2026-10-15T21:23:51Z</dcterms:created>
  <dcterms:modified xsi:type="dcterms:W3CDTF">2026-10-15T21:23:51Z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Semaine 1, introduction</vt:lpwstr>
  </property>
  <property fmtid="{D5CDD505-2E9C-101B-9397-08002B2CF9AE}" pid="3" name="subtitle">
    <vt:lpwstr>Santé numérique, Mastère Spécialisé · 2026</vt:lpwstr>
  </property>
</Properties>
</file>